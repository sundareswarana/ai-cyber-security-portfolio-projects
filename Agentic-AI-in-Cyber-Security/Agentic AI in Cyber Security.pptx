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6256000" cy="9144000"/>
  <p:notesSz cx="9144000" cy="16256000"/>
  <p:embeddedFontLst>
    <p:embeddedFont>
      <p:font typeface="Liter" charset="-122" pitchFamily="34"/>
      <p:regular r:id="rId22"/>
    </p:embeddedFont>
    <p:embeddedFont>
      <p:font typeface="Quattrocento Sans" charset="-122" pitchFamily="34"/>
      <p:regular r:id="rId2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font" Target="fonts/font1.fntdata"/><Relationship Id="rId23"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this presentation on Agentic AI in Cyber Security. Today we will explore how autonomous AI agents are transforming cybersecurity operations — from threat detection to incident response. This presentation covers 15 slides spanning the technology fundamentals, real-world applications, benefits, challenges, and future outlook of agentic AI in the security domain.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presentation is organized into four main sections. First, we establish the foundation with an introduction to the cybersecurity challenges and what agentic AI means. Second, we dive into the architecture and applications. Third, we explore core use cases including threat hunting, incident response, and SOC automation. Finally, we examine the benefits, challenges, and future trajectory of this technology.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cybersecurity landscape is at a breaking point. Organizations are drowning in alerts — the average SOC receives nearly 1,000 alerts daily, with large enterprises seeing 3,000 or more. Alarmingly, 40% of these alerts go uninvestigated, and according to IBM's 2022 report, 70% of SOC alerts are never investigated at all. Analysts spend three-quarters of their time on manual triage rather than strategic work. Agentic AI emerges as the solution — not just automating tasks, but autonomously reasoning through complex security scenarios like a seasoned analyst.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AI is fundamentally different from traditional automation. While SOAR playbooks follow predetermined steps regardless of context, agentic systems plan dynamically, adjust their investigation path based on findings, and reason across multiple data sources. Think of it this way: a SOAR playbook is like a recipe — it always follows the same steps. An agentic AI is like a chef — it adapts based on what it finds, pulls in additional ingredients when needed, and builds a coherent narrative of what happened. This distinction is crucial for understanding why agentic AI represents a true paradigm shift in cybersecurity operations.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primary architectural paradigms for AI agents in cybersecurity. First, modular intelligent agents use discrete components for perception, reasoning, and action — they fit well into existing SOC pipelines. Second, LLM-powered agents like Microsoft Security Copilot and Elastic AI Assistant use natural language to interpret alerts and provide decision support. Third, reinforcement learning agents learn optimal defense policies through feedback, modeling the attacker-defender interaction. Each approach has distinct strengths — modular agents offer reliability, LLM agents provide interpretability, and RL agents enable adaptive decision-making.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AI spans the entire security operations lifecycle. Autonomous alert investigation dynamically builds investigation plans across multiple security tools. Proactive threat hunting enables natural language queries and continuous monitoring. Detection engineering closes the loop between hunting and detection rule creation. Response and remediation operates on a spectrum from fully autonomous actions to human-in-the-loop approval. Compliance automation handles reporting and audit trails. Together, these capabilities address the full spectrum of SOC operations.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SOC agents transform threat hunting from a periodic, senior-staff-dependent exercise into a persistent operational capability. Ad-hoc hypothesis-driven hunts allow analysts to initiate hunts via natural language — asking questions like "Are we impacted by this campaign?" and having the agent gather evidence across multiple data sources in minutes rather than hours. Autonomous scheduled hunts run continuously, monitoring for emerging threats that bypass existing detections. IOC expansion automatically hunts for similar attack patterns and generates behavioral signatures. MITRE ATT&amp;CK mapping ensures all findings are contextualized within the industry-standard framework.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Incident response is where agentic AI delivers some of its most measurable impact. The process begins with AI-powered alert triage using NLP and ML-based threat scoring to filter false positives. Autonomous investigation then gathers evidence, reconstructs timelines, and analyzes asset impact. Intelligent response executes containment actions — from endpoint isolation to network segmentation. The numbers are compelling: 50% faster mean time to detection, 90% of responses automated, and 35% reduction in breach probability. Human-in-the-loop checkpoints ensure high-risk decisions maintain analyst oversight.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Agentic AI is fundamentally reshaping the SOC organizational model. The traditional tiered structure — Tier 1 for triage, Tier 2 for investigation, Tier 3 for advanced threats — is being challenged as AI agents handle the bulk of triage and initial investigation. Tier 1 analysts shift to agent oversight; Tier 2 and 3 focus on complex incidents and proactive hunting. Some organizations are moving toward a "tierless" SOC organized by skill and specialization. The Grammarly case study is particularly compelling: they reduced Tier-1 investigation times from 45 minutes to 4 minutes using AI-enabled workflows — a 90% efficiency gain.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benefits of agentic AI in cybersecurity span operational and strategic dimensions. Response times improve by up to 60% for common threats. Analyst workload is significantly reduced through automation of repetitive tasks. 24/7 coverage eliminates blind spots from shift changes and fatigue. Scalability allows handling volume fluctuations without proportional staff increases. Enhanced detection through cross-tool correlation identifies sophisticated attacks that isolated point solutions miss. Perhaps most importantly, knowledge preservation captures institutional response patterns, reducing dependency on individual experts.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the compelling benefits, several critical barriers limit widespread adoption of agentic AI in cybersecurity. Explainability is paramount — SOC teams need to understand how agents reach conclusions. Without transparency, trust erodes quickly. Adversarial robustness is a major concern: prompt injection ranked #1 on OWASP's Top 10 for LLM Applications in 2025, with an alarming 84% attack success rate in agentic systems. Regulatory compliance requires robust audit logging and rollback mechanisms. Integration complexity across 20+ disparate tools remains a significant hurdle. The skill gap — shortage of professionals who understand both AI and cybersecurity — compounds these challenges.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roadmap to fully autonomous SOCs follows a 6-level autonomy graduation model. Most enterprises in 2026 operate at Levels 1-2 for high-risk actions. Level 0 is human-does-everything; Level 1 has agents act with human approval; Level 2 allows human review within an hour; Level 3 moves to daily batch reviews; Level 4 uses anomaly detection to trigger human review; and Level 5 represents full autonomy with governance guardrails only. Emerging trends include multi-agent collaboration systems, RL-based adaptive defense policies, cross-organizational threat intelligence sharing, integration with quantum-resistant cryptography, and AI-driven red-teaming.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industry landscape for agentic AI in cybersecurity is rapidly evolving. Microsoft leads with Security Copilot, offering LLM-assisted threat summarization and natural language triage. Palo Alto Networks' Cortex XSIAM fuses telemetry and applies ML for automated detection. SentinelOne's Purple AI focuses on autonomous remediation. Google's Sec-PaLM powers threat intelligence analysis. IBM, Elastic, and Exabeam each bring distinct capabilities. This diverse vendor ecosystem represents a broader industry shift from static rule-driven environments to adaptive, learning security systems.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summarize the five key takeaways from this presentation. First, agentic AI represents a fundamental paradigm shift from rule-based automation to autonomous reasoning systems. Second, real-world deployments already demonstrate 50-90% faster response times and 90% reduction in false positives. Third, three architectural approaches — modular, LLM-powered, and RL-based — each serve different use cases. Fourth, success depends on transparency, human-in-the-loop governance, and progressive autonomy. Fifth, the path to Level 5 autonomous SOCs is clear but requires advances in interpretability and adversarial robustness.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Agentic AI is not merely another automation tool — it represents a fundamental reimagining of how we defend against cyber threats. The organizations that will thrive are those that embrace this autonomous intelligence while maintaining the critical human oversight and ethical governance that ensures these powerful systems serve our security mission. I welcome your questions.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ttps://kimi-img.moonshot.cn/pub/slides/okc/jrtvwrx5sycfk/mnt/agents/output/agentic-ai-cybersecurity/images/9_Cyber_Shield_in_Abstract_Digital.png">    </p:cNvPr>
          <p:cNvPicPr>
            <a:picLocks noChangeAspect="1"/>
          </p:cNvPicPr>
          <p:nvPr/>
        </p:nvPicPr>
        <p:blipFill>
          <a:blip r:embed="rId1"/>
          <a:srcRect l="111" r="111" t="0" b="0"/>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F172A">
                  <a:alpha val="94000"/>
                </a:srgbClr>
              </a:gs>
              <a:gs pos="55000">
                <a:srgbClr val="0F172A">
                  <a:alpha val="75000"/>
                </a:srgbClr>
              </a:gs>
              <a:gs pos="100000">
                <a:srgbClr val="0F172A">
                  <a:alpha val="38000"/>
                </a:srgbClr>
              </a:gs>
            </a:gsLst>
            <a:lin ang="0" scaled="1"/>
          </a:gradFill>
          <a:ln w="12700">
            <a:solidFill>
              <a:srgbClr val="FFFFFF">
                <a:alpha val="0"/>
              </a:srgbClr>
            </a:solidFill>
            <a:prstDash val="solid"/>
          </a:ln>
        </p:spPr>
      </p:sp>
      <p:sp>
        <p:nvSpPr>
          <p:cNvPr id="5" name="Shape 1"/>
          <p:cNvSpPr/>
          <p:nvPr/>
        </p:nvSpPr>
        <p:spPr>
          <a:xfrm>
            <a:off x="1016000" y="2540000"/>
            <a:ext cx="1016000" cy="50800"/>
          </a:xfrm>
          <a:prstGeom prst="rect">
            <a:avLst/>
          </a:prstGeom>
          <a:solidFill>
            <a:srgbClr val="22D3EE"/>
          </a:solidFill>
          <a:ln/>
        </p:spPr>
      </p:sp>
      <p:sp>
        <p:nvSpPr>
          <p:cNvPr id="6" name="Text 2"/>
          <p:cNvSpPr/>
          <p:nvPr/>
        </p:nvSpPr>
        <p:spPr>
          <a:xfrm>
            <a:off x="1016000" y="2794000"/>
            <a:ext cx="8890000" cy="1651000"/>
          </a:xfrm>
          <a:prstGeom prst="rect">
            <a:avLst/>
          </a:prstGeom>
          <a:noFill/>
          <a:ln/>
        </p:spPr>
        <p:txBody>
          <a:bodyPr wrap="square" lIns="0" tIns="0" rIns="0" bIns="0" rtlCol="0" anchor="t"/>
          <a:lstStyle/>
          <a:p>
            <a:pPr algn="l">
              <a:lnSpc>
                <a:spcPct val="120000"/>
              </a:lnSpc>
            </a:pPr>
            <a:r>
              <a:rPr lang="en-US" sz="4800" spc="600" kern="0" dirty="0">
                <a:solidFill>
                  <a:srgbClr val="FFFFFF"/>
                </a:solidFill>
                <a:latin typeface="Liter" pitchFamily="34" charset="0"/>
                <a:ea typeface="Liter" pitchFamily="34" charset="-122"/>
                <a:cs typeface="Liter" pitchFamily="34" charset="-120"/>
              </a:rPr>
              <a:t>AGENTIC AI IN</a:t>
            </a:r>
            <a:endParaRPr lang="en-US" sz="4800" dirty="0"/>
          </a:p>
          <a:p>
            <a:pPr algn="l">
              <a:lnSpc>
                <a:spcPct val="120000"/>
              </a:lnSpc>
            </a:pPr>
            <a:r>
              <a:rPr lang="en-US" sz="4800" spc="600" kern="0" dirty="0">
                <a:solidFill>
                  <a:srgbClr val="FFFFFF"/>
                </a:solidFill>
                <a:latin typeface="Liter" pitchFamily="34" charset="0"/>
                <a:ea typeface="Liter" pitchFamily="34" charset="-122"/>
                <a:cs typeface="Liter" pitchFamily="34" charset="-120"/>
              </a:rPr>
              <a:t>CYBER SECURITY</a:t>
            </a:r>
            <a:endParaRPr lang="en-US" sz="4800" dirty="0"/>
          </a:p>
        </p:txBody>
      </p:sp>
      <p:sp>
        <p:nvSpPr>
          <p:cNvPr id="7" name="Text 3"/>
          <p:cNvSpPr/>
          <p:nvPr/>
        </p:nvSpPr>
        <p:spPr>
          <a:xfrm>
            <a:off x="1016000" y="4699000"/>
            <a:ext cx="7620000" cy="381000"/>
          </a:xfrm>
          <a:prstGeom prst="rect">
            <a:avLst/>
          </a:prstGeom>
          <a:noFill/>
          <a:ln/>
        </p:spPr>
        <p:txBody>
          <a:bodyPr wrap="none" lIns="0" tIns="0" rIns="0" bIns="0" rtlCol="0" anchor="ctr"/>
          <a:lstStyle/>
          <a:p>
            <a:pPr algn="l">
              <a:lnSpc>
                <a:spcPct val="120000"/>
              </a:lnSpc>
            </a:pPr>
            <a:r>
              <a:rPr lang="en-US" sz="2000" dirty="0">
                <a:solidFill>
                  <a:srgbClr val="E2E8F0"/>
                </a:solidFill>
                <a:latin typeface="Quattrocento Sans" pitchFamily="34" charset="0"/>
                <a:ea typeface="Quattrocento Sans" pitchFamily="34" charset="-122"/>
                <a:cs typeface="Quattrocento Sans" pitchFamily="34" charset="-120"/>
              </a:rPr>
              <a:t>Autonomous Intelligence for Next-Generation Threat Defense</a:t>
            </a:r>
            <a:endParaRPr lang="en-US" sz="2000" dirty="0"/>
          </a:p>
        </p:txBody>
      </p:sp>
      <p:sp>
        <p:nvSpPr>
          <p:cNvPr id="8" name="Shape 4"/>
          <p:cNvSpPr/>
          <p:nvPr/>
        </p:nvSpPr>
        <p:spPr>
          <a:xfrm>
            <a:off x="1016000" y="5334000"/>
            <a:ext cx="2540000" cy="25400"/>
          </a:xfrm>
          <a:prstGeom prst="rect">
            <a:avLst/>
          </a:prstGeom>
          <a:solidFill>
            <a:srgbClr val="0EA5E9"/>
          </a:solidFill>
          <a:ln/>
        </p:spPr>
      </p:sp>
      <p:sp>
        <p:nvSpPr>
          <p:cNvPr id="9" name="Text 5"/>
          <p:cNvSpPr/>
          <p:nvPr/>
        </p:nvSpPr>
        <p:spPr>
          <a:xfrm>
            <a:off x="1016000" y="5588000"/>
            <a:ext cx="3810000" cy="279400"/>
          </a:xfrm>
          <a:prstGeom prst="rect">
            <a:avLst/>
          </a:prstGeom>
          <a:noFill/>
          <a:ln/>
        </p:spPr>
        <p:txBody>
          <a:bodyPr wrap="none" lIns="0" tIns="0" rIns="0" bIns="0" rtlCol="0" anchor="ctr"/>
          <a:lstStyle/>
          <a:p>
            <a:pPr algn="l">
              <a:lnSpc>
                <a:spcPct val="120000"/>
              </a:lnSpc>
            </a:pPr>
            <a:r>
              <a:rPr lang="en-US" sz="1400" dirty="0">
                <a:solidFill>
                  <a:srgbClr val="475569"/>
                </a:solidFill>
                <a:latin typeface="Quattrocento Sans" pitchFamily="34" charset="0"/>
                <a:ea typeface="Quattrocento Sans" pitchFamily="34" charset="-122"/>
                <a:cs typeface="Quattrocento Sans" pitchFamily="34" charset="-120"/>
              </a:rPr>
              <a:t>June 2026</a:t>
            </a:r>
            <a:endParaRPr lang="en-US" sz="1400" dirty="0"/>
          </a:p>
        </p:txBody>
      </p:sp>
      <p:sp>
        <p:nvSpPr>
          <p:cNvPr id="10" name="Shape 6"/>
          <p:cNvSpPr/>
          <p:nvPr/>
        </p:nvSpPr>
        <p:spPr>
          <a:xfrm>
            <a:off x="1016000" y="7620000"/>
            <a:ext cx="2032000" cy="457200"/>
          </a:xfrm>
          <a:prstGeom prst="rect">
            <a:avLst/>
          </a:prstGeom>
          <a:solidFill>
            <a:srgbClr val="0EA5E9"/>
          </a:solidFill>
          <a:ln/>
        </p:spPr>
      </p:sp>
      <p:sp>
        <p:nvSpPr>
          <p:cNvPr id="11" name="Text 7"/>
          <p:cNvSpPr/>
          <p:nvPr/>
        </p:nvSpPr>
        <p:spPr>
          <a:xfrm>
            <a:off x="1016000" y="7620000"/>
            <a:ext cx="2032000" cy="457200"/>
          </a:xfrm>
          <a:prstGeom prst="rect">
            <a:avLst/>
          </a:prstGeom>
          <a:noFill/>
          <a:ln/>
        </p:spPr>
        <p:txBody>
          <a:bodyPr wrap="none" lIns="0" tIns="0" rIns="0" bIns="0" rtlCol="0" anchor="ctr"/>
          <a:lstStyle/>
          <a:p>
            <a:pPr algn="ctr">
              <a:lnSpc>
                <a:spcPct val="120000"/>
              </a:lnSpc>
            </a:pPr>
            <a:r>
              <a:rPr lang="en-US" sz="1300" spc="200" kern="0" dirty="0">
                <a:solidFill>
                  <a:srgbClr val="FFFFFF"/>
                </a:solidFill>
                <a:latin typeface="Liter" pitchFamily="34" charset="0"/>
                <a:ea typeface="Liter" pitchFamily="34" charset="-122"/>
                <a:cs typeface="Liter" pitchFamily="34" charset="-120"/>
              </a:rPr>
              <a:t>15 SLIDES</a:t>
            </a:r>
            <a:endParaRPr lang="en-US" sz="13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2A"/>
        </a:solidFill>
      </p:bgPr>
    </p:bg>
    <p:spTree>
      <p:nvGrpSpPr>
        <p:cNvPr id="1" name=""/>
        <p:cNvGrpSpPr/>
        <p:nvPr/>
      </p:nvGrpSpPr>
      <p:grpSpPr>
        <a:xfrm>
          <a:off x="0" y="0"/>
          <a:ext cx="0" cy="0"/>
          <a:chOff x="0" y="0"/>
          <a:chExt cx="0" cy="0"/>
        </a:xfrm>
      </p:grpSpPr>
      <p:sp>
        <p:nvSpPr>
          <p:cNvPr id="3" name="Shape 0"/>
          <p:cNvSpPr/>
          <p:nvPr/>
        </p:nvSpPr>
        <p:spPr>
          <a:xfrm>
            <a:off x="0" y="0"/>
            <a:ext cx="16256000" cy="50800"/>
          </a:xfrm>
          <a:prstGeom prst="rect">
            <a:avLst/>
          </a:prstGeom>
          <a:solidFill>
            <a:srgbClr val="0EA5E9"/>
          </a:solidFill>
          <a:ln/>
        </p:spPr>
      </p:sp>
      <p:sp>
        <p:nvSpPr>
          <p:cNvPr id="4" name="Text 1"/>
          <p:cNvSpPr/>
          <p:nvPr/>
        </p:nvSpPr>
        <p:spPr>
          <a:xfrm>
            <a:off x="762000" y="508000"/>
            <a:ext cx="3810000" cy="304800"/>
          </a:xfrm>
          <a:prstGeom prst="rect">
            <a:avLst/>
          </a:prstGeom>
          <a:noFill/>
          <a:ln/>
        </p:spPr>
        <p:txBody>
          <a:bodyPr wrap="none" lIns="0" tIns="0" rIns="0" bIns="0" rtlCol="0" anchor="ctr"/>
          <a:lstStyle/>
          <a:p>
            <a:pPr algn="l">
              <a:lnSpc>
                <a:spcPct val="120000"/>
              </a:lnSpc>
            </a:pPr>
            <a:r>
              <a:rPr lang="en-US" sz="1400" spc="300" kern="0" dirty="0">
                <a:solidFill>
                  <a:srgbClr val="22D3EE"/>
                </a:solidFill>
                <a:latin typeface="Liter" pitchFamily="34" charset="0"/>
                <a:ea typeface="Liter" pitchFamily="34" charset="-122"/>
                <a:cs typeface="Liter" pitchFamily="34" charset="-120"/>
              </a:rPr>
              <a:t>OVERVIEW</a:t>
            </a:r>
            <a:endParaRPr lang="en-US" sz="1400" dirty="0"/>
          </a:p>
        </p:txBody>
      </p:sp>
      <p:sp>
        <p:nvSpPr>
          <p:cNvPr id="5" name="Text 2"/>
          <p:cNvSpPr/>
          <p:nvPr/>
        </p:nvSpPr>
        <p:spPr>
          <a:xfrm>
            <a:off x="762000" y="863600"/>
            <a:ext cx="5080000" cy="558800"/>
          </a:xfrm>
          <a:prstGeom prst="rect">
            <a:avLst/>
          </a:prstGeom>
          <a:noFill/>
          <a:ln/>
        </p:spPr>
        <p:txBody>
          <a:bodyPr wrap="none" lIns="0" tIns="0" rIns="0" bIns="0" rtlCol="0" anchor="ctr"/>
          <a:lstStyle/>
          <a:p>
            <a:pPr algn="l">
              <a:lnSpc>
                <a:spcPct val="120000"/>
              </a:lnSpc>
            </a:pPr>
            <a:r>
              <a:rPr lang="en-US" sz="3200" dirty="0">
                <a:solidFill>
                  <a:srgbClr val="0EA5E9"/>
                </a:solidFill>
                <a:latin typeface="Liter" pitchFamily="34" charset="0"/>
                <a:ea typeface="Liter" pitchFamily="34" charset="-122"/>
                <a:cs typeface="Liter" pitchFamily="34" charset="-120"/>
              </a:rPr>
              <a:t>AGENDA</a:t>
            </a:r>
            <a:endParaRPr lang="en-US" sz="3200" dirty="0"/>
          </a:p>
        </p:txBody>
      </p:sp>
      <p:sp>
        <p:nvSpPr>
          <p:cNvPr id="6" name="Shape 3"/>
          <p:cNvSpPr/>
          <p:nvPr/>
        </p:nvSpPr>
        <p:spPr>
          <a:xfrm>
            <a:off x="762000" y="1549400"/>
            <a:ext cx="14732000" cy="12700"/>
          </a:xfrm>
          <a:prstGeom prst="rect">
            <a:avLst/>
          </a:prstGeom>
          <a:solidFill>
            <a:srgbClr val="475569"/>
          </a:solidFill>
          <a:ln/>
        </p:spPr>
      </p:sp>
      <p:sp>
        <p:nvSpPr>
          <p:cNvPr id="7" name="Shape 4"/>
          <p:cNvSpPr/>
          <p:nvPr/>
        </p:nvSpPr>
        <p:spPr>
          <a:xfrm>
            <a:off x="762000" y="1905000"/>
            <a:ext cx="4737100" cy="3048000"/>
          </a:xfrm>
          <a:prstGeom prst="rect">
            <a:avLst/>
          </a:prstGeom>
          <a:solidFill>
            <a:srgbClr val="1E293B"/>
          </a:solidFill>
          <a:ln/>
        </p:spPr>
      </p:sp>
      <p:sp>
        <p:nvSpPr>
          <p:cNvPr id="8" name="Text 5"/>
          <p:cNvSpPr/>
          <p:nvPr/>
        </p:nvSpPr>
        <p:spPr>
          <a:xfrm>
            <a:off x="1016000" y="2095500"/>
            <a:ext cx="762000" cy="508000"/>
          </a:xfrm>
          <a:prstGeom prst="rect">
            <a:avLst/>
          </a:prstGeom>
          <a:noFill/>
          <a:ln/>
        </p:spPr>
        <p:txBody>
          <a:bodyPr wrap="none" lIns="0" tIns="0" rIns="0" bIns="0" rtlCol="0" anchor="ctr"/>
          <a:lstStyle/>
          <a:p>
            <a:pPr algn="l">
              <a:lnSpc>
                <a:spcPct val="120000"/>
              </a:lnSpc>
            </a:pPr>
            <a:r>
              <a:rPr lang="en-US" sz="3200" dirty="0">
                <a:solidFill>
                  <a:srgbClr val="22D3EE"/>
                </a:solidFill>
                <a:latin typeface="Liter" pitchFamily="34" charset="0"/>
                <a:ea typeface="Liter" pitchFamily="34" charset="-122"/>
                <a:cs typeface="Liter" pitchFamily="34" charset="-120"/>
              </a:rPr>
              <a:t>01</a:t>
            </a:r>
            <a:endParaRPr lang="en-US" sz="3200" dirty="0"/>
          </a:p>
        </p:txBody>
      </p:sp>
      <p:sp>
        <p:nvSpPr>
          <p:cNvPr id="9" name="Text 6"/>
          <p:cNvSpPr/>
          <p:nvPr/>
        </p:nvSpPr>
        <p:spPr>
          <a:xfrm>
            <a:off x="1016000" y="2667000"/>
            <a:ext cx="4229100" cy="1016000"/>
          </a:xfrm>
          <a:prstGeom prst="rect">
            <a:avLst/>
          </a:prstGeom>
          <a:noFill/>
          <a:ln/>
        </p:spPr>
        <p:txBody>
          <a:bodyPr wrap="square" lIns="0" tIns="0" rIns="0" bIns="0" rtlCol="0" anchor="t"/>
          <a:lstStyle/>
          <a:p>
            <a:pPr algn="l">
              <a:lnSpc>
                <a:spcPct val="150000"/>
              </a:lnSpc>
            </a:pPr>
            <a:r>
              <a:rPr lang="en-US" sz="1800" b="1" dirty="0">
                <a:solidFill>
                  <a:srgbClr val="E2E8F0"/>
                </a:solidFill>
                <a:latin typeface="Quattrocento Sans" pitchFamily="34" charset="0"/>
                <a:ea typeface="Quattrocento Sans" pitchFamily="34" charset="-122"/>
                <a:cs typeface="Quattrocento Sans" pitchFamily="34" charset="-120"/>
              </a:rPr>
              <a:t>Introduction</a:t>
            </a:r>
            <a:endParaRPr lang="en-US" sz="1800" dirty="0"/>
          </a:p>
          <a:p>
            <a:pPr algn="l">
              <a:lnSpc>
                <a:spcPct val="150000"/>
              </a:lnSpc>
            </a:pPr>
            <a:r>
              <a:rPr lang="en-US" sz="1800" dirty="0">
                <a:solidFill>
                  <a:srgbClr val="E2E8F0"/>
                </a:solidFill>
                <a:latin typeface="Quattrocento Sans" pitchFamily="34" charset="0"/>
                <a:ea typeface="Quattrocento Sans" pitchFamily="34" charset="-122"/>
                <a:cs typeface="Quattrocento Sans" pitchFamily="34" charset="-120"/>
              </a:rPr>
              <a:t>What is Agentic AI?</a:t>
            </a:r>
            <a:endParaRPr lang="en-US" sz="1800" dirty="0"/>
          </a:p>
        </p:txBody>
      </p:sp>
      <p:sp>
        <p:nvSpPr>
          <p:cNvPr id="10" name="Shape 7"/>
          <p:cNvSpPr/>
          <p:nvPr/>
        </p:nvSpPr>
        <p:spPr>
          <a:xfrm>
            <a:off x="5753100" y="1905000"/>
            <a:ext cx="4737100" cy="3048000"/>
          </a:xfrm>
          <a:prstGeom prst="rect">
            <a:avLst/>
          </a:prstGeom>
          <a:solidFill>
            <a:srgbClr val="1E293B"/>
          </a:solidFill>
          <a:ln/>
        </p:spPr>
      </p:sp>
      <p:sp>
        <p:nvSpPr>
          <p:cNvPr id="11" name="Text 8"/>
          <p:cNvSpPr/>
          <p:nvPr/>
        </p:nvSpPr>
        <p:spPr>
          <a:xfrm>
            <a:off x="6007100" y="2095500"/>
            <a:ext cx="762000" cy="508000"/>
          </a:xfrm>
          <a:prstGeom prst="rect">
            <a:avLst/>
          </a:prstGeom>
          <a:noFill/>
          <a:ln/>
        </p:spPr>
        <p:txBody>
          <a:bodyPr wrap="none" lIns="0" tIns="0" rIns="0" bIns="0" rtlCol="0" anchor="ctr"/>
          <a:lstStyle/>
          <a:p>
            <a:pPr algn="l">
              <a:lnSpc>
                <a:spcPct val="120000"/>
              </a:lnSpc>
            </a:pPr>
            <a:r>
              <a:rPr lang="en-US" sz="3200" dirty="0">
                <a:solidFill>
                  <a:srgbClr val="22D3EE"/>
                </a:solidFill>
                <a:latin typeface="Liter" pitchFamily="34" charset="0"/>
                <a:ea typeface="Liter" pitchFamily="34" charset="-122"/>
                <a:cs typeface="Liter" pitchFamily="34" charset="-120"/>
              </a:rPr>
              <a:t>02</a:t>
            </a:r>
            <a:endParaRPr lang="en-US" sz="3200" dirty="0"/>
          </a:p>
        </p:txBody>
      </p:sp>
      <p:sp>
        <p:nvSpPr>
          <p:cNvPr id="12" name="Text 9"/>
          <p:cNvSpPr/>
          <p:nvPr/>
        </p:nvSpPr>
        <p:spPr>
          <a:xfrm>
            <a:off x="6007100" y="2667000"/>
            <a:ext cx="4229100" cy="1016000"/>
          </a:xfrm>
          <a:prstGeom prst="rect">
            <a:avLst/>
          </a:prstGeom>
          <a:noFill/>
          <a:ln/>
        </p:spPr>
        <p:txBody>
          <a:bodyPr wrap="square" lIns="0" tIns="0" rIns="0" bIns="0" rtlCol="0" anchor="t"/>
          <a:lstStyle/>
          <a:p>
            <a:pPr algn="l">
              <a:lnSpc>
                <a:spcPct val="150000"/>
              </a:lnSpc>
            </a:pPr>
            <a:r>
              <a:rPr lang="en-US" sz="1800" b="1" dirty="0">
                <a:solidFill>
                  <a:srgbClr val="E2E8F0"/>
                </a:solidFill>
                <a:latin typeface="Quattrocento Sans" pitchFamily="34" charset="0"/>
                <a:ea typeface="Quattrocento Sans" pitchFamily="34" charset="-122"/>
                <a:cs typeface="Quattrocento Sans" pitchFamily="34" charset="-120"/>
              </a:rPr>
              <a:t>Architecture</a:t>
            </a:r>
            <a:endParaRPr lang="en-US" sz="1800" dirty="0"/>
          </a:p>
          <a:p>
            <a:pPr algn="l">
              <a:lnSpc>
                <a:spcPct val="150000"/>
              </a:lnSpc>
            </a:pPr>
            <a:r>
              <a:rPr lang="en-US" sz="1800" dirty="0">
                <a:solidFill>
                  <a:srgbClr val="E2E8F0"/>
                </a:solidFill>
                <a:latin typeface="Quattrocento Sans" pitchFamily="34" charset="0"/>
                <a:ea typeface="Quattrocento Sans" pitchFamily="34" charset="-122"/>
                <a:cs typeface="Quattrocento Sans" pitchFamily="34" charset="-120"/>
              </a:rPr>
              <a:t>Applications in Security</a:t>
            </a:r>
            <a:endParaRPr lang="en-US" sz="1800" dirty="0"/>
          </a:p>
        </p:txBody>
      </p:sp>
      <p:sp>
        <p:nvSpPr>
          <p:cNvPr id="13" name="Shape 10"/>
          <p:cNvSpPr/>
          <p:nvPr/>
        </p:nvSpPr>
        <p:spPr>
          <a:xfrm>
            <a:off x="10744200" y="1905000"/>
            <a:ext cx="4737100" cy="3048000"/>
          </a:xfrm>
          <a:prstGeom prst="rect">
            <a:avLst/>
          </a:prstGeom>
          <a:solidFill>
            <a:srgbClr val="1E293B"/>
          </a:solidFill>
          <a:ln/>
        </p:spPr>
      </p:sp>
      <p:sp>
        <p:nvSpPr>
          <p:cNvPr id="14" name="Text 11"/>
          <p:cNvSpPr/>
          <p:nvPr/>
        </p:nvSpPr>
        <p:spPr>
          <a:xfrm>
            <a:off x="10998200" y="2095500"/>
            <a:ext cx="762000" cy="508000"/>
          </a:xfrm>
          <a:prstGeom prst="rect">
            <a:avLst/>
          </a:prstGeom>
          <a:noFill/>
          <a:ln/>
        </p:spPr>
        <p:txBody>
          <a:bodyPr wrap="none" lIns="0" tIns="0" rIns="0" bIns="0" rtlCol="0" anchor="ctr"/>
          <a:lstStyle/>
          <a:p>
            <a:pPr algn="l">
              <a:lnSpc>
                <a:spcPct val="120000"/>
              </a:lnSpc>
            </a:pPr>
            <a:r>
              <a:rPr lang="en-US" sz="3200" dirty="0">
                <a:solidFill>
                  <a:srgbClr val="22D3EE"/>
                </a:solidFill>
                <a:latin typeface="Liter" pitchFamily="34" charset="0"/>
                <a:ea typeface="Liter" pitchFamily="34" charset="-122"/>
                <a:cs typeface="Liter" pitchFamily="34" charset="-120"/>
              </a:rPr>
              <a:t>03</a:t>
            </a:r>
            <a:endParaRPr lang="en-US" sz="3200" dirty="0"/>
          </a:p>
        </p:txBody>
      </p:sp>
      <p:sp>
        <p:nvSpPr>
          <p:cNvPr id="15" name="Text 12"/>
          <p:cNvSpPr/>
          <p:nvPr/>
        </p:nvSpPr>
        <p:spPr>
          <a:xfrm>
            <a:off x="10998200" y="2667000"/>
            <a:ext cx="4229100" cy="1016000"/>
          </a:xfrm>
          <a:prstGeom prst="rect">
            <a:avLst/>
          </a:prstGeom>
          <a:noFill/>
          <a:ln/>
        </p:spPr>
        <p:txBody>
          <a:bodyPr wrap="square" lIns="0" tIns="0" rIns="0" bIns="0" rtlCol="0" anchor="t"/>
          <a:lstStyle/>
          <a:p>
            <a:pPr algn="l">
              <a:lnSpc>
                <a:spcPct val="150000"/>
              </a:lnSpc>
            </a:pPr>
            <a:r>
              <a:rPr lang="en-US" sz="1800" b="1" dirty="0">
                <a:solidFill>
                  <a:srgbClr val="E2E8F0"/>
                </a:solidFill>
                <a:latin typeface="Quattrocento Sans" pitchFamily="34" charset="0"/>
                <a:ea typeface="Quattrocento Sans" pitchFamily="34" charset="-122"/>
                <a:cs typeface="Quattrocento Sans" pitchFamily="34" charset="-120"/>
              </a:rPr>
              <a:t>Core Use Cases</a:t>
            </a:r>
            <a:endParaRPr lang="en-US" sz="1800" dirty="0"/>
          </a:p>
          <a:p>
            <a:pPr algn="l">
              <a:lnSpc>
                <a:spcPct val="150000"/>
              </a:lnSpc>
            </a:pPr>
            <a:r>
              <a:rPr lang="en-US" sz="1800" dirty="0">
                <a:solidFill>
                  <a:srgbClr val="E2E8F0"/>
                </a:solidFill>
                <a:latin typeface="Quattrocento Sans" pitchFamily="34" charset="0"/>
                <a:ea typeface="Quattrocento Sans" pitchFamily="34" charset="-122"/>
                <a:cs typeface="Quattrocento Sans" pitchFamily="34" charset="-120"/>
              </a:rPr>
              <a:t>Threat Hunting, IR, SOC</a:t>
            </a:r>
            <a:endParaRPr lang="en-US" sz="1800" dirty="0"/>
          </a:p>
        </p:txBody>
      </p:sp>
      <p:sp>
        <p:nvSpPr>
          <p:cNvPr id="16" name="Shape 13"/>
          <p:cNvSpPr/>
          <p:nvPr/>
        </p:nvSpPr>
        <p:spPr>
          <a:xfrm>
            <a:off x="762000" y="5207000"/>
            <a:ext cx="4737100" cy="3048000"/>
          </a:xfrm>
          <a:prstGeom prst="rect">
            <a:avLst/>
          </a:prstGeom>
          <a:solidFill>
            <a:srgbClr val="1E293B"/>
          </a:solidFill>
          <a:ln/>
        </p:spPr>
      </p:sp>
      <p:sp>
        <p:nvSpPr>
          <p:cNvPr id="17" name="Text 14"/>
          <p:cNvSpPr/>
          <p:nvPr/>
        </p:nvSpPr>
        <p:spPr>
          <a:xfrm>
            <a:off x="1016000" y="5397500"/>
            <a:ext cx="762000" cy="508000"/>
          </a:xfrm>
          <a:prstGeom prst="rect">
            <a:avLst/>
          </a:prstGeom>
          <a:noFill/>
          <a:ln/>
        </p:spPr>
        <p:txBody>
          <a:bodyPr wrap="none" lIns="0" tIns="0" rIns="0" bIns="0" rtlCol="0" anchor="ctr"/>
          <a:lstStyle/>
          <a:p>
            <a:pPr algn="l">
              <a:lnSpc>
                <a:spcPct val="120000"/>
              </a:lnSpc>
            </a:pPr>
            <a:r>
              <a:rPr lang="en-US" sz="3200" dirty="0">
                <a:solidFill>
                  <a:srgbClr val="22D3EE"/>
                </a:solidFill>
                <a:latin typeface="Liter" pitchFamily="34" charset="0"/>
                <a:ea typeface="Liter" pitchFamily="34" charset="-122"/>
                <a:cs typeface="Liter" pitchFamily="34" charset="-120"/>
              </a:rPr>
              <a:t>04</a:t>
            </a:r>
            <a:endParaRPr lang="en-US" sz="3200" dirty="0"/>
          </a:p>
        </p:txBody>
      </p:sp>
      <p:sp>
        <p:nvSpPr>
          <p:cNvPr id="18" name="Text 15"/>
          <p:cNvSpPr/>
          <p:nvPr/>
        </p:nvSpPr>
        <p:spPr>
          <a:xfrm>
            <a:off x="1016000" y="5969000"/>
            <a:ext cx="4229100" cy="1016000"/>
          </a:xfrm>
          <a:prstGeom prst="rect">
            <a:avLst/>
          </a:prstGeom>
          <a:noFill/>
          <a:ln/>
        </p:spPr>
        <p:txBody>
          <a:bodyPr wrap="square" lIns="0" tIns="0" rIns="0" bIns="0" rtlCol="0" anchor="t"/>
          <a:lstStyle/>
          <a:p>
            <a:pPr algn="l">
              <a:lnSpc>
                <a:spcPct val="150000"/>
              </a:lnSpc>
            </a:pPr>
            <a:r>
              <a:rPr lang="en-US" sz="1800" b="1" dirty="0">
                <a:solidFill>
                  <a:srgbClr val="E2E8F0"/>
                </a:solidFill>
                <a:latin typeface="Quattrocento Sans" pitchFamily="34" charset="0"/>
                <a:ea typeface="Quattrocento Sans" pitchFamily="34" charset="-122"/>
                <a:cs typeface="Quattrocento Sans" pitchFamily="34" charset="-120"/>
              </a:rPr>
              <a:t>Impact &amp; Outlook</a:t>
            </a:r>
            <a:endParaRPr lang="en-US" sz="1800" dirty="0"/>
          </a:p>
          <a:p>
            <a:pPr algn="l">
              <a:lnSpc>
                <a:spcPct val="150000"/>
              </a:lnSpc>
            </a:pPr>
            <a:r>
              <a:rPr lang="en-US" sz="1800" dirty="0">
                <a:solidFill>
                  <a:srgbClr val="E2E8F0"/>
                </a:solidFill>
                <a:latin typeface="Quattrocento Sans" pitchFamily="34" charset="0"/>
                <a:ea typeface="Quattrocento Sans" pitchFamily="34" charset="-122"/>
                <a:cs typeface="Quattrocento Sans" pitchFamily="34" charset="-120"/>
              </a:rPr>
              <a:t>Benefits, Challenges, Future</a:t>
            </a:r>
            <a:endParaRPr lang="en-US" sz="1800" dirty="0"/>
          </a:p>
        </p:txBody>
      </p:sp>
      <p:sp>
        <p:nvSpPr>
          <p:cNvPr id="19" name="Shape 16"/>
          <p:cNvSpPr/>
          <p:nvPr/>
        </p:nvSpPr>
        <p:spPr>
          <a:xfrm>
            <a:off x="5753100" y="5207000"/>
            <a:ext cx="4737100" cy="3048000"/>
          </a:xfrm>
          <a:prstGeom prst="rect">
            <a:avLst/>
          </a:prstGeom>
          <a:solidFill>
            <a:srgbClr val="1E293B"/>
          </a:solidFill>
          <a:ln/>
        </p:spPr>
      </p:sp>
      <p:sp>
        <p:nvSpPr>
          <p:cNvPr id="20" name="Text 17"/>
          <p:cNvSpPr/>
          <p:nvPr/>
        </p:nvSpPr>
        <p:spPr>
          <a:xfrm>
            <a:off x="6007100" y="5397500"/>
            <a:ext cx="762000" cy="508000"/>
          </a:xfrm>
          <a:prstGeom prst="rect">
            <a:avLst/>
          </a:prstGeom>
          <a:noFill/>
          <a:ln/>
        </p:spPr>
        <p:txBody>
          <a:bodyPr wrap="none" lIns="0" tIns="0" rIns="0" bIns="0" rtlCol="0" anchor="ctr"/>
          <a:lstStyle/>
          <a:p>
            <a:pPr algn="l">
              <a:lnSpc>
                <a:spcPct val="120000"/>
              </a:lnSpc>
            </a:pPr>
            <a:r>
              <a:rPr lang="en-US" sz="3200" dirty="0">
                <a:solidFill>
                  <a:srgbClr val="22D3EE"/>
                </a:solidFill>
                <a:latin typeface="Liter" pitchFamily="34" charset="0"/>
                <a:ea typeface="Liter" pitchFamily="34" charset="-122"/>
                <a:cs typeface="Liter" pitchFamily="34" charset="-120"/>
              </a:rPr>
              <a:t>05</a:t>
            </a:r>
            <a:endParaRPr lang="en-US" sz="3200" dirty="0"/>
          </a:p>
        </p:txBody>
      </p:sp>
      <p:sp>
        <p:nvSpPr>
          <p:cNvPr id="21" name="Text 18"/>
          <p:cNvSpPr/>
          <p:nvPr/>
        </p:nvSpPr>
        <p:spPr>
          <a:xfrm>
            <a:off x="6007100" y="5969000"/>
            <a:ext cx="4229100" cy="1016000"/>
          </a:xfrm>
          <a:prstGeom prst="rect">
            <a:avLst/>
          </a:prstGeom>
          <a:noFill/>
          <a:ln/>
        </p:spPr>
        <p:txBody>
          <a:bodyPr wrap="square" lIns="0" tIns="0" rIns="0" bIns="0" rtlCol="0" anchor="t"/>
          <a:lstStyle/>
          <a:p>
            <a:pPr algn="l">
              <a:lnSpc>
                <a:spcPct val="150000"/>
              </a:lnSpc>
            </a:pPr>
            <a:r>
              <a:rPr lang="en-US" sz="1800" b="1" dirty="0">
                <a:solidFill>
                  <a:srgbClr val="E2E8F0"/>
                </a:solidFill>
                <a:latin typeface="Quattrocento Sans" pitchFamily="34" charset="0"/>
                <a:ea typeface="Quattrocento Sans" pitchFamily="34" charset="-122"/>
                <a:cs typeface="Quattrocento Sans" pitchFamily="34" charset="-120"/>
              </a:rPr>
              <a:t>Industry Landscape</a:t>
            </a:r>
            <a:endParaRPr lang="en-US" sz="1800" dirty="0"/>
          </a:p>
          <a:p>
            <a:pPr algn="l">
              <a:lnSpc>
                <a:spcPct val="150000"/>
              </a:lnSpc>
            </a:pPr>
            <a:r>
              <a:rPr lang="en-US" sz="1800" dirty="0">
                <a:solidFill>
                  <a:srgbClr val="E2E8F0"/>
                </a:solidFill>
                <a:latin typeface="Quattrocento Sans" pitchFamily="34" charset="0"/>
                <a:ea typeface="Quattrocento Sans" pitchFamily="34" charset="-122"/>
                <a:cs typeface="Quattrocento Sans" pitchFamily="34" charset="-120"/>
              </a:rPr>
              <a:t>Key Vendors &amp; Platforms</a:t>
            </a:r>
            <a:endParaRPr lang="en-US" sz="1800" dirty="0"/>
          </a:p>
        </p:txBody>
      </p:sp>
      <p:sp>
        <p:nvSpPr>
          <p:cNvPr id="22" name="Shape 19"/>
          <p:cNvSpPr/>
          <p:nvPr/>
        </p:nvSpPr>
        <p:spPr>
          <a:xfrm>
            <a:off x="10744200" y="5207000"/>
            <a:ext cx="4737100" cy="3048000"/>
          </a:xfrm>
          <a:prstGeom prst="rect">
            <a:avLst/>
          </a:prstGeom>
          <a:solidFill>
            <a:srgbClr val="1E293B"/>
          </a:solidFill>
          <a:ln/>
        </p:spPr>
      </p:sp>
      <p:sp>
        <p:nvSpPr>
          <p:cNvPr id="23" name="Text 20"/>
          <p:cNvSpPr/>
          <p:nvPr/>
        </p:nvSpPr>
        <p:spPr>
          <a:xfrm>
            <a:off x="10998200" y="5397500"/>
            <a:ext cx="762000" cy="508000"/>
          </a:xfrm>
          <a:prstGeom prst="rect">
            <a:avLst/>
          </a:prstGeom>
          <a:noFill/>
          <a:ln/>
        </p:spPr>
        <p:txBody>
          <a:bodyPr wrap="none" lIns="0" tIns="0" rIns="0" bIns="0" rtlCol="0" anchor="ctr"/>
          <a:lstStyle/>
          <a:p>
            <a:pPr algn="l">
              <a:lnSpc>
                <a:spcPct val="120000"/>
              </a:lnSpc>
            </a:pPr>
            <a:r>
              <a:rPr lang="en-US" sz="3200" dirty="0">
                <a:solidFill>
                  <a:srgbClr val="22D3EE"/>
                </a:solidFill>
                <a:latin typeface="Liter" pitchFamily="34" charset="0"/>
                <a:ea typeface="Liter" pitchFamily="34" charset="-122"/>
                <a:cs typeface="Liter" pitchFamily="34" charset="-120"/>
              </a:rPr>
              <a:t>06</a:t>
            </a:r>
            <a:endParaRPr lang="en-US" sz="3200" dirty="0"/>
          </a:p>
        </p:txBody>
      </p:sp>
      <p:sp>
        <p:nvSpPr>
          <p:cNvPr id="24" name="Text 21"/>
          <p:cNvSpPr/>
          <p:nvPr/>
        </p:nvSpPr>
        <p:spPr>
          <a:xfrm>
            <a:off x="10998200" y="5969000"/>
            <a:ext cx="4229100" cy="1016000"/>
          </a:xfrm>
          <a:prstGeom prst="rect">
            <a:avLst/>
          </a:prstGeom>
          <a:noFill/>
          <a:ln/>
        </p:spPr>
        <p:txBody>
          <a:bodyPr wrap="square" lIns="0" tIns="0" rIns="0" bIns="0" rtlCol="0" anchor="t"/>
          <a:lstStyle/>
          <a:p>
            <a:pPr algn="l">
              <a:lnSpc>
                <a:spcPct val="150000"/>
              </a:lnSpc>
            </a:pPr>
            <a:r>
              <a:rPr lang="en-US" sz="1800" b="1" dirty="0">
                <a:solidFill>
                  <a:srgbClr val="E2E8F0"/>
                </a:solidFill>
                <a:latin typeface="Quattrocento Sans" pitchFamily="34" charset="0"/>
                <a:ea typeface="Quattrocento Sans" pitchFamily="34" charset="-122"/>
                <a:cs typeface="Quattrocento Sans" pitchFamily="34" charset="-120"/>
              </a:rPr>
              <a:t>Key Takeaways</a:t>
            </a:r>
            <a:endParaRPr lang="en-US" sz="1800" dirty="0"/>
          </a:p>
          <a:p>
            <a:pPr algn="l">
              <a:lnSpc>
                <a:spcPct val="150000"/>
              </a:lnSpc>
            </a:pPr>
            <a:r>
              <a:rPr lang="en-US" sz="1800" dirty="0">
                <a:solidFill>
                  <a:srgbClr val="E2E8F0"/>
                </a:solidFill>
                <a:latin typeface="Quattrocento Sans" pitchFamily="34" charset="0"/>
                <a:ea typeface="Quattrocento Sans" pitchFamily="34" charset="-122"/>
                <a:cs typeface="Quattrocento Sans" pitchFamily="34" charset="-120"/>
              </a:rPr>
              <a:t>Summary &amp; Conclusions</a:t>
            </a:r>
            <a:endParaRPr lang="en-US" sz="1800" dirty="0"/>
          </a:p>
        </p:txBody>
      </p:sp>
      <p:sp>
        <p:nvSpPr>
          <p:cNvPr id="25" name="Text 22"/>
          <p:cNvSpPr/>
          <p:nvPr/>
        </p:nvSpPr>
        <p:spPr>
          <a:xfrm>
            <a:off x="14986000" y="8763000"/>
            <a:ext cx="762000" cy="254000"/>
          </a:xfrm>
          <a:prstGeom prst="rect">
            <a:avLst/>
          </a:prstGeom>
          <a:noFill/>
          <a:ln/>
        </p:spPr>
        <p:txBody>
          <a:bodyPr wrap="none" lIns="0" tIns="0" rIns="0" bIns="0" rtlCol="0" anchor="ctr"/>
          <a:lstStyle/>
          <a:p>
            <a:pPr algn="r">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02</a:t>
            </a:r>
            <a:endParaRPr lang="en-US" sz="12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72A"/>
        </a:solidFill>
      </p:bgPr>
    </p:bg>
    <p:spTree>
      <p:nvGrpSpPr>
        <p:cNvPr id="1" name=""/>
        <p:cNvGrpSpPr/>
        <p:nvPr/>
      </p:nvGrpSpPr>
      <p:grpSpPr>
        <a:xfrm>
          <a:off x="0" y="0"/>
          <a:ext cx="0" cy="0"/>
          <a:chOff x="0" y="0"/>
          <a:chExt cx="0" cy="0"/>
        </a:xfrm>
      </p:grpSpPr>
      <p:sp>
        <p:nvSpPr>
          <p:cNvPr id="3" name="Shape 0"/>
          <p:cNvSpPr/>
          <p:nvPr/>
        </p:nvSpPr>
        <p:spPr>
          <a:xfrm>
            <a:off x="0" y="0"/>
            <a:ext cx="16256000" cy="50800"/>
          </a:xfrm>
          <a:prstGeom prst="rect">
            <a:avLst/>
          </a:prstGeom>
          <a:solidFill>
            <a:srgbClr val="0EA5E9"/>
          </a:solidFill>
          <a:ln/>
        </p:spPr>
      </p:sp>
      <p:sp>
        <p:nvSpPr>
          <p:cNvPr id="4" name="Text 1"/>
          <p:cNvSpPr/>
          <p:nvPr/>
        </p:nvSpPr>
        <p:spPr>
          <a:xfrm>
            <a:off x="762000" y="381000"/>
            <a:ext cx="7620000" cy="482600"/>
          </a:xfrm>
          <a:prstGeom prst="rect">
            <a:avLst/>
          </a:prstGeom>
          <a:noFill/>
          <a:ln/>
        </p:spPr>
        <p:txBody>
          <a:bodyPr wrap="none" lIns="0" tIns="0" rIns="0" bIns="0" rtlCol="0" anchor="ctr"/>
          <a:lstStyle/>
          <a:p>
            <a:pPr algn="l">
              <a:lnSpc>
                <a:spcPct val="120000"/>
              </a:lnSpc>
            </a:pPr>
            <a:r>
              <a:rPr lang="en-US" sz="2800" dirty="0">
                <a:solidFill>
                  <a:srgbClr val="0EA5E9"/>
                </a:solidFill>
                <a:latin typeface="Liter" pitchFamily="34" charset="0"/>
                <a:ea typeface="Liter" pitchFamily="34" charset="-122"/>
                <a:cs typeface="Liter" pitchFamily="34" charset="-120"/>
              </a:rPr>
              <a:t>Introduction</a:t>
            </a:r>
            <a:endParaRPr lang="en-US" sz="2800" dirty="0"/>
          </a:p>
        </p:txBody>
      </p:sp>
      <p:sp>
        <p:nvSpPr>
          <p:cNvPr id="5" name="Shape 2"/>
          <p:cNvSpPr/>
          <p:nvPr/>
        </p:nvSpPr>
        <p:spPr>
          <a:xfrm>
            <a:off x="762000" y="939800"/>
            <a:ext cx="14732000" cy="12700"/>
          </a:xfrm>
          <a:prstGeom prst="rect">
            <a:avLst/>
          </a:prstGeom>
          <a:solidFill>
            <a:srgbClr val="475569"/>
          </a:solidFill>
          <a:ln/>
        </p:spPr>
      </p:sp>
      <p:sp>
        <p:nvSpPr>
          <p:cNvPr id="6" name="Text 3"/>
          <p:cNvSpPr/>
          <p:nvPr/>
        </p:nvSpPr>
        <p:spPr>
          <a:xfrm>
            <a:off x="762000" y="1206500"/>
            <a:ext cx="8128000" cy="2667000"/>
          </a:xfrm>
          <a:prstGeom prst="rect">
            <a:avLst/>
          </a:prstGeom>
          <a:noFill/>
          <a:ln/>
        </p:spPr>
        <p:txBody>
          <a:bodyPr wrap="square" lIns="0" tIns="0" rIns="0" bIns="0" rtlCol="0" anchor="t"/>
          <a:lstStyle/>
          <a:p>
            <a:pPr algn="l">
              <a:lnSpc>
                <a:spcPct val="150000"/>
              </a:lnSpc>
            </a:pPr>
            <a:r>
              <a:rPr lang="en-US" sz="1800" dirty="0">
                <a:solidFill>
                  <a:srgbClr val="E2E8F0"/>
                </a:solidFill>
                <a:latin typeface="Quattrocento Sans" pitchFamily="34" charset="0"/>
                <a:ea typeface="Quattrocento Sans" pitchFamily="34" charset="-122"/>
                <a:cs typeface="Quattrocento Sans" pitchFamily="34" charset="-120"/>
              </a:rPr>
              <a:t>The cybersecurity landscape is overwhelmed by an unprecedented volume and sophistication of threats. Security Operations Centers face a critical capacity crisis that traditional approaches cannot solve.</a:t>
            </a:r>
            <a:endParaRPr lang="en-US" sz="1800" dirty="0"/>
          </a:p>
          <a:p>
            <a:pPr algn="l">
              <a:lnSpc>
                <a:spcPct val="150000"/>
              </a:lnSpc>
              <a:spcBef>
                <a:spcPts val="1000"/>
              </a:spcBef>
            </a:pPr>
            <a:r>
              <a:rPr lang="en-US" sz="1800" dirty="0">
                <a:solidFill>
                  <a:srgbClr val="E2E8F0"/>
                </a:solidFill>
                <a:latin typeface="Quattrocento Sans" pitchFamily="34" charset="0"/>
                <a:ea typeface="Quattrocento Sans" pitchFamily="34" charset="-122"/>
                <a:cs typeface="Quattrocento Sans" pitchFamily="34" charset="-120"/>
              </a:rPr>
              <a:t>Agentic AI represents a paradigm shift — moving beyond static, rule-based automation to </a:t>
            </a:r>
            <a:pPr algn="l">
              <a:lnSpc>
                <a:spcPct val="150000"/>
              </a:lnSpc>
              <a:spcBef>
                <a:spcPts val="1000"/>
              </a:spcBef>
            </a:pPr>
            <a:r>
              <a:rPr lang="en-US" sz="1800" b="1" dirty="0">
                <a:solidFill>
                  <a:srgbClr val="E2E8F0"/>
                </a:solidFill>
                <a:latin typeface="Quattrocento Sans" pitchFamily="34" charset="0"/>
                <a:ea typeface="Quattrocento Sans" pitchFamily="34" charset="-122"/>
                <a:cs typeface="Quattrocento Sans" pitchFamily="34" charset="-120"/>
              </a:rPr>
              <a:t>autonomous, reasoning-driven security operations</a:t>
            </a:r>
            <a:pPr algn="l">
              <a:lnSpc>
                <a:spcPct val="150000"/>
              </a:lnSpc>
              <a:spcBef>
                <a:spcPts val="1000"/>
              </a:spcBef>
            </a:pPr>
            <a:r>
              <a:rPr lang="en-US" sz="1800" dirty="0">
                <a:solidFill>
                  <a:srgbClr val="E2E8F0"/>
                </a:solidFill>
                <a:latin typeface="Quattrocento Sans" pitchFamily="34" charset="0"/>
                <a:ea typeface="Quattrocento Sans" pitchFamily="34" charset="-122"/>
                <a:cs typeface="Quattrocento Sans" pitchFamily="34" charset="-120"/>
              </a:rPr>
              <a:t> that adapt dynamically to emerging threats.</a:t>
            </a:r>
            <a:endParaRPr lang="en-US" sz="1800" dirty="0"/>
          </a:p>
        </p:txBody>
      </p:sp>
      <p:sp>
        <p:nvSpPr>
          <p:cNvPr id="7" name="Shape 4"/>
          <p:cNvSpPr/>
          <p:nvPr/>
        </p:nvSpPr>
        <p:spPr>
          <a:xfrm>
            <a:off x="762000" y="3937000"/>
            <a:ext cx="3429000" cy="1651000"/>
          </a:xfrm>
          <a:prstGeom prst="rect">
            <a:avLst/>
          </a:prstGeom>
          <a:solidFill>
            <a:srgbClr val="1E293B"/>
          </a:solidFill>
          <a:ln/>
        </p:spPr>
      </p:sp>
      <p:sp>
        <p:nvSpPr>
          <p:cNvPr id="8" name="Text 5"/>
          <p:cNvSpPr/>
          <p:nvPr/>
        </p:nvSpPr>
        <p:spPr>
          <a:xfrm>
            <a:off x="762000" y="4038600"/>
            <a:ext cx="3429000" cy="660400"/>
          </a:xfrm>
          <a:prstGeom prst="rect">
            <a:avLst/>
          </a:prstGeom>
          <a:noFill/>
          <a:ln/>
        </p:spPr>
        <p:txBody>
          <a:bodyPr wrap="none" lIns="0" tIns="0" rIns="0" bIns="0" rtlCol="0" anchor="ctr"/>
          <a:lstStyle/>
          <a:p>
            <a:pPr algn="ctr">
              <a:lnSpc>
                <a:spcPct val="120000"/>
              </a:lnSpc>
            </a:pPr>
            <a:r>
              <a:rPr lang="en-US" sz="4000" dirty="0">
                <a:solidFill>
                  <a:srgbClr val="22D3EE"/>
                </a:solidFill>
                <a:latin typeface="Liter" pitchFamily="34" charset="0"/>
                <a:ea typeface="Liter" pitchFamily="34" charset="-122"/>
                <a:cs typeface="Liter" pitchFamily="34" charset="-120"/>
              </a:rPr>
              <a:t>960+</a:t>
            </a:r>
            <a:endParaRPr lang="en-US" sz="4000" dirty="0"/>
          </a:p>
        </p:txBody>
      </p:sp>
      <p:sp>
        <p:nvSpPr>
          <p:cNvPr id="9" name="Text 6"/>
          <p:cNvSpPr/>
          <p:nvPr/>
        </p:nvSpPr>
        <p:spPr>
          <a:xfrm>
            <a:off x="889000" y="4762500"/>
            <a:ext cx="3175000" cy="660400"/>
          </a:xfrm>
          <a:prstGeom prst="rect">
            <a:avLst/>
          </a:prstGeom>
          <a:noFill/>
          <a:ln/>
        </p:spPr>
        <p:txBody>
          <a:bodyPr wrap="square" lIns="0" tIns="0" rIns="0" bIns="0" rtlCol="0" anchor="t"/>
          <a:lstStyle/>
          <a:p>
            <a:pPr algn="ctr">
              <a:lnSpc>
                <a:spcPct val="140000"/>
              </a:lnSpc>
            </a:pPr>
            <a:r>
              <a:rPr lang="en-US" sz="1400" dirty="0">
                <a:solidFill>
                  <a:srgbClr val="E2E8F0"/>
                </a:solidFill>
                <a:latin typeface="Quattrocento Sans" pitchFamily="34" charset="0"/>
                <a:ea typeface="Quattrocento Sans" pitchFamily="34" charset="-122"/>
                <a:cs typeface="Quattrocento Sans" pitchFamily="34" charset="-120"/>
              </a:rPr>
              <a:t>Security alerts per day for the average organization</a:t>
            </a:r>
            <a:endParaRPr lang="en-US" sz="1400" dirty="0"/>
          </a:p>
        </p:txBody>
      </p:sp>
      <p:sp>
        <p:nvSpPr>
          <p:cNvPr id="10" name="Shape 7"/>
          <p:cNvSpPr/>
          <p:nvPr/>
        </p:nvSpPr>
        <p:spPr>
          <a:xfrm>
            <a:off x="4445000" y="3937000"/>
            <a:ext cx="3429000" cy="1651000"/>
          </a:xfrm>
          <a:prstGeom prst="rect">
            <a:avLst/>
          </a:prstGeom>
          <a:solidFill>
            <a:srgbClr val="1E293B"/>
          </a:solidFill>
          <a:ln/>
        </p:spPr>
      </p:sp>
      <p:sp>
        <p:nvSpPr>
          <p:cNvPr id="11" name="Text 8"/>
          <p:cNvSpPr/>
          <p:nvPr/>
        </p:nvSpPr>
        <p:spPr>
          <a:xfrm>
            <a:off x="4445000" y="4038600"/>
            <a:ext cx="3429000" cy="660400"/>
          </a:xfrm>
          <a:prstGeom prst="rect">
            <a:avLst/>
          </a:prstGeom>
          <a:noFill/>
          <a:ln/>
        </p:spPr>
        <p:txBody>
          <a:bodyPr wrap="none" lIns="0" tIns="0" rIns="0" bIns="0" rtlCol="0" anchor="ctr"/>
          <a:lstStyle/>
          <a:p>
            <a:pPr algn="ctr">
              <a:lnSpc>
                <a:spcPct val="120000"/>
              </a:lnSpc>
            </a:pPr>
            <a:r>
              <a:rPr lang="en-US" sz="4000" dirty="0">
                <a:solidFill>
                  <a:srgbClr val="22D3EE"/>
                </a:solidFill>
                <a:latin typeface="Liter" pitchFamily="34" charset="0"/>
                <a:ea typeface="Liter" pitchFamily="34" charset="-122"/>
                <a:cs typeface="Liter" pitchFamily="34" charset="-120"/>
              </a:rPr>
              <a:t>40%</a:t>
            </a:r>
            <a:endParaRPr lang="en-US" sz="4000" dirty="0"/>
          </a:p>
        </p:txBody>
      </p:sp>
      <p:sp>
        <p:nvSpPr>
          <p:cNvPr id="12" name="Text 9"/>
          <p:cNvSpPr/>
          <p:nvPr/>
        </p:nvSpPr>
        <p:spPr>
          <a:xfrm>
            <a:off x="4572000" y="4762500"/>
            <a:ext cx="3175000" cy="660400"/>
          </a:xfrm>
          <a:prstGeom prst="rect">
            <a:avLst/>
          </a:prstGeom>
          <a:noFill/>
          <a:ln/>
        </p:spPr>
        <p:txBody>
          <a:bodyPr wrap="square" lIns="0" tIns="0" rIns="0" bIns="0" rtlCol="0" anchor="t"/>
          <a:lstStyle/>
          <a:p>
            <a:pPr algn="ctr">
              <a:lnSpc>
                <a:spcPct val="140000"/>
              </a:lnSpc>
            </a:pPr>
            <a:r>
              <a:rPr lang="en-US" sz="1400" dirty="0">
                <a:solidFill>
                  <a:srgbClr val="E2E8F0"/>
                </a:solidFill>
                <a:latin typeface="Quattrocento Sans" pitchFamily="34" charset="0"/>
                <a:ea typeface="Quattrocento Sans" pitchFamily="34" charset="-122"/>
                <a:cs typeface="Quattrocento Sans" pitchFamily="34" charset="-120"/>
              </a:rPr>
              <a:t>Of alerts go uninvestigated due to limited capacity</a:t>
            </a:r>
            <a:endParaRPr lang="en-US" sz="1400" dirty="0"/>
          </a:p>
        </p:txBody>
      </p:sp>
      <p:sp>
        <p:nvSpPr>
          <p:cNvPr id="13" name="Shape 10"/>
          <p:cNvSpPr/>
          <p:nvPr/>
        </p:nvSpPr>
        <p:spPr>
          <a:xfrm>
            <a:off x="8128000" y="3937000"/>
            <a:ext cx="3429000" cy="1651000"/>
          </a:xfrm>
          <a:prstGeom prst="rect">
            <a:avLst/>
          </a:prstGeom>
          <a:solidFill>
            <a:srgbClr val="1E293B"/>
          </a:solidFill>
          <a:ln/>
        </p:spPr>
      </p:sp>
      <p:sp>
        <p:nvSpPr>
          <p:cNvPr id="14" name="Text 11"/>
          <p:cNvSpPr/>
          <p:nvPr/>
        </p:nvSpPr>
        <p:spPr>
          <a:xfrm>
            <a:off x="8128000" y="4038600"/>
            <a:ext cx="3429000" cy="660400"/>
          </a:xfrm>
          <a:prstGeom prst="rect">
            <a:avLst/>
          </a:prstGeom>
          <a:noFill/>
          <a:ln/>
        </p:spPr>
        <p:txBody>
          <a:bodyPr wrap="none" lIns="0" tIns="0" rIns="0" bIns="0" rtlCol="0" anchor="ctr"/>
          <a:lstStyle/>
          <a:p>
            <a:pPr algn="ctr">
              <a:lnSpc>
                <a:spcPct val="120000"/>
              </a:lnSpc>
            </a:pPr>
            <a:r>
              <a:rPr lang="en-US" sz="4000" dirty="0">
                <a:solidFill>
                  <a:srgbClr val="22D3EE"/>
                </a:solidFill>
                <a:latin typeface="Liter" pitchFamily="34" charset="0"/>
                <a:ea typeface="Liter" pitchFamily="34" charset="-122"/>
                <a:cs typeface="Liter" pitchFamily="34" charset="-120"/>
              </a:rPr>
              <a:t>75%</a:t>
            </a:r>
            <a:endParaRPr lang="en-US" sz="4000" dirty="0"/>
          </a:p>
        </p:txBody>
      </p:sp>
      <p:sp>
        <p:nvSpPr>
          <p:cNvPr id="15" name="Text 12"/>
          <p:cNvSpPr/>
          <p:nvPr/>
        </p:nvSpPr>
        <p:spPr>
          <a:xfrm>
            <a:off x="8255000" y="4762500"/>
            <a:ext cx="3175000" cy="660400"/>
          </a:xfrm>
          <a:prstGeom prst="rect">
            <a:avLst/>
          </a:prstGeom>
          <a:noFill/>
          <a:ln/>
        </p:spPr>
        <p:txBody>
          <a:bodyPr wrap="square" lIns="0" tIns="0" rIns="0" bIns="0" rtlCol="0" anchor="t"/>
          <a:lstStyle/>
          <a:p>
            <a:pPr algn="ctr">
              <a:lnSpc>
                <a:spcPct val="140000"/>
              </a:lnSpc>
            </a:pPr>
            <a:r>
              <a:rPr lang="en-US" sz="1400" dirty="0">
                <a:solidFill>
                  <a:srgbClr val="E2E8F0"/>
                </a:solidFill>
                <a:latin typeface="Quattrocento Sans" pitchFamily="34" charset="0"/>
                <a:ea typeface="Quattrocento Sans" pitchFamily="34" charset="-122"/>
                <a:cs typeface="Quattrocento Sans" pitchFamily="34" charset="-120"/>
              </a:rPr>
              <a:t>Analyst time spent on manual triage vs. strategic hunting</a:t>
            </a:r>
            <a:endParaRPr lang="en-US" sz="1400" dirty="0"/>
          </a:p>
        </p:txBody>
      </p:sp>
      <p:pic>
        <p:nvPicPr>
          <p:cNvPr id="16" name="Image 0" descr="https://kimi-img.moonshot.cn/pub/slides/okc/jrtvwrx5sycfk/mnt/agents/output/agentic-ai-cybersecurity/images/5_Cyber_Security_Management_24x7_Security.png">    </p:cNvPr>
          <p:cNvPicPr>
            <a:picLocks noChangeAspect="1"/>
          </p:cNvPicPr>
          <p:nvPr/>
        </p:nvPicPr>
        <p:blipFill>
          <a:blip r:embed="rId1"/>
          <a:srcRect l="0" r="0" t="0" b="0"/>
          <a:stretch/>
        </p:blipFill>
        <p:spPr>
          <a:xfrm>
            <a:off x="9398000" y="1206500"/>
            <a:ext cx="6096000" cy="2476500"/>
          </a:xfrm>
          <a:prstGeom prst="rect">
            <a:avLst/>
          </a:prstGeom>
        </p:spPr>
      </p:pic>
      <p:sp>
        <p:nvSpPr>
          <p:cNvPr id="17" name="Shape 13"/>
          <p:cNvSpPr/>
          <p:nvPr/>
        </p:nvSpPr>
        <p:spPr>
          <a:xfrm>
            <a:off x="762000" y="5969000"/>
            <a:ext cx="50800" cy="1143000"/>
          </a:xfrm>
          <a:prstGeom prst="rect">
            <a:avLst/>
          </a:prstGeom>
          <a:solidFill>
            <a:srgbClr val="22D3EE"/>
          </a:solidFill>
          <a:ln/>
        </p:spPr>
      </p:sp>
      <p:sp>
        <p:nvSpPr>
          <p:cNvPr id="18" name="Text 14"/>
          <p:cNvSpPr/>
          <p:nvPr/>
        </p:nvSpPr>
        <p:spPr>
          <a:xfrm>
            <a:off x="1016000" y="5969000"/>
            <a:ext cx="13970000" cy="1143000"/>
          </a:xfrm>
          <a:prstGeom prst="rect">
            <a:avLst/>
          </a:prstGeom>
          <a:noFill/>
          <a:ln/>
        </p:spPr>
        <p:txBody>
          <a:bodyPr wrap="square" lIns="0" tIns="0" rIns="0" bIns="0" rtlCol="0" anchor="t"/>
          <a:lstStyle/>
          <a:p>
            <a:pPr algn="l">
              <a:lnSpc>
                <a:spcPct val="150000"/>
              </a:lnSpc>
            </a:pPr>
            <a:r>
              <a:rPr lang="en-US" sz="1600" b="1" dirty="0">
                <a:solidFill>
                  <a:srgbClr val="E2E8F0"/>
                </a:solidFill>
                <a:latin typeface="Quattrocento Sans" pitchFamily="34" charset="0"/>
                <a:ea typeface="Quattrocento Sans" pitchFamily="34" charset="-122"/>
                <a:cs typeface="Quattrocento Sans" pitchFamily="34" charset="-120"/>
              </a:rPr>
              <a:t>The Capacity Crisis:</a:t>
            </a:r>
            <a:pPr algn="l">
              <a:lnSpc>
                <a:spcPct val="150000"/>
              </a:lnSpc>
            </a:pPr>
            <a:r>
              <a:rPr lang="en-US" sz="1600" dirty="0">
                <a:solidFill>
                  <a:srgbClr val="E2E8F0"/>
                </a:solidFill>
                <a:latin typeface="Quattrocento Sans" pitchFamily="34" charset="0"/>
                <a:ea typeface="Quattrocento Sans" pitchFamily="34" charset="-122"/>
                <a:cs typeface="Quattrocento Sans" pitchFamily="34" charset="-120"/>
              </a:rPr>
              <a:t> SOCs manage 20+ disparate tools with limited integration. Analysts context-switch constantly, resulting in incomplete investigations and missed attack indicators. Traditional SOAR platforms have failed to deliver promised automation, leaving teams overwhelmed.</a:t>
            </a:r>
            <a:endParaRPr lang="en-US" sz="1600" dirty="0"/>
          </a:p>
        </p:txBody>
      </p:sp>
      <p:sp>
        <p:nvSpPr>
          <p:cNvPr id="19" name="Text 15"/>
          <p:cNvSpPr/>
          <p:nvPr/>
        </p:nvSpPr>
        <p:spPr>
          <a:xfrm>
            <a:off x="762000" y="8763000"/>
            <a:ext cx="8890000" cy="254000"/>
          </a:xfrm>
          <a:prstGeom prst="rect">
            <a:avLst/>
          </a:prstGeom>
          <a:noFill/>
          <a:ln/>
        </p:spPr>
        <p:txBody>
          <a:bodyPr wrap="none" lIns="0" tIns="0" rIns="0" bIns="0" rtlCol="0" anchor="ctr"/>
          <a:lstStyle/>
          <a:p>
            <a:pPr algn="l">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Sources: Wiz SOC Automation Guide 2026; IBM Security Report 2022; IJERET 2025</a:t>
            </a:r>
            <a:endParaRPr lang="en-US" sz="1200" dirty="0"/>
          </a:p>
        </p:txBody>
      </p:sp>
      <p:sp>
        <p:nvSpPr>
          <p:cNvPr id="20" name="Text 16"/>
          <p:cNvSpPr/>
          <p:nvPr/>
        </p:nvSpPr>
        <p:spPr>
          <a:xfrm>
            <a:off x="14986000" y="8763000"/>
            <a:ext cx="762000" cy="254000"/>
          </a:xfrm>
          <a:prstGeom prst="rect">
            <a:avLst/>
          </a:prstGeom>
          <a:noFill/>
          <a:ln/>
        </p:spPr>
        <p:txBody>
          <a:bodyPr wrap="none" lIns="0" tIns="0" rIns="0" bIns="0" rtlCol="0" anchor="ctr"/>
          <a:lstStyle/>
          <a:p>
            <a:pPr algn="r">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03</a:t>
            </a:r>
            <a:endParaRPr lang="en-US" sz="12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72A"/>
        </a:solidFill>
      </p:bgPr>
    </p:bg>
    <p:spTree>
      <p:nvGrpSpPr>
        <p:cNvPr id="1" name=""/>
        <p:cNvGrpSpPr/>
        <p:nvPr/>
      </p:nvGrpSpPr>
      <p:grpSpPr>
        <a:xfrm>
          <a:off x="0" y="0"/>
          <a:ext cx="0" cy="0"/>
          <a:chOff x="0" y="0"/>
          <a:chExt cx="0" cy="0"/>
        </a:xfrm>
      </p:grpSpPr>
      <p:sp>
        <p:nvSpPr>
          <p:cNvPr id="3" name="Shape 0"/>
          <p:cNvSpPr/>
          <p:nvPr/>
        </p:nvSpPr>
        <p:spPr>
          <a:xfrm>
            <a:off x="0" y="0"/>
            <a:ext cx="16256000" cy="50800"/>
          </a:xfrm>
          <a:prstGeom prst="rect">
            <a:avLst/>
          </a:prstGeom>
          <a:solidFill>
            <a:srgbClr val="0EA5E9"/>
          </a:solidFill>
          <a:ln/>
        </p:spPr>
      </p:sp>
      <p:sp>
        <p:nvSpPr>
          <p:cNvPr id="4" name="Text 1"/>
          <p:cNvSpPr/>
          <p:nvPr/>
        </p:nvSpPr>
        <p:spPr>
          <a:xfrm>
            <a:off x="762000" y="381000"/>
            <a:ext cx="7620000" cy="482600"/>
          </a:xfrm>
          <a:prstGeom prst="rect">
            <a:avLst/>
          </a:prstGeom>
          <a:noFill/>
          <a:ln/>
        </p:spPr>
        <p:txBody>
          <a:bodyPr wrap="none" lIns="0" tIns="0" rIns="0" bIns="0" rtlCol="0" anchor="ctr"/>
          <a:lstStyle/>
          <a:p>
            <a:pPr algn="l">
              <a:lnSpc>
                <a:spcPct val="120000"/>
              </a:lnSpc>
            </a:pPr>
            <a:r>
              <a:rPr lang="en-US" sz="2800" dirty="0">
                <a:solidFill>
                  <a:srgbClr val="0EA5E9"/>
                </a:solidFill>
                <a:latin typeface="Liter" pitchFamily="34" charset="0"/>
                <a:ea typeface="Liter" pitchFamily="34" charset="-122"/>
                <a:cs typeface="Liter" pitchFamily="34" charset="-120"/>
              </a:rPr>
              <a:t>What is Agentic AI?</a:t>
            </a:r>
            <a:endParaRPr lang="en-US" sz="2800" dirty="0"/>
          </a:p>
        </p:txBody>
      </p:sp>
      <p:sp>
        <p:nvSpPr>
          <p:cNvPr id="5" name="Shape 2"/>
          <p:cNvSpPr/>
          <p:nvPr/>
        </p:nvSpPr>
        <p:spPr>
          <a:xfrm>
            <a:off x="762000" y="939800"/>
            <a:ext cx="14732000" cy="12700"/>
          </a:xfrm>
          <a:prstGeom prst="rect">
            <a:avLst/>
          </a:prstGeom>
          <a:solidFill>
            <a:srgbClr val="475569"/>
          </a:solidFill>
          <a:ln/>
        </p:spPr>
      </p:sp>
      <p:sp>
        <p:nvSpPr>
          <p:cNvPr id="6" name="Text 3"/>
          <p:cNvSpPr/>
          <p:nvPr/>
        </p:nvSpPr>
        <p:spPr>
          <a:xfrm>
            <a:off x="762000" y="1143000"/>
            <a:ext cx="14732000" cy="825500"/>
          </a:xfrm>
          <a:prstGeom prst="rect">
            <a:avLst/>
          </a:prstGeom>
          <a:noFill/>
          <a:ln/>
        </p:spPr>
        <p:txBody>
          <a:bodyPr wrap="square" lIns="0" tIns="0" rIns="0" bIns="0" rtlCol="0" anchor="t"/>
          <a:lstStyle/>
          <a:p>
            <a:pPr algn="l">
              <a:lnSpc>
                <a:spcPct val="150000"/>
              </a:lnSpc>
            </a:pPr>
            <a:r>
              <a:rPr lang="en-US" sz="1800" dirty="0">
                <a:solidFill>
                  <a:srgbClr val="E2E8F0"/>
                </a:solidFill>
                <a:latin typeface="Quattrocento Sans" pitchFamily="34" charset="0"/>
                <a:ea typeface="Quattrocento Sans" pitchFamily="34" charset="-122"/>
                <a:cs typeface="Quattrocento Sans" pitchFamily="34" charset="-120"/>
              </a:rPr>
              <a:t>Agentic AI refers to AI systems that can </a:t>
            </a:r>
            <a:pPr algn="l">
              <a:lnSpc>
                <a:spcPct val="150000"/>
              </a:lnSpc>
            </a:pPr>
            <a:r>
              <a:rPr lang="en-US" sz="1800" b="1" dirty="0">
                <a:solidFill>
                  <a:srgbClr val="E2E8F0"/>
                </a:solidFill>
                <a:latin typeface="Quattrocento Sans" pitchFamily="34" charset="0"/>
                <a:ea typeface="Quattrocento Sans" pitchFamily="34" charset="-122"/>
                <a:cs typeface="Quattrocento Sans" pitchFamily="34" charset="-120"/>
              </a:rPr>
              <a:t>autonomously plan, reason, and execute multi-step tasks</a:t>
            </a:r>
            <a:pPr algn="l">
              <a:lnSpc>
                <a:spcPct val="150000"/>
              </a:lnSpc>
            </a:pPr>
            <a:r>
              <a:rPr lang="en-US" sz="1800" dirty="0">
                <a:solidFill>
                  <a:srgbClr val="E2E8F0"/>
                </a:solidFill>
                <a:latin typeface="Quattrocento Sans" pitchFamily="34" charset="0"/>
                <a:ea typeface="Quattrocento Sans" pitchFamily="34" charset="-122"/>
                <a:cs typeface="Quattrocento Sans" pitchFamily="34" charset="-120"/>
              </a:rPr>
              <a:t> with minimal human intervention — adapting dynamically like an expert analyst rather than following rigid rules.</a:t>
            </a:r>
            <a:endParaRPr lang="en-US" sz="1800" dirty="0"/>
          </a:p>
        </p:txBody>
      </p:sp>
      <p:sp>
        <p:nvSpPr>
          <p:cNvPr id="7" name="Shape 4"/>
          <p:cNvSpPr/>
          <p:nvPr/>
        </p:nvSpPr>
        <p:spPr>
          <a:xfrm>
            <a:off x="762000" y="2159000"/>
            <a:ext cx="3429000" cy="2540000"/>
          </a:xfrm>
          <a:prstGeom prst="rect">
            <a:avLst/>
          </a:prstGeom>
          <a:solidFill>
            <a:srgbClr val="1E293B"/>
          </a:solidFill>
          <a:ln/>
        </p:spPr>
      </p:sp>
      <p:sp>
        <p:nvSpPr>
          <p:cNvPr id="8" name="Shape 5"/>
          <p:cNvSpPr/>
          <p:nvPr/>
        </p:nvSpPr>
        <p:spPr>
          <a:xfrm>
            <a:off x="1016000" y="2349500"/>
            <a:ext cx="406400" cy="406400"/>
          </a:xfrm>
          <a:custGeom>
            <a:avLst/>
            <a:gdLst/>
            <a:ahLst/>
            <a:cxnLst/>
            <a:rect l="l" t="t" r="r" b="b"/>
            <a:pathLst>
              <a:path w="406400" h="406400">
                <a:moveTo>
                  <a:pt x="95250" y="44450"/>
                </a:moveTo>
                <a:cubicBezTo>
                  <a:pt x="95250" y="19923"/>
                  <a:pt x="115173" y="0"/>
                  <a:pt x="139700" y="0"/>
                </a:cubicBezTo>
                <a:lnTo>
                  <a:pt x="158750" y="0"/>
                </a:lnTo>
                <a:cubicBezTo>
                  <a:pt x="172799" y="0"/>
                  <a:pt x="184150" y="11351"/>
                  <a:pt x="184150" y="25400"/>
                </a:cubicBezTo>
                <a:lnTo>
                  <a:pt x="184150" y="381000"/>
                </a:lnTo>
                <a:cubicBezTo>
                  <a:pt x="184150" y="395049"/>
                  <a:pt x="172799" y="406400"/>
                  <a:pt x="158750" y="406400"/>
                </a:cubicBezTo>
                <a:lnTo>
                  <a:pt x="133350" y="406400"/>
                </a:lnTo>
                <a:cubicBezTo>
                  <a:pt x="109696" y="406400"/>
                  <a:pt x="89773" y="390208"/>
                  <a:pt x="84138" y="368300"/>
                </a:cubicBezTo>
                <a:cubicBezTo>
                  <a:pt x="83582" y="368300"/>
                  <a:pt x="83106" y="368300"/>
                  <a:pt x="82550" y="368300"/>
                </a:cubicBezTo>
                <a:cubicBezTo>
                  <a:pt x="47466" y="368300"/>
                  <a:pt x="19050" y="339884"/>
                  <a:pt x="19050" y="304800"/>
                </a:cubicBezTo>
                <a:cubicBezTo>
                  <a:pt x="19050" y="290513"/>
                  <a:pt x="23813" y="277336"/>
                  <a:pt x="31750" y="266700"/>
                </a:cubicBezTo>
                <a:cubicBezTo>
                  <a:pt x="16351" y="255111"/>
                  <a:pt x="6350" y="236696"/>
                  <a:pt x="6350" y="215900"/>
                </a:cubicBezTo>
                <a:cubicBezTo>
                  <a:pt x="6350" y="191373"/>
                  <a:pt x="20320" y="170021"/>
                  <a:pt x="40640" y="159464"/>
                </a:cubicBezTo>
                <a:cubicBezTo>
                  <a:pt x="35004" y="149939"/>
                  <a:pt x="31750" y="138827"/>
                  <a:pt x="31750" y="127000"/>
                </a:cubicBezTo>
                <a:cubicBezTo>
                  <a:pt x="31750" y="91916"/>
                  <a:pt x="60166" y="63500"/>
                  <a:pt x="95250" y="63500"/>
                </a:cubicBezTo>
                <a:lnTo>
                  <a:pt x="95250" y="44450"/>
                </a:lnTo>
                <a:close/>
                <a:moveTo>
                  <a:pt x="311150" y="44450"/>
                </a:moveTo>
                <a:lnTo>
                  <a:pt x="311150" y="63500"/>
                </a:lnTo>
                <a:cubicBezTo>
                  <a:pt x="346234" y="63500"/>
                  <a:pt x="374650" y="91916"/>
                  <a:pt x="374650" y="127000"/>
                </a:cubicBezTo>
                <a:cubicBezTo>
                  <a:pt x="374650" y="138906"/>
                  <a:pt x="371396" y="150019"/>
                  <a:pt x="365760" y="159464"/>
                </a:cubicBezTo>
                <a:cubicBezTo>
                  <a:pt x="386159" y="170021"/>
                  <a:pt x="400050" y="191294"/>
                  <a:pt x="400050" y="215900"/>
                </a:cubicBezTo>
                <a:cubicBezTo>
                  <a:pt x="400050" y="236696"/>
                  <a:pt x="390049" y="255111"/>
                  <a:pt x="374650" y="266700"/>
                </a:cubicBezTo>
                <a:cubicBezTo>
                  <a:pt x="382588" y="277336"/>
                  <a:pt x="387350" y="290513"/>
                  <a:pt x="387350" y="304800"/>
                </a:cubicBezTo>
                <a:cubicBezTo>
                  <a:pt x="387350" y="339884"/>
                  <a:pt x="358934" y="368300"/>
                  <a:pt x="323850" y="368300"/>
                </a:cubicBezTo>
                <a:cubicBezTo>
                  <a:pt x="323294" y="368300"/>
                  <a:pt x="322818" y="368300"/>
                  <a:pt x="322263" y="368300"/>
                </a:cubicBezTo>
                <a:cubicBezTo>
                  <a:pt x="316627" y="390208"/>
                  <a:pt x="296704" y="406400"/>
                  <a:pt x="273050" y="406400"/>
                </a:cubicBezTo>
                <a:lnTo>
                  <a:pt x="247650" y="406400"/>
                </a:lnTo>
                <a:cubicBezTo>
                  <a:pt x="233601" y="406400"/>
                  <a:pt x="222250" y="395049"/>
                  <a:pt x="222250" y="381000"/>
                </a:cubicBezTo>
                <a:lnTo>
                  <a:pt x="222250" y="25400"/>
                </a:lnTo>
                <a:cubicBezTo>
                  <a:pt x="222250" y="11351"/>
                  <a:pt x="233601" y="0"/>
                  <a:pt x="247650" y="0"/>
                </a:cubicBezTo>
                <a:lnTo>
                  <a:pt x="266700" y="0"/>
                </a:lnTo>
                <a:cubicBezTo>
                  <a:pt x="291227" y="0"/>
                  <a:pt x="311150" y="19923"/>
                  <a:pt x="311150" y="44450"/>
                </a:cubicBezTo>
                <a:close/>
              </a:path>
            </a:pathLst>
          </a:custGeom>
          <a:solidFill>
            <a:srgbClr val="22D3EE"/>
          </a:solidFill>
          <a:ln/>
        </p:spPr>
      </p:sp>
      <p:sp>
        <p:nvSpPr>
          <p:cNvPr id="9" name="Text 6"/>
          <p:cNvSpPr/>
          <p:nvPr/>
        </p:nvSpPr>
        <p:spPr>
          <a:xfrm>
            <a:off x="1016000" y="2895600"/>
            <a:ext cx="2921000" cy="3302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Dynamic Planning</a:t>
            </a:r>
            <a:endParaRPr lang="en-US" sz="1600" dirty="0"/>
          </a:p>
        </p:txBody>
      </p:sp>
      <p:sp>
        <p:nvSpPr>
          <p:cNvPr id="10" name="Text 7"/>
          <p:cNvSpPr/>
          <p:nvPr/>
        </p:nvSpPr>
        <p:spPr>
          <a:xfrm>
            <a:off x="1016000" y="3276600"/>
            <a:ext cx="2921000" cy="1397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Plans investigation paths dynamically based on context rather than executing predetermined sequences</a:t>
            </a:r>
            <a:endParaRPr lang="en-US" sz="1400" dirty="0"/>
          </a:p>
        </p:txBody>
      </p:sp>
      <p:sp>
        <p:nvSpPr>
          <p:cNvPr id="11" name="Shape 8"/>
          <p:cNvSpPr/>
          <p:nvPr/>
        </p:nvSpPr>
        <p:spPr>
          <a:xfrm>
            <a:off x="4445000" y="2159000"/>
            <a:ext cx="3429000" cy="2540000"/>
          </a:xfrm>
          <a:prstGeom prst="rect">
            <a:avLst/>
          </a:prstGeom>
          <a:solidFill>
            <a:srgbClr val="1E293B"/>
          </a:solidFill>
          <a:ln/>
        </p:spPr>
      </p:sp>
      <p:sp>
        <p:nvSpPr>
          <p:cNvPr id="12" name="Shape 9"/>
          <p:cNvSpPr/>
          <p:nvPr/>
        </p:nvSpPr>
        <p:spPr>
          <a:xfrm>
            <a:off x="4699000" y="2349500"/>
            <a:ext cx="406400" cy="406400"/>
          </a:xfrm>
          <a:custGeom>
            <a:avLst/>
            <a:gdLst/>
            <a:ahLst/>
            <a:cxnLst/>
            <a:rect l="l" t="t" r="r" b="b"/>
            <a:pathLst>
              <a:path w="406400" h="406400">
                <a:moveTo>
                  <a:pt x="406400" y="76200"/>
                </a:moveTo>
                <a:cubicBezTo>
                  <a:pt x="406400" y="116046"/>
                  <a:pt x="359489" y="175498"/>
                  <a:pt x="339249" y="199231"/>
                </a:cubicBezTo>
                <a:cubicBezTo>
                  <a:pt x="336233" y="202724"/>
                  <a:pt x="331788" y="204073"/>
                  <a:pt x="327739" y="203200"/>
                </a:cubicBezTo>
                <a:lnTo>
                  <a:pt x="254000" y="203200"/>
                </a:lnTo>
                <a:cubicBezTo>
                  <a:pt x="239951" y="203200"/>
                  <a:pt x="228600" y="214551"/>
                  <a:pt x="228600" y="228600"/>
                </a:cubicBezTo>
                <a:cubicBezTo>
                  <a:pt x="228600" y="242649"/>
                  <a:pt x="239951" y="254000"/>
                  <a:pt x="254000" y="254000"/>
                </a:cubicBezTo>
                <a:lnTo>
                  <a:pt x="330200" y="254000"/>
                </a:lnTo>
                <a:cubicBezTo>
                  <a:pt x="372269" y="254000"/>
                  <a:pt x="406400" y="288131"/>
                  <a:pt x="406400" y="330200"/>
                </a:cubicBezTo>
                <a:cubicBezTo>
                  <a:pt x="406400" y="372269"/>
                  <a:pt x="372269" y="406400"/>
                  <a:pt x="330200" y="406400"/>
                </a:cubicBezTo>
                <a:lnTo>
                  <a:pt x="110808" y="406400"/>
                </a:lnTo>
                <a:cubicBezTo>
                  <a:pt x="117713" y="398542"/>
                  <a:pt x="126127" y="388461"/>
                  <a:pt x="134620" y="377190"/>
                </a:cubicBezTo>
                <a:cubicBezTo>
                  <a:pt x="139621" y="370523"/>
                  <a:pt x="144780" y="363220"/>
                  <a:pt x="149701" y="355600"/>
                </a:cubicBezTo>
                <a:lnTo>
                  <a:pt x="330200" y="355600"/>
                </a:lnTo>
                <a:cubicBezTo>
                  <a:pt x="344249" y="355600"/>
                  <a:pt x="355600" y="344249"/>
                  <a:pt x="355600" y="330200"/>
                </a:cubicBezTo>
                <a:cubicBezTo>
                  <a:pt x="355600" y="316151"/>
                  <a:pt x="344249" y="304800"/>
                  <a:pt x="330200" y="304800"/>
                </a:cubicBezTo>
                <a:lnTo>
                  <a:pt x="254000" y="304800"/>
                </a:lnTo>
                <a:cubicBezTo>
                  <a:pt x="211931" y="304800"/>
                  <a:pt x="177800" y="270669"/>
                  <a:pt x="177800" y="228600"/>
                </a:cubicBezTo>
                <a:cubicBezTo>
                  <a:pt x="177800" y="186531"/>
                  <a:pt x="211931" y="152400"/>
                  <a:pt x="254000" y="152400"/>
                </a:cubicBezTo>
                <a:lnTo>
                  <a:pt x="285591" y="152400"/>
                </a:lnTo>
                <a:cubicBezTo>
                  <a:pt x="268923" y="127397"/>
                  <a:pt x="254000" y="98663"/>
                  <a:pt x="254000" y="76200"/>
                </a:cubicBezTo>
                <a:cubicBezTo>
                  <a:pt x="254000" y="34131"/>
                  <a:pt x="288131" y="0"/>
                  <a:pt x="330200" y="0"/>
                </a:cubicBezTo>
                <a:cubicBezTo>
                  <a:pt x="372269" y="0"/>
                  <a:pt x="406400" y="34131"/>
                  <a:pt x="406400" y="76200"/>
                </a:cubicBezTo>
                <a:close/>
                <a:moveTo>
                  <a:pt x="92948" y="388223"/>
                </a:moveTo>
                <a:cubicBezTo>
                  <a:pt x="89932" y="391636"/>
                  <a:pt x="87233" y="394653"/>
                  <a:pt x="84931" y="397193"/>
                </a:cubicBezTo>
                <a:lnTo>
                  <a:pt x="83503" y="398780"/>
                </a:lnTo>
                <a:lnTo>
                  <a:pt x="83344" y="398621"/>
                </a:lnTo>
                <a:cubicBezTo>
                  <a:pt x="78581" y="402273"/>
                  <a:pt x="71755" y="401796"/>
                  <a:pt x="67469" y="397193"/>
                </a:cubicBezTo>
                <a:cubicBezTo>
                  <a:pt x="47466" y="375444"/>
                  <a:pt x="0" y="319484"/>
                  <a:pt x="0" y="279400"/>
                </a:cubicBezTo>
                <a:cubicBezTo>
                  <a:pt x="0" y="237331"/>
                  <a:pt x="34131" y="203200"/>
                  <a:pt x="76200" y="203200"/>
                </a:cubicBezTo>
                <a:cubicBezTo>
                  <a:pt x="118269" y="203200"/>
                  <a:pt x="152400" y="237331"/>
                  <a:pt x="152400" y="279400"/>
                </a:cubicBezTo>
                <a:cubicBezTo>
                  <a:pt x="152400" y="303213"/>
                  <a:pt x="135652" y="332581"/>
                  <a:pt x="117872" y="357108"/>
                </a:cubicBezTo>
                <a:cubicBezTo>
                  <a:pt x="109379" y="368776"/>
                  <a:pt x="100648" y="379333"/>
                  <a:pt x="93424" y="387668"/>
                </a:cubicBezTo>
                <a:lnTo>
                  <a:pt x="92948" y="388223"/>
                </a:lnTo>
                <a:close/>
                <a:moveTo>
                  <a:pt x="101600" y="279400"/>
                </a:moveTo>
                <a:cubicBezTo>
                  <a:pt x="101600" y="265381"/>
                  <a:pt x="90219" y="254000"/>
                  <a:pt x="76200" y="254000"/>
                </a:cubicBezTo>
                <a:cubicBezTo>
                  <a:pt x="62181" y="254000"/>
                  <a:pt x="50800" y="265381"/>
                  <a:pt x="50800" y="279400"/>
                </a:cubicBezTo>
                <a:cubicBezTo>
                  <a:pt x="50800" y="293419"/>
                  <a:pt x="62181" y="304800"/>
                  <a:pt x="76200" y="304800"/>
                </a:cubicBezTo>
                <a:cubicBezTo>
                  <a:pt x="90219" y="304800"/>
                  <a:pt x="101600" y="293419"/>
                  <a:pt x="101600" y="279400"/>
                </a:cubicBezTo>
                <a:close/>
                <a:moveTo>
                  <a:pt x="330200" y="101600"/>
                </a:moveTo>
                <a:cubicBezTo>
                  <a:pt x="344219" y="101600"/>
                  <a:pt x="355600" y="90219"/>
                  <a:pt x="355600" y="76200"/>
                </a:cubicBezTo>
                <a:cubicBezTo>
                  <a:pt x="355600" y="62181"/>
                  <a:pt x="344219" y="50800"/>
                  <a:pt x="330200" y="50800"/>
                </a:cubicBezTo>
                <a:cubicBezTo>
                  <a:pt x="316181" y="50800"/>
                  <a:pt x="304800" y="62181"/>
                  <a:pt x="304800" y="76200"/>
                </a:cubicBezTo>
                <a:cubicBezTo>
                  <a:pt x="304800" y="90219"/>
                  <a:pt x="316181" y="101600"/>
                  <a:pt x="330200" y="101600"/>
                </a:cubicBezTo>
                <a:close/>
              </a:path>
            </a:pathLst>
          </a:custGeom>
          <a:solidFill>
            <a:srgbClr val="22D3EE"/>
          </a:solidFill>
          <a:ln/>
        </p:spPr>
      </p:sp>
      <p:sp>
        <p:nvSpPr>
          <p:cNvPr id="13" name="Text 10"/>
          <p:cNvSpPr/>
          <p:nvPr/>
        </p:nvSpPr>
        <p:spPr>
          <a:xfrm>
            <a:off x="4699000" y="2895600"/>
            <a:ext cx="2921000" cy="3302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Adaptive Reasoning</a:t>
            </a:r>
            <a:endParaRPr lang="en-US" sz="1600" dirty="0"/>
          </a:p>
        </p:txBody>
      </p:sp>
      <p:sp>
        <p:nvSpPr>
          <p:cNvPr id="14" name="Text 11"/>
          <p:cNvSpPr/>
          <p:nvPr/>
        </p:nvSpPr>
        <p:spPr>
          <a:xfrm>
            <a:off x="4699000" y="3276600"/>
            <a:ext cx="2921000" cy="1397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Adjusts investigation paths based on findings, pulling additional telemetry when anomalies are detected</a:t>
            </a:r>
            <a:endParaRPr lang="en-US" sz="1400" dirty="0"/>
          </a:p>
        </p:txBody>
      </p:sp>
      <p:sp>
        <p:nvSpPr>
          <p:cNvPr id="15" name="Shape 12"/>
          <p:cNvSpPr/>
          <p:nvPr/>
        </p:nvSpPr>
        <p:spPr>
          <a:xfrm>
            <a:off x="8128000" y="2159000"/>
            <a:ext cx="3429000" cy="2540000"/>
          </a:xfrm>
          <a:prstGeom prst="rect">
            <a:avLst/>
          </a:prstGeom>
          <a:solidFill>
            <a:srgbClr val="1E293B"/>
          </a:solidFill>
          <a:ln/>
        </p:spPr>
      </p:sp>
      <p:sp>
        <p:nvSpPr>
          <p:cNvPr id="16" name="Shape 13"/>
          <p:cNvSpPr/>
          <p:nvPr/>
        </p:nvSpPr>
        <p:spPr>
          <a:xfrm>
            <a:off x="8382000" y="2349500"/>
            <a:ext cx="406400" cy="406400"/>
          </a:xfrm>
          <a:custGeom>
            <a:avLst/>
            <a:gdLst/>
            <a:ahLst/>
            <a:cxnLst/>
            <a:rect l="l" t="t" r="r" b="b"/>
            <a:pathLst>
              <a:path w="406400" h="406400">
                <a:moveTo>
                  <a:pt x="174978" y="69850"/>
                </a:moveTo>
                <a:lnTo>
                  <a:pt x="231422" y="69850"/>
                </a:lnTo>
                <a:lnTo>
                  <a:pt x="231422" y="107950"/>
                </a:lnTo>
                <a:lnTo>
                  <a:pt x="174978" y="107950"/>
                </a:lnTo>
                <a:lnTo>
                  <a:pt x="174978" y="69850"/>
                </a:lnTo>
                <a:close/>
                <a:moveTo>
                  <a:pt x="169333" y="25400"/>
                </a:moveTo>
                <a:cubicBezTo>
                  <a:pt x="150636" y="25400"/>
                  <a:pt x="135467" y="42466"/>
                  <a:pt x="135467" y="63500"/>
                </a:cubicBezTo>
                <a:lnTo>
                  <a:pt x="135467" y="114300"/>
                </a:lnTo>
                <a:cubicBezTo>
                  <a:pt x="135467" y="135334"/>
                  <a:pt x="150636" y="152400"/>
                  <a:pt x="169333" y="152400"/>
                </a:cubicBezTo>
                <a:lnTo>
                  <a:pt x="180622" y="152400"/>
                </a:lnTo>
                <a:lnTo>
                  <a:pt x="180622" y="177800"/>
                </a:lnTo>
                <a:lnTo>
                  <a:pt x="22578" y="177800"/>
                </a:lnTo>
                <a:cubicBezTo>
                  <a:pt x="10089" y="177800"/>
                  <a:pt x="0" y="189151"/>
                  <a:pt x="0" y="203200"/>
                </a:cubicBezTo>
                <a:cubicBezTo>
                  <a:pt x="0" y="217249"/>
                  <a:pt x="10089" y="228600"/>
                  <a:pt x="22578" y="228600"/>
                </a:cubicBezTo>
                <a:lnTo>
                  <a:pt x="90311" y="228600"/>
                </a:lnTo>
                <a:lnTo>
                  <a:pt x="90311" y="254000"/>
                </a:lnTo>
                <a:lnTo>
                  <a:pt x="79022" y="254000"/>
                </a:lnTo>
                <a:cubicBezTo>
                  <a:pt x="60325" y="254000"/>
                  <a:pt x="45156" y="271066"/>
                  <a:pt x="45156" y="292100"/>
                </a:cubicBezTo>
                <a:lnTo>
                  <a:pt x="45156" y="342900"/>
                </a:lnTo>
                <a:cubicBezTo>
                  <a:pt x="45156" y="363934"/>
                  <a:pt x="60325" y="381000"/>
                  <a:pt x="79022" y="381000"/>
                </a:cubicBezTo>
                <a:lnTo>
                  <a:pt x="146756" y="381000"/>
                </a:lnTo>
                <a:cubicBezTo>
                  <a:pt x="165453" y="381000"/>
                  <a:pt x="180622" y="363934"/>
                  <a:pt x="180622" y="342900"/>
                </a:cubicBezTo>
                <a:lnTo>
                  <a:pt x="180622" y="292100"/>
                </a:lnTo>
                <a:cubicBezTo>
                  <a:pt x="180622" y="271066"/>
                  <a:pt x="165453" y="254000"/>
                  <a:pt x="146756" y="254000"/>
                </a:cubicBezTo>
                <a:lnTo>
                  <a:pt x="135467" y="254000"/>
                </a:lnTo>
                <a:lnTo>
                  <a:pt x="135467" y="228600"/>
                </a:lnTo>
                <a:lnTo>
                  <a:pt x="270933" y="228600"/>
                </a:lnTo>
                <a:lnTo>
                  <a:pt x="270933" y="254000"/>
                </a:lnTo>
                <a:lnTo>
                  <a:pt x="259644" y="254000"/>
                </a:lnTo>
                <a:cubicBezTo>
                  <a:pt x="240947" y="254000"/>
                  <a:pt x="225778" y="271066"/>
                  <a:pt x="225778" y="292100"/>
                </a:cubicBezTo>
                <a:lnTo>
                  <a:pt x="225778" y="342900"/>
                </a:lnTo>
                <a:cubicBezTo>
                  <a:pt x="225778" y="363934"/>
                  <a:pt x="240947" y="381000"/>
                  <a:pt x="259644" y="381000"/>
                </a:cubicBezTo>
                <a:lnTo>
                  <a:pt x="327378" y="381000"/>
                </a:lnTo>
                <a:cubicBezTo>
                  <a:pt x="346075" y="381000"/>
                  <a:pt x="361244" y="363934"/>
                  <a:pt x="361244" y="342900"/>
                </a:cubicBezTo>
                <a:lnTo>
                  <a:pt x="361244" y="292100"/>
                </a:lnTo>
                <a:cubicBezTo>
                  <a:pt x="361244" y="271066"/>
                  <a:pt x="346075" y="254000"/>
                  <a:pt x="327378" y="254000"/>
                </a:cubicBezTo>
                <a:lnTo>
                  <a:pt x="316089" y="254000"/>
                </a:lnTo>
                <a:lnTo>
                  <a:pt x="316089" y="228600"/>
                </a:lnTo>
                <a:lnTo>
                  <a:pt x="383822" y="228600"/>
                </a:lnTo>
                <a:cubicBezTo>
                  <a:pt x="396311" y="228600"/>
                  <a:pt x="406400" y="217249"/>
                  <a:pt x="406400" y="203200"/>
                </a:cubicBezTo>
                <a:cubicBezTo>
                  <a:pt x="406400" y="189151"/>
                  <a:pt x="396311" y="177800"/>
                  <a:pt x="383822" y="177800"/>
                </a:cubicBezTo>
                <a:lnTo>
                  <a:pt x="225778" y="177800"/>
                </a:lnTo>
                <a:lnTo>
                  <a:pt x="225778" y="152400"/>
                </a:lnTo>
                <a:lnTo>
                  <a:pt x="237067" y="152400"/>
                </a:lnTo>
                <a:cubicBezTo>
                  <a:pt x="255764" y="152400"/>
                  <a:pt x="270933" y="135334"/>
                  <a:pt x="270933" y="114300"/>
                </a:cubicBezTo>
                <a:lnTo>
                  <a:pt x="270933" y="63500"/>
                </a:lnTo>
                <a:cubicBezTo>
                  <a:pt x="270933" y="42466"/>
                  <a:pt x="255764" y="25400"/>
                  <a:pt x="237067" y="25400"/>
                </a:cubicBezTo>
                <a:lnTo>
                  <a:pt x="169333" y="25400"/>
                </a:lnTo>
                <a:close/>
                <a:moveTo>
                  <a:pt x="316089" y="298450"/>
                </a:moveTo>
                <a:lnTo>
                  <a:pt x="321733" y="298450"/>
                </a:lnTo>
                <a:lnTo>
                  <a:pt x="321733" y="336550"/>
                </a:lnTo>
                <a:lnTo>
                  <a:pt x="265289" y="336550"/>
                </a:lnTo>
                <a:lnTo>
                  <a:pt x="265289" y="298450"/>
                </a:lnTo>
                <a:lnTo>
                  <a:pt x="316089" y="298450"/>
                </a:lnTo>
                <a:close/>
                <a:moveTo>
                  <a:pt x="135467" y="298450"/>
                </a:moveTo>
                <a:lnTo>
                  <a:pt x="141111" y="298450"/>
                </a:lnTo>
                <a:lnTo>
                  <a:pt x="141111" y="336550"/>
                </a:lnTo>
                <a:lnTo>
                  <a:pt x="84667" y="336550"/>
                </a:lnTo>
                <a:lnTo>
                  <a:pt x="84667" y="298450"/>
                </a:lnTo>
                <a:lnTo>
                  <a:pt x="135467" y="298450"/>
                </a:lnTo>
                <a:close/>
              </a:path>
            </a:pathLst>
          </a:custGeom>
          <a:solidFill>
            <a:srgbClr val="22D3EE"/>
          </a:solidFill>
          <a:ln/>
        </p:spPr>
      </p:sp>
      <p:sp>
        <p:nvSpPr>
          <p:cNvPr id="17" name="Text 14"/>
          <p:cNvSpPr/>
          <p:nvPr/>
        </p:nvSpPr>
        <p:spPr>
          <a:xfrm>
            <a:off x="8382000" y="2895600"/>
            <a:ext cx="2921000" cy="3302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Multi-Source Correlation</a:t>
            </a:r>
            <a:endParaRPr lang="en-US" sz="1600" dirty="0"/>
          </a:p>
        </p:txBody>
      </p:sp>
      <p:sp>
        <p:nvSpPr>
          <p:cNvPr id="18" name="Text 15"/>
          <p:cNvSpPr/>
          <p:nvPr/>
        </p:nvSpPr>
        <p:spPr>
          <a:xfrm>
            <a:off x="8382000" y="3276600"/>
            <a:ext cx="2921000" cy="1270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Reasons across SIEMs, EDRs, identity platforms, and threat intel feeds to build complete narratives</a:t>
            </a:r>
            <a:endParaRPr lang="en-US" sz="1400" dirty="0"/>
          </a:p>
        </p:txBody>
      </p:sp>
      <p:sp>
        <p:nvSpPr>
          <p:cNvPr id="19" name="Shape 16"/>
          <p:cNvSpPr/>
          <p:nvPr/>
        </p:nvSpPr>
        <p:spPr>
          <a:xfrm>
            <a:off x="11811000" y="2159000"/>
            <a:ext cx="3683000" cy="2540000"/>
          </a:xfrm>
          <a:prstGeom prst="rect">
            <a:avLst/>
          </a:prstGeom>
          <a:solidFill>
            <a:srgbClr val="1E293B"/>
          </a:solidFill>
          <a:ln/>
        </p:spPr>
      </p:sp>
      <p:sp>
        <p:nvSpPr>
          <p:cNvPr id="20" name="Shape 17"/>
          <p:cNvSpPr/>
          <p:nvPr/>
        </p:nvSpPr>
        <p:spPr>
          <a:xfrm>
            <a:off x="12065000" y="2349500"/>
            <a:ext cx="406400" cy="406400"/>
          </a:xfrm>
          <a:custGeom>
            <a:avLst/>
            <a:gdLst/>
            <a:ahLst/>
            <a:cxnLst/>
            <a:rect l="l" t="t" r="r" b="b"/>
            <a:pathLst>
              <a:path w="406400" h="406400">
                <a:moveTo>
                  <a:pt x="52308" y="181372"/>
                </a:moveTo>
                <a:cubicBezTo>
                  <a:pt x="62865" y="107553"/>
                  <a:pt x="126444" y="50800"/>
                  <a:pt x="203200" y="50800"/>
                </a:cubicBezTo>
                <a:cubicBezTo>
                  <a:pt x="245269" y="50800"/>
                  <a:pt x="283369" y="67866"/>
                  <a:pt x="310991" y="95409"/>
                </a:cubicBezTo>
                <a:cubicBezTo>
                  <a:pt x="311150" y="95568"/>
                  <a:pt x="311309" y="95726"/>
                  <a:pt x="311468" y="95885"/>
                </a:cubicBezTo>
                <a:lnTo>
                  <a:pt x="317500" y="101600"/>
                </a:lnTo>
                <a:lnTo>
                  <a:pt x="279479" y="101600"/>
                </a:lnTo>
                <a:cubicBezTo>
                  <a:pt x="265430" y="101600"/>
                  <a:pt x="254079" y="112951"/>
                  <a:pt x="254079" y="127000"/>
                </a:cubicBezTo>
                <a:cubicBezTo>
                  <a:pt x="254079" y="141049"/>
                  <a:pt x="265430" y="152400"/>
                  <a:pt x="279479" y="152400"/>
                </a:cubicBezTo>
                <a:lnTo>
                  <a:pt x="381079" y="152400"/>
                </a:lnTo>
                <a:cubicBezTo>
                  <a:pt x="395129" y="152400"/>
                  <a:pt x="406479" y="141049"/>
                  <a:pt x="406479" y="127000"/>
                </a:cubicBezTo>
                <a:lnTo>
                  <a:pt x="406479" y="25400"/>
                </a:lnTo>
                <a:cubicBezTo>
                  <a:pt x="406479" y="11351"/>
                  <a:pt x="395129" y="0"/>
                  <a:pt x="381079" y="0"/>
                </a:cubicBezTo>
                <a:cubicBezTo>
                  <a:pt x="367030" y="0"/>
                  <a:pt x="355679" y="11351"/>
                  <a:pt x="355679" y="25400"/>
                </a:cubicBezTo>
                <a:lnTo>
                  <a:pt x="355679" y="67786"/>
                </a:lnTo>
                <a:lnTo>
                  <a:pt x="346710" y="59293"/>
                </a:lnTo>
                <a:cubicBezTo>
                  <a:pt x="309959" y="22701"/>
                  <a:pt x="259159" y="0"/>
                  <a:pt x="203200" y="0"/>
                </a:cubicBezTo>
                <a:cubicBezTo>
                  <a:pt x="100806" y="0"/>
                  <a:pt x="16113" y="75724"/>
                  <a:pt x="2064" y="174228"/>
                </a:cubicBezTo>
                <a:cubicBezTo>
                  <a:pt x="79" y="188119"/>
                  <a:pt x="9684" y="200978"/>
                  <a:pt x="23574" y="202962"/>
                </a:cubicBezTo>
                <a:cubicBezTo>
                  <a:pt x="37465" y="204946"/>
                  <a:pt x="50324" y="195263"/>
                  <a:pt x="52308" y="181451"/>
                </a:cubicBezTo>
                <a:close/>
                <a:moveTo>
                  <a:pt x="404336" y="232172"/>
                </a:moveTo>
                <a:cubicBezTo>
                  <a:pt x="406321" y="218281"/>
                  <a:pt x="396637" y="205423"/>
                  <a:pt x="382826" y="203438"/>
                </a:cubicBezTo>
                <a:cubicBezTo>
                  <a:pt x="369014" y="201454"/>
                  <a:pt x="356076" y="211138"/>
                  <a:pt x="354092" y="224949"/>
                </a:cubicBezTo>
                <a:cubicBezTo>
                  <a:pt x="343535" y="298768"/>
                  <a:pt x="279956" y="355521"/>
                  <a:pt x="203200" y="355521"/>
                </a:cubicBezTo>
                <a:cubicBezTo>
                  <a:pt x="161131" y="355521"/>
                  <a:pt x="123031" y="338455"/>
                  <a:pt x="95409" y="310912"/>
                </a:cubicBezTo>
                <a:cubicBezTo>
                  <a:pt x="95250" y="310753"/>
                  <a:pt x="95091" y="310594"/>
                  <a:pt x="94932" y="310436"/>
                </a:cubicBezTo>
                <a:lnTo>
                  <a:pt x="88900" y="304721"/>
                </a:lnTo>
                <a:lnTo>
                  <a:pt x="126921" y="304721"/>
                </a:lnTo>
                <a:cubicBezTo>
                  <a:pt x="140970" y="304721"/>
                  <a:pt x="152321" y="293370"/>
                  <a:pt x="152321" y="279321"/>
                </a:cubicBezTo>
                <a:cubicBezTo>
                  <a:pt x="152321" y="265271"/>
                  <a:pt x="140970" y="253921"/>
                  <a:pt x="126921" y="253921"/>
                </a:cubicBezTo>
                <a:lnTo>
                  <a:pt x="25400" y="254000"/>
                </a:lnTo>
                <a:cubicBezTo>
                  <a:pt x="18653" y="254000"/>
                  <a:pt x="12144" y="256699"/>
                  <a:pt x="7382" y="261541"/>
                </a:cubicBezTo>
                <a:cubicBezTo>
                  <a:pt x="2619" y="266383"/>
                  <a:pt x="-79" y="272812"/>
                  <a:pt x="0" y="279638"/>
                </a:cubicBezTo>
                <a:lnTo>
                  <a:pt x="794" y="380444"/>
                </a:lnTo>
                <a:cubicBezTo>
                  <a:pt x="873" y="394494"/>
                  <a:pt x="12383" y="405765"/>
                  <a:pt x="26432" y="405606"/>
                </a:cubicBezTo>
                <a:cubicBezTo>
                  <a:pt x="40481" y="405448"/>
                  <a:pt x="51753" y="394017"/>
                  <a:pt x="51594" y="379968"/>
                </a:cubicBezTo>
                <a:lnTo>
                  <a:pt x="51276" y="339090"/>
                </a:lnTo>
                <a:lnTo>
                  <a:pt x="59769" y="347107"/>
                </a:lnTo>
                <a:cubicBezTo>
                  <a:pt x="96520" y="383699"/>
                  <a:pt x="147241" y="406400"/>
                  <a:pt x="203200" y="406400"/>
                </a:cubicBezTo>
                <a:cubicBezTo>
                  <a:pt x="305594" y="406400"/>
                  <a:pt x="390287" y="330676"/>
                  <a:pt x="404336" y="232172"/>
                </a:cubicBezTo>
                <a:close/>
              </a:path>
            </a:pathLst>
          </a:custGeom>
          <a:solidFill>
            <a:srgbClr val="22D3EE"/>
          </a:solidFill>
          <a:ln/>
        </p:spPr>
      </p:sp>
      <p:sp>
        <p:nvSpPr>
          <p:cNvPr id="21" name="Text 18"/>
          <p:cNvSpPr/>
          <p:nvPr/>
        </p:nvSpPr>
        <p:spPr>
          <a:xfrm>
            <a:off x="12065000" y="2895600"/>
            <a:ext cx="3175000" cy="3302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Continuous Learning</a:t>
            </a:r>
            <a:endParaRPr lang="en-US" sz="1600" dirty="0"/>
          </a:p>
        </p:txBody>
      </p:sp>
      <p:sp>
        <p:nvSpPr>
          <p:cNvPr id="22" name="Text 19"/>
          <p:cNvSpPr/>
          <p:nvPr/>
        </p:nvSpPr>
        <p:spPr>
          <a:xfrm>
            <a:off x="12065000" y="3276600"/>
            <a:ext cx="3175000" cy="1270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Learns from feedback and adapts to new threat conditions, reducing noise over time</a:t>
            </a:r>
            <a:endParaRPr lang="en-US" sz="1400" dirty="0"/>
          </a:p>
        </p:txBody>
      </p:sp>
      <p:sp>
        <p:nvSpPr>
          <p:cNvPr id="23" name="Shape 20"/>
          <p:cNvSpPr/>
          <p:nvPr/>
        </p:nvSpPr>
        <p:spPr>
          <a:xfrm>
            <a:off x="762000" y="5080000"/>
            <a:ext cx="14732000" cy="3302000"/>
          </a:xfrm>
          <a:prstGeom prst="rect">
            <a:avLst/>
          </a:prstGeom>
          <a:solidFill>
            <a:srgbClr val="1E293B"/>
          </a:solidFill>
          <a:ln/>
        </p:spPr>
      </p:sp>
      <p:sp>
        <p:nvSpPr>
          <p:cNvPr id="24" name="Text 21"/>
          <p:cNvSpPr/>
          <p:nvPr/>
        </p:nvSpPr>
        <p:spPr>
          <a:xfrm>
            <a:off x="1016000" y="5232400"/>
            <a:ext cx="5080000" cy="355600"/>
          </a:xfrm>
          <a:prstGeom prst="rect">
            <a:avLst/>
          </a:prstGeom>
          <a:noFill/>
          <a:ln/>
        </p:spPr>
        <p:txBody>
          <a:bodyPr wrap="none" lIns="0" tIns="0" rIns="0" bIns="0" rtlCol="0" anchor="ctr"/>
          <a:lstStyle/>
          <a:p>
            <a:pPr algn="l">
              <a:lnSpc>
                <a:spcPct val="120000"/>
              </a:lnSpc>
            </a:pPr>
            <a:r>
              <a:rPr lang="en-US" sz="1800" dirty="0">
                <a:solidFill>
                  <a:srgbClr val="FFFFFF"/>
                </a:solidFill>
                <a:latin typeface="Liter" pitchFamily="34" charset="0"/>
                <a:ea typeface="Liter" pitchFamily="34" charset="-122"/>
                <a:cs typeface="Liter" pitchFamily="34" charset="-120"/>
              </a:rPr>
              <a:t>Agentic AI vs. Traditional SOAR</a:t>
            </a:r>
            <a:endParaRPr lang="en-US" sz="1800" dirty="0"/>
          </a:p>
        </p:txBody>
      </p:sp>
      <p:sp>
        <p:nvSpPr>
          <p:cNvPr id="25" name="Text 22"/>
          <p:cNvSpPr/>
          <p:nvPr/>
        </p:nvSpPr>
        <p:spPr>
          <a:xfrm>
            <a:off x="1016000" y="5715000"/>
            <a:ext cx="6604000" cy="304800"/>
          </a:xfrm>
          <a:prstGeom prst="rect">
            <a:avLst/>
          </a:prstGeom>
          <a:noFill/>
          <a:ln/>
        </p:spPr>
        <p:txBody>
          <a:bodyPr wrap="none" lIns="0" tIns="0" rIns="0" bIns="0" rtlCol="0" anchor="ctr"/>
          <a:lstStyle/>
          <a:p>
            <a:pPr algn="l">
              <a:lnSpc>
                <a:spcPct val="120000"/>
              </a:lnSpc>
            </a:pPr>
            <a:r>
              <a:rPr lang="en-US" sz="1400" spc="200" kern="0" dirty="0">
                <a:solidFill>
                  <a:srgbClr val="22D3EE"/>
                </a:solidFill>
                <a:latin typeface="Liter" pitchFamily="34" charset="0"/>
                <a:ea typeface="Liter" pitchFamily="34" charset="-122"/>
                <a:cs typeface="Liter" pitchFamily="34" charset="-120"/>
              </a:rPr>
              <a:t>TRADITIONAL SOAR PLAYBOOKS</a:t>
            </a:r>
            <a:endParaRPr lang="en-US" sz="1400" dirty="0"/>
          </a:p>
        </p:txBody>
      </p:sp>
      <p:sp>
        <p:nvSpPr>
          <p:cNvPr id="26" name="Text 23"/>
          <p:cNvSpPr/>
          <p:nvPr/>
        </p:nvSpPr>
        <p:spPr>
          <a:xfrm>
            <a:off x="1016000" y="6096000"/>
            <a:ext cx="6604000" cy="2032000"/>
          </a:xfrm>
          <a:prstGeom prst="rect">
            <a:avLst/>
          </a:prstGeom>
          <a:noFill/>
          <a:ln/>
        </p:spPr>
        <p:txBody>
          <a:bodyPr wrap="square" lIns="0" tIns="0" rIns="0" bIns="0" rtlCol="0" anchor="t"/>
          <a:lstStyle/>
          <a:p>
            <a:pPr algn="l">
              <a:lnSpc>
                <a:spcPct val="160000"/>
              </a:lnSpc>
            </a:pPr>
            <a:r>
              <a:rPr lang="en-US" sz="1400" dirty="0">
                <a:solidFill>
                  <a:srgbClr val="475569"/>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Executes same steps regardless of context</a:t>
            </a:r>
            <a:endParaRPr lang="en-US" sz="1400" dirty="0"/>
          </a:p>
          <a:p>
            <a:pPr algn="l">
              <a:lnSpc>
                <a:spcPct val="160000"/>
              </a:lnSpc>
            </a:pPr>
            <a:r>
              <a:rPr lang="en-US" sz="1400" dirty="0">
                <a:solidFill>
                  <a:srgbClr val="475569"/>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Fixed decision trees with pre-defined paths</a:t>
            </a:r>
            <a:endParaRPr lang="en-US" sz="1400" dirty="0"/>
          </a:p>
          <a:p>
            <a:pPr algn="l">
              <a:lnSpc>
                <a:spcPct val="160000"/>
              </a:lnSpc>
            </a:pPr>
            <a:r>
              <a:rPr lang="en-US" sz="1400" dirty="0">
                <a:solidFill>
                  <a:srgbClr val="475569"/>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Limited to scenarios authors anticipated</a:t>
            </a:r>
            <a:endParaRPr lang="en-US" sz="1400" dirty="0"/>
          </a:p>
          <a:p>
            <a:pPr algn="l">
              <a:lnSpc>
                <a:spcPct val="160000"/>
              </a:lnSpc>
            </a:pPr>
            <a:r>
              <a:rPr lang="en-US" sz="1400" dirty="0">
                <a:solidFill>
                  <a:srgbClr val="475569"/>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Requires manual updates for new threats</a:t>
            </a:r>
            <a:endParaRPr lang="en-US" sz="1400" dirty="0"/>
          </a:p>
          <a:p>
            <a:pPr algn="l">
              <a:lnSpc>
                <a:spcPct val="160000"/>
              </a:lnSpc>
            </a:pPr>
            <a:r>
              <a:rPr lang="en-US" sz="1400" dirty="0">
                <a:solidFill>
                  <a:srgbClr val="475569"/>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Cannot adapt to novel attack patterns</a:t>
            </a:r>
            <a:endParaRPr lang="en-US" sz="1400" dirty="0"/>
          </a:p>
        </p:txBody>
      </p:sp>
      <p:sp>
        <p:nvSpPr>
          <p:cNvPr id="27" name="Shape 24"/>
          <p:cNvSpPr/>
          <p:nvPr/>
        </p:nvSpPr>
        <p:spPr>
          <a:xfrm>
            <a:off x="8001000" y="5715000"/>
            <a:ext cx="12700" cy="2222500"/>
          </a:xfrm>
          <a:prstGeom prst="rect">
            <a:avLst/>
          </a:prstGeom>
          <a:solidFill>
            <a:srgbClr val="475569"/>
          </a:solidFill>
          <a:ln/>
        </p:spPr>
      </p:sp>
      <p:sp>
        <p:nvSpPr>
          <p:cNvPr id="28" name="Text 25"/>
          <p:cNvSpPr/>
          <p:nvPr/>
        </p:nvSpPr>
        <p:spPr>
          <a:xfrm>
            <a:off x="8382000" y="5715000"/>
            <a:ext cx="6604000" cy="304800"/>
          </a:xfrm>
          <a:prstGeom prst="rect">
            <a:avLst/>
          </a:prstGeom>
          <a:noFill/>
          <a:ln/>
        </p:spPr>
        <p:txBody>
          <a:bodyPr wrap="none" lIns="0" tIns="0" rIns="0" bIns="0" rtlCol="0" anchor="ctr"/>
          <a:lstStyle/>
          <a:p>
            <a:pPr algn="l">
              <a:lnSpc>
                <a:spcPct val="120000"/>
              </a:lnSpc>
            </a:pPr>
            <a:r>
              <a:rPr lang="en-US" sz="1400" spc="200" kern="0" dirty="0">
                <a:solidFill>
                  <a:srgbClr val="22D3EE"/>
                </a:solidFill>
                <a:latin typeface="Liter" pitchFamily="34" charset="0"/>
                <a:ea typeface="Liter" pitchFamily="34" charset="-122"/>
                <a:cs typeface="Liter" pitchFamily="34" charset="-120"/>
              </a:rPr>
              <a:t>AGENTIC AI SYSTEMS</a:t>
            </a:r>
            <a:endParaRPr lang="en-US" sz="1400" dirty="0"/>
          </a:p>
        </p:txBody>
      </p:sp>
      <p:sp>
        <p:nvSpPr>
          <p:cNvPr id="29" name="Text 26"/>
          <p:cNvSpPr/>
          <p:nvPr/>
        </p:nvSpPr>
        <p:spPr>
          <a:xfrm>
            <a:off x="8382000" y="6096000"/>
            <a:ext cx="6604000" cy="2032000"/>
          </a:xfrm>
          <a:prstGeom prst="rect">
            <a:avLst/>
          </a:prstGeom>
          <a:noFill/>
          <a:ln/>
        </p:spPr>
        <p:txBody>
          <a:bodyPr wrap="square" lIns="0" tIns="0" rIns="0" bIns="0" rtlCol="0" anchor="t"/>
          <a:lstStyle/>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Adapts investigation based on evidence found</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Dynamic reasoning across multiple sources</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Handles unanticipated scenarios</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Self-updating through continuous learning</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Detects and responds to novel attacks</a:t>
            </a:r>
            <a:endParaRPr lang="en-US" sz="1400" dirty="0"/>
          </a:p>
        </p:txBody>
      </p:sp>
      <p:sp>
        <p:nvSpPr>
          <p:cNvPr id="30" name="Text 27"/>
          <p:cNvSpPr/>
          <p:nvPr/>
        </p:nvSpPr>
        <p:spPr>
          <a:xfrm>
            <a:off x="762000" y="8763000"/>
            <a:ext cx="8890000" cy="254000"/>
          </a:xfrm>
          <a:prstGeom prst="rect">
            <a:avLst/>
          </a:prstGeom>
          <a:noFill/>
          <a:ln/>
        </p:spPr>
        <p:txBody>
          <a:bodyPr wrap="none" lIns="0" tIns="0" rIns="0" bIns="0" rtlCol="0" anchor="ctr"/>
          <a:lstStyle/>
          <a:p>
            <a:pPr algn="l">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Source: Prophet Security, "What Are AI SOC Agents?" 2026</a:t>
            </a:r>
            <a:endParaRPr lang="en-US" sz="1200" dirty="0"/>
          </a:p>
        </p:txBody>
      </p:sp>
      <p:sp>
        <p:nvSpPr>
          <p:cNvPr id="31" name="Text 28"/>
          <p:cNvSpPr/>
          <p:nvPr/>
        </p:nvSpPr>
        <p:spPr>
          <a:xfrm>
            <a:off x="14986000" y="8763000"/>
            <a:ext cx="762000" cy="254000"/>
          </a:xfrm>
          <a:prstGeom prst="rect">
            <a:avLst/>
          </a:prstGeom>
          <a:noFill/>
          <a:ln/>
        </p:spPr>
        <p:txBody>
          <a:bodyPr wrap="none" lIns="0" tIns="0" rIns="0" bIns="0" rtlCol="0" anchor="ctr"/>
          <a:lstStyle/>
          <a:p>
            <a:pPr algn="r">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04</a:t>
            </a:r>
            <a:endParaRPr lang="en-US" sz="12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2A"/>
        </a:solidFill>
      </p:bgPr>
    </p:bg>
    <p:spTree>
      <p:nvGrpSpPr>
        <p:cNvPr id="1" name=""/>
        <p:cNvGrpSpPr/>
        <p:nvPr/>
      </p:nvGrpSpPr>
      <p:grpSpPr>
        <a:xfrm>
          <a:off x="0" y="0"/>
          <a:ext cx="0" cy="0"/>
          <a:chOff x="0" y="0"/>
          <a:chExt cx="0" cy="0"/>
        </a:xfrm>
      </p:grpSpPr>
      <p:sp>
        <p:nvSpPr>
          <p:cNvPr id="3" name="Shape 0"/>
          <p:cNvSpPr/>
          <p:nvPr/>
        </p:nvSpPr>
        <p:spPr>
          <a:xfrm>
            <a:off x="0" y="0"/>
            <a:ext cx="16256000" cy="50800"/>
          </a:xfrm>
          <a:prstGeom prst="rect">
            <a:avLst/>
          </a:prstGeom>
          <a:solidFill>
            <a:srgbClr val="0EA5E9"/>
          </a:solidFill>
          <a:ln/>
        </p:spPr>
      </p:sp>
      <p:sp>
        <p:nvSpPr>
          <p:cNvPr id="4" name="Text 1"/>
          <p:cNvSpPr/>
          <p:nvPr/>
        </p:nvSpPr>
        <p:spPr>
          <a:xfrm>
            <a:off x="762000" y="381000"/>
            <a:ext cx="8890000" cy="482600"/>
          </a:xfrm>
          <a:prstGeom prst="rect">
            <a:avLst/>
          </a:prstGeom>
          <a:noFill/>
          <a:ln/>
        </p:spPr>
        <p:txBody>
          <a:bodyPr wrap="none" lIns="0" tIns="0" rIns="0" bIns="0" rtlCol="0" anchor="ctr"/>
          <a:lstStyle/>
          <a:p>
            <a:pPr algn="l">
              <a:lnSpc>
                <a:spcPct val="120000"/>
              </a:lnSpc>
            </a:pPr>
            <a:r>
              <a:rPr lang="en-US" sz="2800" dirty="0">
                <a:solidFill>
                  <a:srgbClr val="0EA5E9"/>
                </a:solidFill>
                <a:latin typeface="Liter" pitchFamily="34" charset="0"/>
                <a:ea typeface="Liter" pitchFamily="34" charset="-122"/>
                <a:cs typeface="Liter" pitchFamily="34" charset="-120"/>
              </a:rPr>
              <a:t>AI Agents Architecture</a:t>
            </a:r>
            <a:endParaRPr lang="en-US" sz="2800" dirty="0"/>
          </a:p>
        </p:txBody>
      </p:sp>
      <p:sp>
        <p:nvSpPr>
          <p:cNvPr id="5" name="Shape 2"/>
          <p:cNvSpPr/>
          <p:nvPr/>
        </p:nvSpPr>
        <p:spPr>
          <a:xfrm>
            <a:off x="762000" y="939800"/>
            <a:ext cx="14732000" cy="12700"/>
          </a:xfrm>
          <a:prstGeom prst="rect">
            <a:avLst/>
          </a:prstGeom>
          <a:solidFill>
            <a:srgbClr val="475569"/>
          </a:solidFill>
          <a:ln/>
        </p:spPr>
      </p:sp>
      <p:sp>
        <p:nvSpPr>
          <p:cNvPr id="6" name="Shape 3"/>
          <p:cNvSpPr/>
          <p:nvPr/>
        </p:nvSpPr>
        <p:spPr>
          <a:xfrm>
            <a:off x="762000" y="1206500"/>
            <a:ext cx="4699000" cy="4508500"/>
          </a:xfrm>
          <a:prstGeom prst="rect">
            <a:avLst/>
          </a:prstGeom>
          <a:solidFill>
            <a:srgbClr val="1E293B"/>
          </a:solidFill>
          <a:ln/>
        </p:spPr>
      </p:sp>
      <p:sp>
        <p:nvSpPr>
          <p:cNvPr id="7" name="Shape 4"/>
          <p:cNvSpPr/>
          <p:nvPr/>
        </p:nvSpPr>
        <p:spPr>
          <a:xfrm>
            <a:off x="762000" y="1206500"/>
            <a:ext cx="4699000" cy="50800"/>
          </a:xfrm>
          <a:prstGeom prst="rect">
            <a:avLst/>
          </a:prstGeom>
          <a:solidFill>
            <a:srgbClr val="0EA5E9"/>
          </a:solidFill>
          <a:ln/>
        </p:spPr>
      </p:sp>
      <p:sp>
        <p:nvSpPr>
          <p:cNvPr id="8" name="Shape 5"/>
          <p:cNvSpPr/>
          <p:nvPr/>
        </p:nvSpPr>
        <p:spPr>
          <a:xfrm>
            <a:off x="1016000" y="1460500"/>
            <a:ext cx="457200" cy="457200"/>
          </a:xfrm>
          <a:custGeom>
            <a:avLst/>
            <a:gdLst/>
            <a:ahLst/>
            <a:cxnLst/>
            <a:rect l="l" t="t" r="r" b="b"/>
            <a:pathLst>
              <a:path w="457200" h="457200">
                <a:moveTo>
                  <a:pt x="253603" y="-1161"/>
                </a:moveTo>
                <a:cubicBezTo>
                  <a:pt x="238155" y="-10091"/>
                  <a:pt x="219045" y="-10091"/>
                  <a:pt x="203597" y="-1161"/>
                </a:cubicBezTo>
                <a:lnTo>
                  <a:pt x="128409" y="42237"/>
                </a:lnTo>
                <a:cubicBezTo>
                  <a:pt x="112961" y="51167"/>
                  <a:pt x="103406" y="67687"/>
                  <a:pt x="103406" y="85546"/>
                </a:cubicBezTo>
                <a:lnTo>
                  <a:pt x="103406" y="176540"/>
                </a:lnTo>
                <a:lnTo>
                  <a:pt x="24557" y="222081"/>
                </a:lnTo>
                <a:cubicBezTo>
                  <a:pt x="9108" y="231011"/>
                  <a:pt x="-446" y="247531"/>
                  <a:pt x="-446" y="265390"/>
                </a:cubicBezTo>
                <a:lnTo>
                  <a:pt x="-446" y="352276"/>
                </a:lnTo>
                <a:cubicBezTo>
                  <a:pt x="-446" y="370136"/>
                  <a:pt x="9108" y="386655"/>
                  <a:pt x="24557" y="395585"/>
                </a:cubicBezTo>
                <a:lnTo>
                  <a:pt x="99834" y="438983"/>
                </a:lnTo>
                <a:cubicBezTo>
                  <a:pt x="115282" y="447913"/>
                  <a:pt x="134392" y="447913"/>
                  <a:pt x="149840" y="438983"/>
                </a:cubicBezTo>
                <a:lnTo>
                  <a:pt x="228689" y="393442"/>
                </a:lnTo>
                <a:lnTo>
                  <a:pt x="307538" y="438983"/>
                </a:lnTo>
                <a:cubicBezTo>
                  <a:pt x="322987" y="447913"/>
                  <a:pt x="342096" y="447913"/>
                  <a:pt x="357545" y="438983"/>
                </a:cubicBezTo>
                <a:lnTo>
                  <a:pt x="432643" y="395585"/>
                </a:lnTo>
                <a:cubicBezTo>
                  <a:pt x="448092" y="386655"/>
                  <a:pt x="457646" y="370136"/>
                  <a:pt x="457646" y="352276"/>
                </a:cubicBezTo>
                <a:lnTo>
                  <a:pt x="457646" y="265390"/>
                </a:lnTo>
                <a:cubicBezTo>
                  <a:pt x="457646" y="247531"/>
                  <a:pt x="448092" y="231011"/>
                  <a:pt x="432643" y="222081"/>
                </a:cubicBezTo>
                <a:lnTo>
                  <a:pt x="353794" y="176540"/>
                </a:lnTo>
                <a:lnTo>
                  <a:pt x="353794" y="85546"/>
                </a:lnTo>
                <a:cubicBezTo>
                  <a:pt x="353794" y="67687"/>
                  <a:pt x="344239" y="51167"/>
                  <a:pt x="328791" y="42237"/>
                </a:cubicBezTo>
                <a:lnTo>
                  <a:pt x="253603" y="-1161"/>
                </a:lnTo>
                <a:close/>
                <a:moveTo>
                  <a:pt x="207169" y="261283"/>
                </a:moveTo>
                <a:lnTo>
                  <a:pt x="207169" y="356384"/>
                </a:lnTo>
                <a:lnTo>
                  <a:pt x="128320" y="401925"/>
                </a:lnTo>
                <a:cubicBezTo>
                  <a:pt x="127248" y="402550"/>
                  <a:pt x="125998" y="402908"/>
                  <a:pt x="124748" y="402908"/>
                </a:cubicBezTo>
                <a:lnTo>
                  <a:pt x="124748" y="308878"/>
                </a:lnTo>
                <a:lnTo>
                  <a:pt x="207169" y="261283"/>
                </a:lnTo>
                <a:close/>
                <a:moveTo>
                  <a:pt x="413802" y="261818"/>
                </a:moveTo>
                <a:cubicBezTo>
                  <a:pt x="414427" y="262890"/>
                  <a:pt x="414784" y="264140"/>
                  <a:pt x="414784" y="265390"/>
                </a:cubicBezTo>
                <a:lnTo>
                  <a:pt x="414784" y="352276"/>
                </a:lnTo>
                <a:cubicBezTo>
                  <a:pt x="414784" y="354866"/>
                  <a:pt x="413445" y="357188"/>
                  <a:pt x="411212" y="358438"/>
                </a:cubicBezTo>
                <a:lnTo>
                  <a:pt x="335935" y="401836"/>
                </a:lnTo>
                <a:cubicBezTo>
                  <a:pt x="334863" y="402461"/>
                  <a:pt x="333613" y="402818"/>
                  <a:pt x="332363" y="402818"/>
                </a:cubicBezTo>
                <a:lnTo>
                  <a:pt x="332363" y="308789"/>
                </a:lnTo>
                <a:lnTo>
                  <a:pt x="413802" y="261818"/>
                </a:lnTo>
                <a:close/>
                <a:moveTo>
                  <a:pt x="311021" y="85546"/>
                </a:moveTo>
                <a:lnTo>
                  <a:pt x="311021" y="176540"/>
                </a:lnTo>
                <a:lnTo>
                  <a:pt x="228600" y="224135"/>
                </a:lnTo>
                <a:lnTo>
                  <a:pt x="228600" y="129034"/>
                </a:lnTo>
                <a:lnTo>
                  <a:pt x="310039" y="82064"/>
                </a:lnTo>
                <a:cubicBezTo>
                  <a:pt x="310664" y="83135"/>
                  <a:pt x="311021" y="84386"/>
                  <a:pt x="311021" y="85636"/>
                </a:cubicBezTo>
                <a:close/>
              </a:path>
            </a:pathLst>
          </a:custGeom>
          <a:solidFill>
            <a:srgbClr val="0EA5E9"/>
          </a:solidFill>
          <a:ln/>
        </p:spPr>
      </p:sp>
      <p:sp>
        <p:nvSpPr>
          <p:cNvPr id="9" name="Text 6"/>
          <p:cNvSpPr/>
          <p:nvPr/>
        </p:nvSpPr>
        <p:spPr>
          <a:xfrm>
            <a:off x="1016000" y="2057400"/>
            <a:ext cx="4191000" cy="355600"/>
          </a:xfrm>
          <a:prstGeom prst="rect">
            <a:avLst/>
          </a:prstGeom>
          <a:noFill/>
          <a:ln/>
        </p:spPr>
        <p:txBody>
          <a:bodyPr wrap="none" lIns="0" tIns="0" rIns="0" bIns="0" rtlCol="0" anchor="ctr"/>
          <a:lstStyle/>
          <a:p>
            <a:pPr algn="l">
              <a:lnSpc>
                <a:spcPct val="120000"/>
              </a:lnSpc>
            </a:pPr>
            <a:r>
              <a:rPr lang="en-US" sz="1800" dirty="0">
                <a:solidFill>
                  <a:srgbClr val="FFFFFF"/>
                </a:solidFill>
                <a:latin typeface="Liter" pitchFamily="34" charset="0"/>
                <a:ea typeface="Liter" pitchFamily="34" charset="-122"/>
                <a:cs typeface="Liter" pitchFamily="34" charset="-120"/>
              </a:rPr>
              <a:t>Modular Intelligent Agents</a:t>
            </a:r>
            <a:endParaRPr lang="en-US" sz="1800" dirty="0"/>
          </a:p>
        </p:txBody>
      </p:sp>
      <p:sp>
        <p:nvSpPr>
          <p:cNvPr id="10" name="Text 7"/>
          <p:cNvSpPr/>
          <p:nvPr/>
        </p:nvSpPr>
        <p:spPr>
          <a:xfrm>
            <a:off x="1016000" y="2514600"/>
            <a:ext cx="4191000" cy="3048000"/>
          </a:xfrm>
          <a:prstGeom prst="rect">
            <a:avLst/>
          </a:prstGeom>
          <a:noFill/>
          <a:ln/>
        </p:spPr>
        <p:txBody>
          <a:bodyPr wrap="square" lIns="0" tIns="0" rIns="0" bIns="0" rtlCol="0" anchor="t"/>
          <a:lstStyle/>
          <a:p>
            <a:pPr algn="l">
              <a:lnSpc>
                <a:spcPct val="150000"/>
              </a:lnSpc>
            </a:pPr>
            <a:r>
              <a:rPr lang="en-US" sz="1300" dirty="0">
                <a:solidFill>
                  <a:srgbClr val="E2E8F0"/>
                </a:solidFill>
                <a:latin typeface="Quattrocento Sans" pitchFamily="34" charset="0"/>
                <a:ea typeface="Quattrocento Sans" pitchFamily="34" charset="-122"/>
                <a:cs typeface="Quattrocento Sans" pitchFamily="34" charset="-120"/>
              </a:rPr>
              <a:t>Discrete modules for specialized functions:</a:t>
            </a:r>
            <a:endParaRPr lang="en-US" sz="1300" dirty="0"/>
          </a:p>
          <a:p>
            <a:pPr algn="l">
              <a:lnSpc>
                <a:spcPct val="150000"/>
              </a:lnSpc>
              <a:spcBef>
                <a:spcPts val="400"/>
              </a:spcBef>
            </a:pPr>
            <a:r>
              <a:rPr lang="en-US" sz="1300" b="1" dirty="0">
                <a:solidFill>
                  <a:srgbClr val="E2E8F0"/>
                </a:solidFill>
                <a:latin typeface="Quattrocento Sans" pitchFamily="34" charset="0"/>
                <a:ea typeface="Quattrocento Sans" pitchFamily="34" charset="-122"/>
                <a:cs typeface="Quattrocento Sans" pitchFamily="34" charset="-120"/>
              </a:rPr>
              <a:t>Perception</a:t>
            </a:r>
            <a:pPr algn="l">
              <a:lnSpc>
                <a:spcPct val="150000"/>
              </a:lnSpc>
              <a:spcBef>
                <a:spcPts val="400"/>
              </a:spcBef>
            </a:pPr>
            <a:r>
              <a:rPr lang="en-US" sz="1300" dirty="0">
                <a:solidFill>
                  <a:srgbClr val="E2E8F0"/>
                </a:solidFill>
                <a:latin typeface="Quattrocento Sans" pitchFamily="34" charset="0"/>
                <a:ea typeface="Quattrocento Sans" pitchFamily="34" charset="-122"/>
                <a:cs typeface="Quattrocento Sans" pitchFamily="34" charset="-120"/>
              </a:rPr>
              <a:t> — Telemetry parsing from SIEM, EDR, NDR</a:t>
            </a:r>
            <a:endParaRPr lang="en-US" sz="1300" dirty="0"/>
          </a:p>
          <a:p>
            <a:pPr algn="l">
              <a:lnSpc>
                <a:spcPct val="150000"/>
              </a:lnSpc>
              <a:spcBef>
                <a:spcPts val="400"/>
              </a:spcBef>
            </a:pPr>
            <a:r>
              <a:rPr lang="en-US" sz="1300" b="1" dirty="0">
                <a:solidFill>
                  <a:srgbClr val="E2E8F0"/>
                </a:solidFill>
                <a:latin typeface="Quattrocento Sans" pitchFamily="34" charset="0"/>
                <a:ea typeface="Quattrocento Sans" pitchFamily="34" charset="-122"/>
                <a:cs typeface="Quattrocento Sans" pitchFamily="34" charset="-120"/>
              </a:rPr>
              <a:t>Reasoning</a:t>
            </a:r>
            <a:pPr algn="l">
              <a:lnSpc>
                <a:spcPct val="150000"/>
              </a:lnSpc>
              <a:spcBef>
                <a:spcPts val="400"/>
              </a:spcBef>
            </a:pPr>
            <a:r>
              <a:rPr lang="en-US" sz="1300" dirty="0">
                <a:solidFill>
                  <a:srgbClr val="E2E8F0"/>
                </a:solidFill>
                <a:latin typeface="Quattrocento Sans" pitchFamily="34" charset="0"/>
                <a:ea typeface="Quattrocento Sans" pitchFamily="34" charset="-122"/>
                <a:cs typeface="Quattrocento Sans" pitchFamily="34" charset="-120"/>
              </a:rPr>
              <a:t> — Threat scoring and risk assessment</a:t>
            </a:r>
            <a:endParaRPr lang="en-US" sz="1300" dirty="0"/>
          </a:p>
          <a:p>
            <a:pPr algn="l">
              <a:lnSpc>
                <a:spcPct val="150000"/>
              </a:lnSpc>
              <a:spcBef>
                <a:spcPts val="400"/>
              </a:spcBef>
            </a:pPr>
            <a:r>
              <a:rPr lang="en-US" sz="1300" b="1" dirty="0">
                <a:solidFill>
                  <a:srgbClr val="E2E8F0"/>
                </a:solidFill>
                <a:latin typeface="Quattrocento Sans" pitchFamily="34" charset="0"/>
                <a:ea typeface="Quattrocento Sans" pitchFamily="34" charset="-122"/>
                <a:cs typeface="Quattrocento Sans" pitchFamily="34" charset="-120"/>
              </a:rPr>
              <a:t>Action</a:t>
            </a:r>
            <a:pPr algn="l">
              <a:lnSpc>
                <a:spcPct val="150000"/>
              </a:lnSpc>
              <a:spcBef>
                <a:spcPts val="400"/>
              </a:spcBef>
            </a:pPr>
            <a:r>
              <a:rPr lang="en-US" sz="1300" dirty="0">
                <a:solidFill>
                  <a:srgbClr val="E2E8F0"/>
                </a:solidFill>
                <a:latin typeface="Quattrocento Sans" pitchFamily="34" charset="0"/>
                <a:ea typeface="Quattrocento Sans" pitchFamily="34" charset="-122"/>
                <a:cs typeface="Quattrocento Sans" pitchFamily="34" charset="-120"/>
              </a:rPr>
              <a:t> — Isolation, playbook execution</a:t>
            </a:r>
            <a:endParaRPr lang="en-US" sz="1300" dirty="0"/>
          </a:p>
          <a:p>
            <a:pPr algn="l">
              <a:lnSpc>
                <a:spcPct val="150000"/>
              </a:lnSpc>
              <a:spcBef>
                <a:spcPts val="400"/>
              </a:spcBef>
            </a:pPr>
            <a:r>
              <a:rPr lang="en-US" sz="1300" dirty="0">
                <a:solidFill>
                  <a:srgbClr val="475569"/>
                </a:solidFill>
                <a:latin typeface="Quattrocento Sans" pitchFamily="34" charset="0"/>
                <a:ea typeface="Quattrocento Sans" pitchFamily="34" charset="-122"/>
                <a:cs typeface="Quattrocento Sans" pitchFamily="34" charset="-120"/>
              </a:rPr>
              <a:t>Fits existing SOC pipelines with minimal disruption</a:t>
            </a:r>
            <a:endParaRPr lang="en-US" sz="1300" dirty="0"/>
          </a:p>
        </p:txBody>
      </p:sp>
      <p:sp>
        <p:nvSpPr>
          <p:cNvPr id="11" name="Shape 8"/>
          <p:cNvSpPr/>
          <p:nvPr/>
        </p:nvSpPr>
        <p:spPr>
          <a:xfrm>
            <a:off x="5715000" y="1206500"/>
            <a:ext cx="4699000" cy="4508500"/>
          </a:xfrm>
          <a:prstGeom prst="rect">
            <a:avLst/>
          </a:prstGeom>
          <a:solidFill>
            <a:srgbClr val="1E293B"/>
          </a:solidFill>
          <a:ln/>
        </p:spPr>
      </p:sp>
      <p:sp>
        <p:nvSpPr>
          <p:cNvPr id="12" name="Shape 9"/>
          <p:cNvSpPr/>
          <p:nvPr/>
        </p:nvSpPr>
        <p:spPr>
          <a:xfrm>
            <a:off x="5715000" y="1206500"/>
            <a:ext cx="4699000" cy="50800"/>
          </a:xfrm>
          <a:prstGeom prst="rect">
            <a:avLst/>
          </a:prstGeom>
          <a:solidFill>
            <a:srgbClr val="22D3EE"/>
          </a:solidFill>
          <a:ln/>
        </p:spPr>
      </p:sp>
      <p:sp>
        <p:nvSpPr>
          <p:cNvPr id="13" name="Shape 10"/>
          <p:cNvSpPr/>
          <p:nvPr/>
        </p:nvSpPr>
        <p:spPr>
          <a:xfrm>
            <a:off x="5969000" y="1460500"/>
            <a:ext cx="457200" cy="457200"/>
          </a:xfrm>
          <a:custGeom>
            <a:avLst/>
            <a:gdLst/>
            <a:ahLst/>
            <a:cxnLst/>
            <a:rect l="l" t="t" r="r" b="b"/>
            <a:pathLst>
              <a:path w="457200" h="457200">
                <a:moveTo>
                  <a:pt x="304800" y="128588"/>
                </a:moveTo>
                <a:cubicBezTo>
                  <a:pt x="304800" y="215384"/>
                  <a:pt x="236538" y="285750"/>
                  <a:pt x="152400" y="285750"/>
                </a:cubicBezTo>
                <a:cubicBezTo>
                  <a:pt x="131207" y="285750"/>
                  <a:pt x="111046" y="281285"/>
                  <a:pt x="92710" y="273248"/>
                </a:cubicBezTo>
                <a:lnTo>
                  <a:pt x="27940" y="311825"/>
                </a:lnTo>
                <a:cubicBezTo>
                  <a:pt x="20558" y="316200"/>
                  <a:pt x="11509" y="314682"/>
                  <a:pt x="5556" y="308074"/>
                </a:cubicBezTo>
                <a:cubicBezTo>
                  <a:pt x="-397" y="301466"/>
                  <a:pt x="-1746" y="291197"/>
                  <a:pt x="2223" y="282893"/>
                </a:cubicBezTo>
                <a:lnTo>
                  <a:pt x="30480" y="222885"/>
                </a:lnTo>
                <a:cubicBezTo>
                  <a:pt x="11351" y="196632"/>
                  <a:pt x="0" y="163949"/>
                  <a:pt x="0" y="128588"/>
                </a:cubicBezTo>
                <a:cubicBezTo>
                  <a:pt x="0" y="41791"/>
                  <a:pt x="68263" y="-28575"/>
                  <a:pt x="152400" y="-28575"/>
                </a:cubicBezTo>
                <a:cubicBezTo>
                  <a:pt x="236538" y="-28575"/>
                  <a:pt x="304800" y="41791"/>
                  <a:pt x="304800" y="128588"/>
                </a:cubicBezTo>
                <a:close/>
                <a:moveTo>
                  <a:pt x="304800" y="457200"/>
                </a:moveTo>
                <a:cubicBezTo>
                  <a:pt x="230108" y="457200"/>
                  <a:pt x="167958" y="401747"/>
                  <a:pt x="154940" y="328613"/>
                </a:cubicBezTo>
                <a:cubicBezTo>
                  <a:pt x="250190" y="327273"/>
                  <a:pt x="332978" y="251014"/>
                  <a:pt x="342106" y="147608"/>
                </a:cubicBezTo>
                <a:cubicBezTo>
                  <a:pt x="408226" y="164753"/>
                  <a:pt x="457200" y="226457"/>
                  <a:pt x="457200" y="300038"/>
                </a:cubicBezTo>
                <a:cubicBezTo>
                  <a:pt x="457200" y="335399"/>
                  <a:pt x="445849" y="368082"/>
                  <a:pt x="426720" y="394335"/>
                </a:cubicBezTo>
                <a:lnTo>
                  <a:pt x="454978" y="454342"/>
                </a:lnTo>
                <a:cubicBezTo>
                  <a:pt x="458867" y="462647"/>
                  <a:pt x="457518" y="472827"/>
                  <a:pt x="451644" y="479524"/>
                </a:cubicBezTo>
                <a:cubicBezTo>
                  <a:pt x="445770" y="486221"/>
                  <a:pt x="436642" y="487740"/>
                  <a:pt x="429260" y="483275"/>
                </a:cubicBezTo>
                <a:lnTo>
                  <a:pt x="364490" y="444698"/>
                </a:lnTo>
                <a:cubicBezTo>
                  <a:pt x="346154" y="452735"/>
                  <a:pt x="325993" y="457200"/>
                  <a:pt x="304800" y="457200"/>
                </a:cubicBezTo>
                <a:close/>
              </a:path>
            </a:pathLst>
          </a:custGeom>
          <a:solidFill>
            <a:srgbClr val="22D3EE"/>
          </a:solidFill>
          <a:ln/>
        </p:spPr>
      </p:sp>
      <p:sp>
        <p:nvSpPr>
          <p:cNvPr id="14" name="Text 11"/>
          <p:cNvSpPr/>
          <p:nvPr/>
        </p:nvSpPr>
        <p:spPr>
          <a:xfrm>
            <a:off x="5969000" y="2057400"/>
            <a:ext cx="4191000" cy="355600"/>
          </a:xfrm>
          <a:prstGeom prst="rect">
            <a:avLst/>
          </a:prstGeom>
          <a:noFill/>
          <a:ln/>
        </p:spPr>
        <p:txBody>
          <a:bodyPr wrap="none" lIns="0" tIns="0" rIns="0" bIns="0" rtlCol="0" anchor="ctr"/>
          <a:lstStyle/>
          <a:p>
            <a:pPr algn="l">
              <a:lnSpc>
                <a:spcPct val="120000"/>
              </a:lnSpc>
            </a:pPr>
            <a:r>
              <a:rPr lang="en-US" sz="1800" dirty="0">
                <a:solidFill>
                  <a:srgbClr val="FFFFFF"/>
                </a:solidFill>
                <a:latin typeface="Liter" pitchFamily="34" charset="0"/>
                <a:ea typeface="Liter" pitchFamily="34" charset="-122"/>
                <a:cs typeface="Liter" pitchFamily="34" charset="-120"/>
              </a:rPr>
              <a:t>LLM-Powered Agents</a:t>
            </a:r>
            <a:endParaRPr lang="en-US" sz="1800" dirty="0"/>
          </a:p>
        </p:txBody>
      </p:sp>
      <p:sp>
        <p:nvSpPr>
          <p:cNvPr id="15" name="Text 12"/>
          <p:cNvSpPr/>
          <p:nvPr/>
        </p:nvSpPr>
        <p:spPr>
          <a:xfrm>
            <a:off x="5969000" y="2514600"/>
            <a:ext cx="4191000" cy="3048000"/>
          </a:xfrm>
          <a:prstGeom prst="rect">
            <a:avLst/>
          </a:prstGeom>
          <a:noFill/>
          <a:ln/>
        </p:spPr>
        <p:txBody>
          <a:bodyPr wrap="square" lIns="0" tIns="0" rIns="0" bIns="0" rtlCol="0" anchor="t"/>
          <a:lstStyle/>
          <a:p>
            <a:pPr algn="l">
              <a:lnSpc>
                <a:spcPct val="150000"/>
              </a:lnSpc>
            </a:pPr>
            <a:r>
              <a:rPr lang="en-US" sz="1300" dirty="0">
                <a:solidFill>
                  <a:srgbClr val="E2E8F0"/>
                </a:solidFill>
                <a:latin typeface="Quattrocento Sans" pitchFamily="34" charset="0"/>
                <a:ea typeface="Quattrocento Sans" pitchFamily="34" charset="-122"/>
                <a:cs typeface="Quattrocento Sans" pitchFamily="34" charset="-120"/>
              </a:rPr>
              <a:t>Natural language-driven intelligence:</a:t>
            </a:r>
            <a:endParaRPr lang="en-US" sz="1300" dirty="0"/>
          </a:p>
          <a:p>
            <a:pPr algn="l">
              <a:lnSpc>
                <a:spcPct val="150000"/>
              </a:lnSpc>
              <a:spcBef>
                <a:spcPts val="400"/>
              </a:spcBef>
            </a:pPr>
            <a:r>
              <a:rPr lang="en-US" sz="1300" b="1" dirty="0">
                <a:solidFill>
                  <a:srgbClr val="E2E8F0"/>
                </a:solidFill>
                <a:latin typeface="Quattrocento Sans" pitchFamily="34" charset="0"/>
                <a:ea typeface="Quattrocento Sans" pitchFamily="34" charset="-122"/>
                <a:cs typeface="Quattrocento Sans" pitchFamily="34" charset="-120"/>
              </a:rPr>
              <a:t>Interpretation</a:t>
            </a:r>
            <a:pPr algn="l">
              <a:lnSpc>
                <a:spcPct val="150000"/>
              </a:lnSpc>
              <a:spcBef>
                <a:spcPts val="400"/>
              </a:spcBef>
            </a:pPr>
            <a:r>
              <a:rPr lang="en-US" sz="1300" dirty="0">
                <a:solidFill>
                  <a:srgbClr val="E2E8F0"/>
                </a:solidFill>
                <a:latin typeface="Quattrocento Sans" pitchFamily="34" charset="0"/>
                <a:ea typeface="Quattrocento Sans" pitchFamily="34" charset="-122"/>
                <a:cs typeface="Quattrocento Sans" pitchFamily="34" charset="-120"/>
              </a:rPr>
              <a:t> — Human-readable alert explanations</a:t>
            </a:r>
            <a:endParaRPr lang="en-US" sz="1300" dirty="0"/>
          </a:p>
          <a:p>
            <a:pPr algn="l">
              <a:lnSpc>
                <a:spcPct val="150000"/>
              </a:lnSpc>
              <a:spcBef>
                <a:spcPts val="400"/>
              </a:spcBef>
            </a:pPr>
            <a:r>
              <a:rPr lang="en-US" sz="1300" b="1" dirty="0">
                <a:solidFill>
                  <a:srgbClr val="E2E8F0"/>
                </a:solidFill>
                <a:latin typeface="Quattrocento Sans" pitchFamily="34" charset="0"/>
                <a:ea typeface="Quattrocento Sans" pitchFamily="34" charset="-122"/>
                <a:cs typeface="Quattrocento Sans" pitchFamily="34" charset="-120"/>
              </a:rPr>
              <a:t>Correlation</a:t>
            </a:r>
            <a:pPr algn="l">
              <a:lnSpc>
                <a:spcPct val="150000"/>
              </a:lnSpc>
              <a:spcBef>
                <a:spcPts val="400"/>
              </a:spcBef>
            </a:pPr>
            <a:r>
              <a:rPr lang="en-US" sz="1300" dirty="0">
                <a:solidFill>
                  <a:srgbClr val="E2E8F0"/>
                </a:solidFill>
                <a:latin typeface="Quattrocento Sans" pitchFamily="34" charset="0"/>
                <a:ea typeface="Quattrocento Sans" pitchFamily="34" charset="-122"/>
                <a:cs typeface="Quattrocento Sans" pitchFamily="34" charset="-120"/>
              </a:rPr>
              <a:t> — Cross-reference threat intel and IOCs</a:t>
            </a:r>
            <a:endParaRPr lang="en-US" sz="1300" dirty="0"/>
          </a:p>
          <a:p>
            <a:pPr algn="l">
              <a:lnSpc>
                <a:spcPct val="150000"/>
              </a:lnSpc>
              <a:spcBef>
                <a:spcPts val="400"/>
              </a:spcBef>
            </a:pPr>
            <a:r>
              <a:rPr lang="en-US" sz="1300" b="1" dirty="0">
                <a:solidFill>
                  <a:srgbClr val="E2E8F0"/>
                </a:solidFill>
                <a:latin typeface="Quattrocento Sans" pitchFamily="34" charset="0"/>
                <a:ea typeface="Quattrocento Sans" pitchFamily="34" charset="-122"/>
                <a:cs typeface="Quattrocento Sans" pitchFamily="34" charset="-120"/>
              </a:rPr>
              <a:t>Query Gen</a:t>
            </a:r>
            <a:pPr algn="l">
              <a:lnSpc>
                <a:spcPct val="150000"/>
              </a:lnSpc>
              <a:spcBef>
                <a:spcPts val="400"/>
              </a:spcBef>
            </a:pPr>
            <a:r>
              <a:rPr lang="en-US" sz="1300" dirty="0">
                <a:solidFill>
                  <a:srgbClr val="E2E8F0"/>
                </a:solidFill>
                <a:latin typeface="Quattrocento Sans" pitchFamily="34" charset="0"/>
                <a:ea typeface="Quattrocento Sans" pitchFamily="34" charset="-122"/>
                <a:cs typeface="Quattrocento Sans" pitchFamily="34" charset="-120"/>
              </a:rPr>
              <a:t> — Automated enrichment queries</a:t>
            </a:r>
            <a:endParaRPr lang="en-US" sz="1300" dirty="0"/>
          </a:p>
          <a:p>
            <a:pPr algn="l">
              <a:lnSpc>
                <a:spcPct val="150000"/>
              </a:lnSpc>
              <a:spcBef>
                <a:spcPts val="400"/>
              </a:spcBef>
            </a:pPr>
            <a:r>
              <a:rPr lang="en-US" sz="1300" dirty="0">
                <a:solidFill>
                  <a:srgbClr val="475569"/>
                </a:solidFill>
                <a:latin typeface="Quattrocento Sans" pitchFamily="34" charset="0"/>
                <a:ea typeface="Quattrocento Sans" pitchFamily="34" charset="-122"/>
                <a:cs typeface="Quattrocento Sans" pitchFamily="34" charset="-120"/>
              </a:rPr>
              <a:t>Examples: Security Copilot, Elastic AI</a:t>
            </a:r>
            <a:endParaRPr lang="en-US" sz="1300" dirty="0"/>
          </a:p>
        </p:txBody>
      </p:sp>
      <p:sp>
        <p:nvSpPr>
          <p:cNvPr id="16" name="Shape 13"/>
          <p:cNvSpPr/>
          <p:nvPr/>
        </p:nvSpPr>
        <p:spPr>
          <a:xfrm>
            <a:off x="10668000" y="1206500"/>
            <a:ext cx="4826000" cy="4508500"/>
          </a:xfrm>
          <a:prstGeom prst="rect">
            <a:avLst/>
          </a:prstGeom>
          <a:solidFill>
            <a:srgbClr val="1E293B"/>
          </a:solidFill>
          <a:ln/>
        </p:spPr>
      </p:sp>
      <p:sp>
        <p:nvSpPr>
          <p:cNvPr id="17" name="Shape 14"/>
          <p:cNvSpPr/>
          <p:nvPr/>
        </p:nvSpPr>
        <p:spPr>
          <a:xfrm>
            <a:off x="10668000" y="1206500"/>
            <a:ext cx="4826000" cy="50800"/>
          </a:xfrm>
          <a:prstGeom prst="rect">
            <a:avLst/>
          </a:prstGeom>
          <a:solidFill>
            <a:srgbClr val="A855F7"/>
          </a:solidFill>
          <a:ln/>
        </p:spPr>
      </p:sp>
      <p:sp>
        <p:nvSpPr>
          <p:cNvPr id="18" name="Shape 15"/>
          <p:cNvSpPr/>
          <p:nvPr/>
        </p:nvSpPr>
        <p:spPr>
          <a:xfrm>
            <a:off x="10922000" y="1460500"/>
            <a:ext cx="457200" cy="457200"/>
          </a:xfrm>
          <a:custGeom>
            <a:avLst/>
            <a:gdLst/>
            <a:ahLst/>
            <a:cxnLst/>
            <a:rect l="l" t="t" r="r" b="b"/>
            <a:pathLst>
              <a:path w="457200" h="457200">
                <a:moveTo>
                  <a:pt x="38100" y="174843"/>
                </a:moveTo>
                <a:lnTo>
                  <a:pt x="204152" y="251728"/>
                </a:lnTo>
                <a:cubicBezTo>
                  <a:pt x="211931" y="255300"/>
                  <a:pt x="220186" y="257175"/>
                  <a:pt x="228600" y="257175"/>
                </a:cubicBezTo>
                <a:cubicBezTo>
                  <a:pt x="237014" y="257175"/>
                  <a:pt x="245269" y="255300"/>
                  <a:pt x="253048" y="251728"/>
                </a:cubicBezTo>
                <a:lnTo>
                  <a:pt x="445453" y="162610"/>
                </a:lnTo>
                <a:cubicBezTo>
                  <a:pt x="452596" y="159306"/>
                  <a:pt x="457200" y="151537"/>
                  <a:pt x="457200" y="142875"/>
                </a:cubicBezTo>
                <a:cubicBezTo>
                  <a:pt x="457200" y="134213"/>
                  <a:pt x="452596" y="126444"/>
                  <a:pt x="445453" y="123140"/>
                </a:cubicBezTo>
                <a:lnTo>
                  <a:pt x="253048" y="34022"/>
                </a:lnTo>
                <a:cubicBezTo>
                  <a:pt x="245269" y="30450"/>
                  <a:pt x="237014" y="28575"/>
                  <a:pt x="228600" y="28575"/>
                </a:cubicBezTo>
                <a:cubicBezTo>
                  <a:pt x="220186" y="28575"/>
                  <a:pt x="211931" y="30450"/>
                  <a:pt x="204152" y="34022"/>
                </a:cubicBezTo>
                <a:lnTo>
                  <a:pt x="11748" y="123140"/>
                </a:lnTo>
                <a:cubicBezTo>
                  <a:pt x="4604" y="126444"/>
                  <a:pt x="0" y="134213"/>
                  <a:pt x="0" y="142875"/>
                </a:cubicBezTo>
                <a:lnTo>
                  <a:pt x="0" y="407194"/>
                </a:lnTo>
                <a:cubicBezTo>
                  <a:pt x="0" y="419070"/>
                  <a:pt x="8493" y="428625"/>
                  <a:pt x="19050" y="428625"/>
                </a:cubicBezTo>
                <a:cubicBezTo>
                  <a:pt x="29607" y="428625"/>
                  <a:pt x="38100" y="419070"/>
                  <a:pt x="38100" y="407194"/>
                </a:cubicBezTo>
                <a:lnTo>
                  <a:pt x="38100" y="174843"/>
                </a:lnTo>
                <a:close/>
                <a:moveTo>
                  <a:pt x="76200" y="238869"/>
                </a:moveTo>
                <a:lnTo>
                  <a:pt x="76200" y="342900"/>
                </a:lnTo>
                <a:cubicBezTo>
                  <a:pt x="76200" y="390227"/>
                  <a:pt x="144463" y="428625"/>
                  <a:pt x="228600" y="428625"/>
                </a:cubicBezTo>
                <a:cubicBezTo>
                  <a:pt x="312738" y="428625"/>
                  <a:pt x="381000" y="390227"/>
                  <a:pt x="381000" y="342900"/>
                </a:cubicBezTo>
                <a:lnTo>
                  <a:pt x="381000" y="238780"/>
                </a:lnTo>
                <a:lnTo>
                  <a:pt x="267573" y="291376"/>
                </a:lnTo>
                <a:cubicBezTo>
                  <a:pt x="255191" y="297091"/>
                  <a:pt x="242014" y="300037"/>
                  <a:pt x="228600" y="300037"/>
                </a:cubicBezTo>
                <a:cubicBezTo>
                  <a:pt x="215186" y="300037"/>
                  <a:pt x="202009" y="297091"/>
                  <a:pt x="189627" y="291376"/>
                </a:cubicBezTo>
                <a:lnTo>
                  <a:pt x="76200" y="238780"/>
                </a:lnTo>
                <a:close/>
              </a:path>
            </a:pathLst>
          </a:custGeom>
          <a:solidFill>
            <a:srgbClr val="A855F7"/>
          </a:solidFill>
          <a:ln/>
        </p:spPr>
      </p:sp>
      <p:sp>
        <p:nvSpPr>
          <p:cNvPr id="19" name="Text 16"/>
          <p:cNvSpPr/>
          <p:nvPr/>
        </p:nvSpPr>
        <p:spPr>
          <a:xfrm>
            <a:off x="10922000" y="2057400"/>
            <a:ext cx="4318000" cy="355600"/>
          </a:xfrm>
          <a:prstGeom prst="rect">
            <a:avLst/>
          </a:prstGeom>
          <a:noFill/>
          <a:ln/>
        </p:spPr>
        <p:txBody>
          <a:bodyPr wrap="none" lIns="0" tIns="0" rIns="0" bIns="0" rtlCol="0" anchor="ctr"/>
          <a:lstStyle/>
          <a:p>
            <a:pPr algn="l">
              <a:lnSpc>
                <a:spcPct val="120000"/>
              </a:lnSpc>
            </a:pPr>
            <a:r>
              <a:rPr lang="en-US" sz="1800" dirty="0">
                <a:solidFill>
                  <a:srgbClr val="FFFFFF"/>
                </a:solidFill>
                <a:latin typeface="Liter" pitchFamily="34" charset="0"/>
                <a:ea typeface="Liter" pitchFamily="34" charset="-122"/>
                <a:cs typeface="Liter" pitchFamily="34" charset="-120"/>
              </a:rPr>
              <a:t>RL-Based Agents</a:t>
            </a:r>
            <a:endParaRPr lang="en-US" sz="1800" dirty="0"/>
          </a:p>
        </p:txBody>
      </p:sp>
      <p:sp>
        <p:nvSpPr>
          <p:cNvPr id="20" name="Text 17"/>
          <p:cNvSpPr/>
          <p:nvPr/>
        </p:nvSpPr>
        <p:spPr>
          <a:xfrm>
            <a:off x="10922000" y="2514600"/>
            <a:ext cx="4318000" cy="3048000"/>
          </a:xfrm>
          <a:prstGeom prst="rect">
            <a:avLst/>
          </a:prstGeom>
          <a:noFill/>
          <a:ln/>
        </p:spPr>
        <p:txBody>
          <a:bodyPr wrap="square" lIns="0" tIns="0" rIns="0" bIns="0" rtlCol="0" anchor="t"/>
          <a:lstStyle/>
          <a:p>
            <a:pPr algn="l">
              <a:lnSpc>
                <a:spcPct val="150000"/>
              </a:lnSpc>
            </a:pPr>
            <a:r>
              <a:rPr lang="en-US" sz="1300" dirty="0">
                <a:solidFill>
                  <a:srgbClr val="E2E8F0"/>
                </a:solidFill>
                <a:latin typeface="Quattrocento Sans" pitchFamily="34" charset="0"/>
                <a:ea typeface="Quattrocento Sans" pitchFamily="34" charset="-122"/>
                <a:cs typeface="Quattrocento Sans" pitchFamily="34" charset="-120"/>
              </a:rPr>
              <a:t>Adaptive learning through feedback:</a:t>
            </a:r>
            <a:endParaRPr lang="en-US" sz="1300" dirty="0"/>
          </a:p>
          <a:p>
            <a:pPr algn="l">
              <a:lnSpc>
                <a:spcPct val="150000"/>
              </a:lnSpc>
              <a:spcBef>
                <a:spcPts val="400"/>
              </a:spcBef>
            </a:pPr>
            <a:r>
              <a:rPr lang="en-US" sz="1300" b="1" dirty="0">
                <a:solidFill>
                  <a:srgbClr val="E2E8F0"/>
                </a:solidFill>
                <a:latin typeface="Quattrocento Sans" pitchFamily="34" charset="0"/>
                <a:ea typeface="Quattrocento Sans" pitchFamily="34" charset="-122"/>
                <a:cs typeface="Quattrocento Sans" pitchFamily="34" charset="-120"/>
              </a:rPr>
              <a:t>Policy Learning</a:t>
            </a:r>
            <a:pPr algn="l">
              <a:lnSpc>
                <a:spcPct val="150000"/>
              </a:lnSpc>
              <a:spcBef>
                <a:spcPts val="400"/>
              </a:spcBef>
            </a:pPr>
            <a:r>
              <a:rPr lang="en-US" sz="1300" dirty="0">
                <a:solidFill>
                  <a:srgbClr val="E2E8F0"/>
                </a:solidFill>
                <a:latin typeface="Quattrocento Sans" pitchFamily="34" charset="0"/>
                <a:ea typeface="Quattrocento Sans" pitchFamily="34" charset="-122"/>
                <a:cs typeface="Quattrocento Sans" pitchFamily="34" charset="-120"/>
              </a:rPr>
              <a:t> — Q-learning and deep RL strategies</a:t>
            </a:r>
            <a:endParaRPr lang="en-US" sz="1300" dirty="0"/>
          </a:p>
          <a:p>
            <a:pPr algn="l">
              <a:lnSpc>
                <a:spcPct val="150000"/>
              </a:lnSpc>
              <a:spcBef>
                <a:spcPts val="400"/>
              </a:spcBef>
            </a:pPr>
            <a:r>
              <a:rPr lang="en-US" sz="1300" b="1" dirty="0">
                <a:solidFill>
                  <a:srgbClr val="E2E8F0"/>
                </a:solidFill>
                <a:latin typeface="Quattrocento Sans" pitchFamily="34" charset="0"/>
                <a:ea typeface="Quattrocento Sans" pitchFamily="34" charset="-122"/>
                <a:cs typeface="Quattrocento Sans" pitchFamily="34" charset="-120"/>
              </a:rPr>
              <a:t>Simulation</a:t>
            </a:r>
            <a:pPr algn="l">
              <a:lnSpc>
                <a:spcPct val="150000"/>
              </a:lnSpc>
              <a:spcBef>
                <a:spcPts val="400"/>
              </a:spcBef>
            </a:pPr>
            <a:r>
              <a:rPr lang="en-US" sz="1300" dirty="0">
                <a:solidFill>
                  <a:srgbClr val="E2E8F0"/>
                </a:solidFill>
                <a:latin typeface="Quattrocento Sans" pitchFamily="34" charset="0"/>
                <a:ea typeface="Quattrocento Sans" pitchFamily="34" charset="-122"/>
                <a:cs typeface="Quattrocento Sans" pitchFamily="34" charset="-120"/>
              </a:rPr>
              <a:t> — Attack path modeling</a:t>
            </a:r>
            <a:endParaRPr lang="en-US" sz="1300" dirty="0"/>
          </a:p>
          <a:p>
            <a:pPr algn="l">
              <a:lnSpc>
                <a:spcPct val="150000"/>
              </a:lnSpc>
              <a:spcBef>
                <a:spcPts val="400"/>
              </a:spcBef>
            </a:pPr>
            <a:r>
              <a:rPr lang="en-US" sz="1300" b="1" dirty="0">
                <a:solidFill>
                  <a:srgbClr val="E2E8F0"/>
                </a:solidFill>
                <a:latin typeface="Quattrocento Sans" pitchFamily="34" charset="0"/>
                <a:ea typeface="Quattrocento Sans" pitchFamily="34" charset="-122"/>
                <a:cs typeface="Quattrocento Sans" pitchFamily="34" charset="-120"/>
              </a:rPr>
              <a:t>Adaptation</a:t>
            </a:r>
            <a:pPr algn="l">
              <a:lnSpc>
                <a:spcPct val="150000"/>
              </a:lnSpc>
              <a:spcBef>
                <a:spcPts val="400"/>
              </a:spcBef>
            </a:pPr>
            <a:r>
              <a:rPr lang="en-US" sz="1300" dirty="0">
                <a:solidFill>
                  <a:srgbClr val="E2E8F0"/>
                </a:solidFill>
                <a:latin typeface="Quattrocento Sans" pitchFamily="34" charset="0"/>
                <a:ea typeface="Quattrocento Sans" pitchFamily="34" charset="-122"/>
                <a:cs typeface="Quattrocento Sans" pitchFamily="34" charset="-120"/>
              </a:rPr>
              <a:t> — Iterative response improvement</a:t>
            </a:r>
            <a:endParaRPr lang="en-US" sz="1300" dirty="0"/>
          </a:p>
          <a:p>
            <a:pPr algn="l">
              <a:lnSpc>
                <a:spcPct val="150000"/>
              </a:lnSpc>
              <a:spcBef>
                <a:spcPts val="400"/>
              </a:spcBef>
            </a:pPr>
            <a:r>
              <a:rPr lang="en-US" sz="1300" dirty="0">
                <a:solidFill>
                  <a:srgbClr val="475569"/>
                </a:solidFill>
                <a:latin typeface="Quattrocento Sans" pitchFamily="34" charset="0"/>
                <a:ea typeface="Quattrocento Sans" pitchFamily="34" charset="-122"/>
                <a:cs typeface="Quattrocento Sans" pitchFamily="34" charset="-120"/>
              </a:rPr>
              <a:t>Early-stage but promising for autonomy</a:t>
            </a:r>
            <a:endParaRPr lang="en-US" sz="1300" dirty="0"/>
          </a:p>
        </p:txBody>
      </p:sp>
      <p:sp>
        <p:nvSpPr>
          <p:cNvPr id="21" name="Shape 18"/>
          <p:cNvSpPr/>
          <p:nvPr/>
        </p:nvSpPr>
        <p:spPr>
          <a:xfrm>
            <a:off x="762000" y="5842000"/>
            <a:ext cx="14732000" cy="2540000"/>
          </a:xfrm>
          <a:prstGeom prst="rect">
            <a:avLst/>
          </a:prstGeom>
          <a:solidFill>
            <a:srgbClr val="1E293B"/>
          </a:solidFill>
          <a:ln/>
        </p:spPr>
      </p:sp>
      <p:sp>
        <p:nvSpPr>
          <p:cNvPr id="22" name="Text 19"/>
          <p:cNvSpPr/>
          <p:nvPr/>
        </p:nvSpPr>
        <p:spPr>
          <a:xfrm>
            <a:off x="1016000" y="5969000"/>
            <a:ext cx="5080000" cy="3302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AI Agent Decision Lifecycle in SOC</a:t>
            </a:r>
            <a:endParaRPr lang="en-US" sz="1600" dirty="0"/>
          </a:p>
        </p:txBody>
      </p:sp>
      <p:sp>
        <p:nvSpPr>
          <p:cNvPr id="23" name="Text 20"/>
          <p:cNvSpPr/>
          <p:nvPr/>
        </p:nvSpPr>
        <p:spPr>
          <a:xfrm>
            <a:off x="1016000" y="6413500"/>
            <a:ext cx="2540000" cy="762000"/>
          </a:xfrm>
          <a:prstGeom prst="rect">
            <a:avLst/>
          </a:prstGeom>
          <a:noFill/>
          <a:ln/>
        </p:spPr>
        <p:txBody>
          <a:bodyPr wrap="square" lIns="0" tIns="0" rIns="0" bIns="0" rtlCol="0" anchor="t"/>
          <a:lstStyle/>
          <a:p>
            <a:pPr algn="ctr">
              <a:lnSpc>
                <a:spcPct val="140000"/>
              </a:lnSpc>
            </a:pPr>
            <a:r>
              <a:rPr lang="en-US" sz="1300" b="1" dirty="0">
                <a:solidFill>
                  <a:srgbClr val="E2E8F0"/>
                </a:solidFill>
                <a:latin typeface="Quattrocento Sans" pitchFamily="34" charset="0"/>
                <a:ea typeface="Quattrocento Sans" pitchFamily="34" charset="-122"/>
                <a:cs typeface="Quattrocento Sans" pitchFamily="34" charset="-120"/>
              </a:rPr>
              <a:t>PERCEIVE</a:t>
            </a:r>
            <a:endParaRPr lang="en-US" sz="1300" dirty="0"/>
          </a:p>
          <a:p>
            <a:pPr algn="ctr">
              <a:lnSpc>
                <a:spcPct val="140000"/>
              </a:lnSpc>
            </a:pPr>
            <a:r>
              <a:rPr lang="en-US" sz="1300" dirty="0">
                <a:solidFill>
                  <a:srgbClr val="E2E8F0"/>
                </a:solidFill>
                <a:latin typeface="Quattrocento Sans" pitchFamily="34" charset="0"/>
                <a:ea typeface="Quattrocento Sans" pitchFamily="34" charset="-122"/>
                <a:cs typeface="Quattrocento Sans" pitchFamily="34" charset="-120"/>
              </a:rPr>
              <a:t>Ingest alerts, logs, threat intel</a:t>
            </a:r>
            <a:endParaRPr lang="en-US" sz="1300" dirty="0"/>
          </a:p>
        </p:txBody>
      </p:sp>
      <p:sp>
        <p:nvSpPr>
          <p:cNvPr id="24" name="Shape 21"/>
          <p:cNvSpPr/>
          <p:nvPr/>
        </p:nvSpPr>
        <p:spPr>
          <a:xfrm>
            <a:off x="3619500" y="6667500"/>
            <a:ext cx="381000" cy="0"/>
          </a:xfrm>
          <a:prstGeom prst="straightConnector1">
            <a:avLst/>
          </a:prstGeom>
          <a:noFill/>
          <a:ln w="25400">
            <a:solidFill>
              <a:srgbClr val="475569"/>
            </a:solidFill>
            <a:prstDash val="solid"/>
            <a:headEnd type="none"/>
            <a:tailEnd type="arrow"/>
          </a:ln>
        </p:spPr>
      </p:sp>
      <p:sp>
        <p:nvSpPr>
          <p:cNvPr id="25" name="Text 22"/>
          <p:cNvSpPr/>
          <p:nvPr/>
        </p:nvSpPr>
        <p:spPr>
          <a:xfrm>
            <a:off x="4064000" y="6413500"/>
            <a:ext cx="2540000" cy="762000"/>
          </a:xfrm>
          <a:prstGeom prst="rect">
            <a:avLst/>
          </a:prstGeom>
          <a:noFill/>
          <a:ln/>
        </p:spPr>
        <p:txBody>
          <a:bodyPr wrap="square" lIns="0" tIns="0" rIns="0" bIns="0" rtlCol="0" anchor="t"/>
          <a:lstStyle/>
          <a:p>
            <a:pPr algn="ctr">
              <a:lnSpc>
                <a:spcPct val="140000"/>
              </a:lnSpc>
            </a:pPr>
            <a:r>
              <a:rPr lang="en-US" sz="1300" b="1" dirty="0">
                <a:solidFill>
                  <a:srgbClr val="E2E8F0"/>
                </a:solidFill>
                <a:latin typeface="Quattrocento Sans" pitchFamily="34" charset="0"/>
                <a:ea typeface="Quattrocento Sans" pitchFamily="34" charset="-122"/>
                <a:cs typeface="Quattrocento Sans" pitchFamily="34" charset="-120"/>
              </a:rPr>
              <a:t>INTERPRET</a:t>
            </a:r>
            <a:endParaRPr lang="en-US" sz="1300" dirty="0"/>
          </a:p>
          <a:p>
            <a:pPr algn="ctr">
              <a:lnSpc>
                <a:spcPct val="140000"/>
              </a:lnSpc>
            </a:pPr>
            <a:r>
              <a:rPr lang="en-US" sz="1300" dirty="0">
                <a:solidFill>
                  <a:srgbClr val="E2E8F0"/>
                </a:solidFill>
                <a:latin typeface="Quattrocento Sans" pitchFamily="34" charset="0"/>
                <a:ea typeface="Quattrocento Sans" pitchFamily="34" charset="-122"/>
                <a:cs typeface="Quattrocento Sans" pitchFamily="34" charset="-120"/>
              </a:rPr>
              <a:t>Apply ML/LLM reasoning</a:t>
            </a:r>
            <a:endParaRPr lang="en-US" sz="1300" dirty="0"/>
          </a:p>
        </p:txBody>
      </p:sp>
      <p:sp>
        <p:nvSpPr>
          <p:cNvPr id="26" name="Shape 23"/>
          <p:cNvSpPr/>
          <p:nvPr/>
        </p:nvSpPr>
        <p:spPr>
          <a:xfrm>
            <a:off x="6667500" y="6667500"/>
            <a:ext cx="381000" cy="0"/>
          </a:xfrm>
          <a:prstGeom prst="straightConnector1">
            <a:avLst/>
          </a:prstGeom>
          <a:noFill/>
          <a:ln w="25400">
            <a:solidFill>
              <a:srgbClr val="475569"/>
            </a:solidFill>
            <a:prstDash val="solid"/>
            <a:headEnd type="none"/>
            <a:tailEnd type="arrow"/>
          </a:ln>
        </p:spPr>
      </p:sp>
      <p:sp>
        <p:nvSpPr>
          <p:cNvPr id="27" name="Text 24"/>
          <p:cNvSpPr/>
          <p:nvPr/>
        </p:nvSpPr>
        <p:spPr>
          <a:xfrm>
            <a:off x="7112000" y="6413500"/>
            <a:ext cx="2540000" cy="762000"/>
          </a:xfrm>
          <a:prstGeom prst="rect">
            <a:avLst/>
          </a:prstGeom>
          <a:noFill/>
          <a:ln/>
        </p:spPr>
        <p:txBody>
          <a:bodyPr wrap="square" lIns="0" tIns="0" rIns="0" bIns="0" rtlCol="0" anchor="t"/>
          <a:lstStyle/>
          <a:p>
            <a:pPr algn="ctr">
              <a:lnSpc>
                <a:spcPct val="140000"/>
              </a:lnSpc>
            </a:pPr>
            <a:r>
              <a:rPr lang="en-US" sz="1300" b="1" dirty="0">
                <a:solidFill>
                  <a:srgbClr val="E2E8F0"/>
                </a:solidFill>
                <a:latin typeface="Quattrocento Sans" pitchFamily="34" charset="0"/>
                <a:ea typeface="Quattrocento Sans" pitchFamily="34" charset="-122"/>
                <a:cs typeface="Quattrocento Sans" pitchFamily="34" charset="-120"/>
              </a:rPr>
              <a:t>DECIDE</a:t>
            </a:r>
            <a:endParaRPr lang="en-US" sz="1300" dirty="0"/>
          </a:p>
          <a:p>
            <a:pPr algn="ctr">
              <a:lnSpc>
                <a:spcPct val="140000"/>
              </a:lnSpc>
            </a:pPr>
            <a:r>
              <a:rPr lang="en-US" sz="1300" dirty="0">
                <a:solidFill>
                  <a:srgbClr val="E2E8F0"/>
                </a:solidFill>
                <a:latin typeface="Quattrocento Sans" pitchFamily="34" charset="0"/>
                <a:ea typeface="Quattrocento Sans" pitchFamily="34" charset="-122"/>
                <a:cs typeface="Quattrocento Sans" pitchFamily="34" charset="-120"/>
              </a:rPr>
              <a:t>Evaluate risk, choose response</a:t>
            </a:r>
            <a:endParaRPr lang="en-US" sz="1300" dirty="0"/>
          </a:p>
        </p:txBody>
      </p:sp>
      <p:sp>
        <p:nvSpPr>
          <p:cNvPr id="28" name="Shape 25"/>
          <p:cNvSpPr/>
          <p:nvPr/>
        </p:nvSpPr>
        <p:spPr>
          <a:xfrm>
            <a:off x="9715500" y="6667500"/>
            <a:ext cx="381000" cy="0"/>
          </a:xfrm>
          <a:prstGeom prst="straightConnector1">
            <a:avLst/>
          </a:prstGeom>
          <a:noFill/>
          <a:ln w="25400">
            <a:solidFill>
              <a:srgbClr val="475569"/>
            </a:solidFill>
            <a:prstDash val="solid"/>
            <a:headEnd type="none"/>
            <a:tailEnd type="arrow"/>
          </a:ln>
        </p:spPr>
      </p:sp>
      <p:sp>
        <p:nvSpPr>
          <p:cNvPr id="29" name="Text 26"/>
          <p:cNvSpPr/>
          <p:nvPr/>
        </p:nvSpPr>
        <p:spPr>
          <a:xfrm>
            <a:off x="10160000" y="6413500"/>
            <a:ext cx="2540000" cy="762000"/>
          </a:xfrm>
          <a:prstGeom prst="rect">
            <a:avLst/>
          </a:prstGeom>
          <a:noFill/>
          <a:ln/>
        </p:spPr>
        <p:txBody>
          <a:bodyPr wrap="square" lIns="0" tIns="0" rIns="0" bIns="0" rtlCol="0" anchor="t"/>
          <a:lstStyle/>
          <a:p>
            <a:pPr algn="ctr">
              <a:lnSpc>
                <a:spcPct val="140000"/>
              </a:lnSpc>
            </a:pPr>
            <a:r>
              <a:rPr lang="en-US" sz="1300" b="1" dirty="0">
                <a:solidFill>
                  <a:srgbClr val="E2E8F0"/>
                </a:solidFill>
                <a:latin typeface="Quattrocento Sans" pitchFamily="34" charset="0"/>
                <a:ea typeface="Quattrocento Sans" pitchFamily="34" charset="-122"/>
                <a:cs typeface="Quattrocento Sans" pitchFamily="34" charset="-120"/>
              </a:rPr>
              <a:t>ACT</a:t>
            </a:r>
            <a:endParaRPr lang="en-US" sz="1300" dirty="0"/>
          </a:p>
          <a:p>
            <a:pPr algn="ctr">
              <a:lnSpc>
                <a:spcPct val="140000"/>
              </a:lnSpc>
            </a:pPr>
            <a:r>
              <a:rPr lang="en-US" sz="1300" dirty="0">
                <a:solidFill>
                  <a:srgbClr val="E2E8F0"/>
                </a:solidFill>
                <a:latin typeface="Quattrocento Sans" pitchFamily="34" charset="0"/>
                <a:ea typeface="Quattrocento Sans" pitchFamily="34" charset="-122"/>
                <a:cs typeface="Quattrocento Sans" pitchFamily="34" charset="-120"/>
              </a:rPr>
              <a:t>Execute containment, escalate</a:t>
            </a:r>
            <a:endParaRPr lang="en-US" sz="1300" dirty="0"/>
          </a:p>
        </p:txBody>
      </p:sp>
      <p:sp>
        <p:nvSpPr>
          <p:cNvPr id="30" name="Shape 27"/>
          <p:cNvSpPr/>
          <p:nvPr/>
        </p:nvSpPr>
        <p:spPr>
          <a:xfrm>
            <a:off x="12763500" y="6667500"/>
            <a:ext cx="381000" cy="0"/>
          </a:xfrm>
          <a:prstGeom prst="straightConnector1">
            <a:avLst/>
          </a:prstGeom>
          <a:noFill/>
          <a:ln w="25400">
            <a:solidFill>
              <a:srgbClr val="475569"/>
            </a:solidFill>
            <a:prstDash val="solid"/>
            <a:headEnd type="none"/>
            <a:tailEnd type="arrow"/>
          </a:ln>
        </p:spPr>
      </p:sp>
      <p:sp>
        <p:nvSpPr>
          <p:cNvPr id="31" name="Text 28"/>
          <p:cNvSpPr/>
          <p:nvPr/>
        </p:nvSpPr>
        <p:spPr>
          <a:xfrm>
            <a:off x="13208000" y="6413500"/>
            <a:ext cx="2032000" cy="762000"/>
          </a:xfrm>
          <a:prstGeom prst="rect">
            <a:avLst/>
          </a:prstGeom>
          <a:noFill/>
          <a:ln/>
        </p:spPr>
        <p:txBody>
          <a:bodyPr wrap="square" lIns="0" tIns="0" rIns="0" bIns="0" rtlCol="0" anchor="t"/>
          <a:lstStyle/>
          <a:p>
            <a:pPr algn="ctr">
              <a:lnSpc>
                <a:spcPct val="140000"/>
              </a:lnSpc>
            </a:pPr>
            <a:r>
              <a:rPr lang="en-US" sz="1300" b="1" dirty="0">
                <a:solidFill>
                  <a:srgbClr val="E2E8F0"/>
                </a:solidFill>
                <a:latin typeface="Quattrocento Sans" pitchFamily="34" charset="0"/>
                <a:ea typeface="Quattrocento Sans" pitchFamily="34" charset="-122"/>
                <a:cs typeface="Quattrocento Sans" pitchFamily="34" charset="-120"/>
              </a:rPr>
              <a:t>LEARN</a:t>
            </a:r>
            <a:endParaRPr lang="en-US" sz="1300" dirty="0"/>
          </a:p>
          <a:p>
            <a:pPr algn="ctr">
              <a:lnSpc>
                <a:spcPct val="140000"/>
              </a:lnSpc>
            </a:pPr>
            <a:r>
              <a:rPr lang="en-US" sz="1300" dirty="0">
                <a:solidFill>
                  <a:srgbClr val="E2E8F0"/>
                </a:solidFill>
                <a:latin typeface="Quattrocento Sans" pitchFamily="34" charset="0"/>
                <a:ea typeface="Quattrocento Sans" pitchFamily="34" charset="-122"/>
                <a:cs typeface="Quattrocento Sans" pitchFamily="34" charset="-120"/>
              </a:rPr>
              <a:t>Refine future decisions</a:t>
            </a:r>
            <a:endParaRPr lang="en-US" sz="1300" dirty="0"/>
          </a:p>
        </p:txBody>
      </p:sp>
      <p:sp>
        <p:nvSpPr>
          <p:cNvPr id="32" name="Text 29"/>
          <p:cNvSpPr/>
          <p:nvPr/>
        </p:nvSpPr>
        <p:spPr>
          <a:xfrm>
            <a:off x="762000" y="8763000"/>
            <a:ext cx="8890000" cy="254000"/>
          </a:xfrm>
          <a:prstGeom prst="rect">
            <a:avLst/>
          </a:prstGeom>
          <a:noFill/>
          <a:ln/>
        </p:spPr>
        <p:txBody>
          <a:bodyPr wrap="none" lIns="0" tIns="0" rIns="0" bIns="0" rtlCol="0" anchor="ctr"/>
          <a:lstStyle/>
          <a:p>
            <a:pPr algn="l">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Source: IJERET, "Autonomous SOC: AI Agents for Threat Triage, Response, and Orchestration" 2025</a:t>
            </a:r>
            <a:endParaRPr lang="en-US" sz="1200" dirty="0"/>
          </a:p>
        </p:txBody>
      </p:sp>
      <p:sp>
        <p:nvSpPr>
          <p:cNvPr id="33" name="Text 30"/>
          <p:cNvSpPr/>
          <p:nvPr/>
        </p:nvSpPr>
        <p:spPr>
          <a:xfrm>
            <a:off x="14986000" y="8763000"/>
            <a:ext cx="762000" cy="254000"/>
          </a:xfrm>
          <a:prstGeom prst="rect">
            <a:avLst/>
          </a:prstGeom>
          <a:noFill/>
          <a:ln/>
        </p:spPr>
        <p:txBody>
          <a:bodyPr wrap="none" lIns="0" tIns="0" rIns="0" bIns="0" rtlCol="0" anchor="ctr"/>
          <a:lstStyle/>
          <a:p>
            <a:pPr algn="r">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05</a:t>
            </a:r>
            <a:endParaRPr lang="en-US" sz="12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2A"/>
        </a:solidFill>
      </p:bgPr>
    </p:bg>
    <p:spTree>
      <p:nvGrpSpPr>
        <p:cNvPr id="1" name=""/>
        <p:cNvGrpSpPr/>
        <p:nvPr/>
      </p:nvGrpSpPr>
      <p:grpSpPr>
        <a:xfrm>
          <a:off x="0" y="0"/>
          <a:ext cx="0" cy="0"/>
          <a:chOff x="0" y="0"/>
          <a:chExt cx="0" cy="0"/>
        </a:xfrm>
      </p:grpSpPr>
      <p:sp>
        <p:nvSpPr>
          <p:cNvPr id="3" name="Shape 0"/>
          <p:cNvSpPr/>
          <p:nvPr/>
        </p:nvSpPr>
        <p:spPr>
          <a:xfrm>
            <a:off x="0" y="0"/>
            <a:ext cx="16256000" cy="50800"/>
          </a:xfrm>
          <a:prstGeom prst="rect">
            <a:avLst/>
          </a:prstGeom>
          <a:solidFill>
            <a:srgbClr val="0EA5E9"/>
          </a:solidFill>
          <a:ln/>
        </p:spPr>
      </p:sp>
      <p:sp>
        <p:nvSpPr>
          <p:cNvPr id="4" name="Text 1"/>
          <p:cNvSpPr/>
          <p:nvPr/>
        </p:nvSpPr>
        <p:spPr>
          <a:xfrm>
            <a:off x="762000" y="381000"/>
            <a:ext cx="8890000" cy="482600"/>
          </a:xfrm>
          <a:prstGeom prst="rect">
            <a:avLst/>
          </a:prstGeom>
          <a:noFill/>
          <a:ln/>
        </p:spPr>
        <p:txBody>
          <a:bodyPr wrap="none" lIns="0" tIns="0" rIns="0" bIns="0" rtlCol="0" anchor="ctr"/>
          <a:lstStyle/>
          <a:p>
            <a:pPr algn="l">
              <a:lnSpc>
                <a:spcPct val="120000"/>
              </a:lnSpc>
            </a:pPr>
            <a:r>
              <a:rPr lang="en-US" sz="2800" dirty="0">
                <a:solidFill>
                  <a:srgbClr val="0EA5E9"/>
                </a:solidFill>
                <a:latin typeface="Liter" pitchFamily="34" charset="0"/>
                <a:ea typeface="Liter" pitchFamily="34" charset="-122"/>
                <a:cs typeface="Liter" pitchFamily="34" charset="-120"/>
              </a:rPr>
              <a:t>Cyber Security Applications</a:t>
            </a:r>
            <a:endParaRPr lang="en-US" sz="2800" dirty="0"/>
          </a:p>
        </p:txBody>
      </p:sp>
      <p:sp>
        <p:nvSpPr>
          <p:cNvPr id="5" name="Shape 2"/>
          <p:cNvSpPr/>
          <p:nvPr/>
        </p:nvSpPr>
        <p:spPr>
          <a:xfrm>
            <a:off x="762000" y="939800"/>
            <a:ext cx="14732000" cy="12700"/>
          </a:xfrm>
          <a:prstGeom prst="rect">
            <a:avLst/>
          </a:prstGeom>
          <a:solidFill>
            <a:srgbClr val="475569"/>
          </a:solidFill>
          <a:ln/>
        </p:spPr>
      </p:sp>
      <p:sp>
        <p:nvSpPr>
          <p:cNvPr id="6" name="Shape 3"/>
          <p:cNvSpPr/>
          <p:nvPr/>
        </p:nvSpPr>
        <p:spPr>
          <a:xfrm>
            <a:off x="762000" y="1206500"/>
            <a:ext cx="7239000" cy="2222500"/>
          </a:xfrm>
          <a:prstGeom prst="rect">
            <a:avLst/>
          </a:prstGeom>
          <a:solidFill>
            <a:srgbClr val="1E293B"/>
          </a:solidFill>
          <a:ln/>
        </p:spPr>
      </p:sp>
      <p:sp>
        <p:nvSpPr>
          <p:cNvPr id="7" name="Shape 4"/>
          <p:cNvSpPr/>
          <p:nvPr/>
        </p:nvSpPr>
        <p:spPr>
          <a:xfrm>
            <a:off x="1016000" y="1397000"/>
            <a:ext cx="381000" cy="381000"/>
          </a:xfrm>
          <a:custGeom>
            <a:avLst/>
            <a:gdLst/>
            <a:ahLst/>
            <a:cxnLst/>
            <a:rect l="l" t="t" r="r" b="b"/>
            <a:pathLst>
              <a:path w="381000" h="381000">
                <a:moveTo>
                  <a:pt x="309563" y="154781"/>
                </a:moveTo>
                <a:cubicBezTo>
                  <a:pt x="309563" y="188937"/>
                  <a:pt x="298475" y="220489"/>
                  <a:pt x="279797" y="246087"/>
                </a:cubicBezTo>
                <a:lnTo>
                  <a:pt x="374005" y="340370"/>
                </a:lnTo>
                <a:cubicBezTo>
                  <a:pt x="383307" y="349672"/>
                  <a:pt x="383307" y="364778"/>
                  <a:pt x="374005" y="374079"/>
                </a:cubicBezTo>
                <a:cubicBezTo>
                  <a:pt x="364703" y="383381"/>
                  <a:pt x="349597" y="383381"/>
                  <a:pt x="340296" y="374079"/>
                </a:cubicBezTo>
                <a:lnTo>
                  <a:pt x="246087" y="279797"/>
                </a:lnTo>
                <a:cubicBezTo>
                  <a:pt x="220489" y="298475"/>
                  <a:pt x="188937" y="309563"/>
                  <a:pt x="154781" y="309563"/>
                </a:cubicBezTo>
                <a:cubicBezTo>
                  <a:pt x="69279" y="309563"/>
                  <a:pt x="0" y="240283"/>
                  <a:pt x="0" y="154781"/>
                </a:cubicBezTo>
                <a:cubicBezTo>
                  <a:pt x="0" y="69279"/>
                  <a:pt x="69279" y="0"/>
                  <a:pt x="154781" y="0"/>
                </a:cubicBezTo>
                <a:cubicBezTo>
                  <a:pt x="240283" y="0"/>
                  <a:pt x="309563" y="69279"/>
                  <a:pt x="309563" y="154781"/>
                </a:cubicBezTo>
                <a:close/>
                <a:moveTo>
                  <a:pt x="77391" y="160734"/>
                </a:moveTo>
                <a:lnTo>
                  <a:pt x="77391" y="208359"/>
                </a:lnTo>
                <a:cubicBezTo>
                  <a:pt x="77391" y="218256"/>
                  <a:pt x="85353" y="226219"/>
                  <a:pt x="95250" y="226219"/>
                </a:cubicBezTo>
                <a:cubicBezTo>
                  <a:pt x="105147" y="226219"/>
                  <a:pt x="113109" y="218256"/>
                  <a:pt x="113109" y="208359"/>
                </a:cubicBezTo>
                <a:lnTo>
                  <a:pt x="113109" y="160734"/>
                </a:lnTo>
                <a:cubicBezTo>
                  <a:pt x="113109" y="150837"/>
                  <a:pt x="105147" y="142875"/>
                  <a:pt x="95250" y="142875"/>
                </a:cubicBezTo>
                <a:cubicBezTo>
                  <a:pt x="85353" y="142875"/>
                  <a:pt x="77391" y="150837"/>
                  <a:pt x="77391" y="160734"/>
                </a:cubicBezTo>
                <a:close/>
                <a:moveTo>
                  <a:pt x="136922" y="89297"/>
                </a:moveTo>
                <a:lnTo>
                  <a:pt x="136922" y="208359"/>
                </a:lnTo>
                <a:cubicBezTo>
                  <a:pt x="136922" y="218256"/>
                  <a:pt x="144884" y="226219"/>
                  <a:pt x="154781" y="226219"/>
                </a:cubicBezTo>
                <a:cubicBezTo>
                  <a:pt x="164678" y="226219"/>
                  <a:pt x="172641" y="218256"/>
                  <a:pt x="172641" y="208359"/>
                </a:cubicBezTo>
                <a:lnTo>
                  <a:pt x="172641" y="89297"/>
                </a:lnTo>
                <a:cubicBezTo>
                  <a:pt x="172641" y="79400"/>
                  <a:pt x="164678" y="71438"/>
                  <a:pt x="154781" y="71438"/>
                </a:cubicBezTo>
                <a:cubicBezTo>
                  <a:pt x="144884" y="71438"/>
                  <a:pt x="136922" y="79400"/>
                  <a:pt x="136922" y="89297"/>
                </a:cubicBezTo>
                <a:close/>
                <a:moveTo>
                  <a:pt x="196453" y="136922"/>
                </a:moveTo>
                <a:lnTo>
                  <a:pt x="196453" y="208359"/>
                </a:lnTo>
                <a:cubicBezTo>
                  <a:pt x="196453" y="218256"/>
                  <a:pt x="204415" y="226219"/>
                  <a:pt x="214313" y="226219"/>
                </a:cubicBezTo>
                <a:cubicBezTo>
                  <a:pt x="224210" y="226219"/>
                  <a:pt x="232172" y="218256"/>
                  <a:pt x="232172" y="208359"/>
                </a:cubicBezTo>
                <a:lnTo>
                  <a:pt x="232172" y="136922"/>
                </a:lnTo>
                <a:cubicBezTo>
                  <a:pt x="232172" y="127025"/>
                  <a:pt x="224210" y="119063"/>
                  <a:pt x="214313" y="119063"/>
                </a:cubicBezTo>
                <a:cubicBezTo>
                  <a:pt x="204415" y="119063"/>
                  <a:pt x="196453" y="127025"/>
                  <a:pt x="196453" y="136922"/>
                </a:cubicBezTo>
                <a:close/>
              </a:path>
            </a:pathLst>
          </a:custGeom>
          <a:solidFill>
            <a:srgbClr val="0EA5E9"/>
          </a:solidFill>
          <a:ln/>
        </p:spPr>
      </p:sp>
      <p:sp>
        <p:nvSpPr>
          <p:cNvPr id="8" name="Text 5"/>
          <p:cNvSpPr/>
          <p:nvPr/>
        </p:nvSpPr>
        <p:spPr>
          <a:xfrm>
            <a:off x="1524000" y="1397000"/>
            <a:ext cx="3810000" cy="3556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Autonomous Alert Investigation</a:t>
            </a:r>
            <a:endParaRPr lang="en-US" sz="1600" dirty="0"/>
          </a:p>
        </p:txBody>
      </p:sp>
      <p:sp>
        <p:nvSpPr>
          <p:cNvPr id="9" name="Text 6"/>
          <p:cNvSpPr/>
          <p:nvPr/>
        </p:nvSpPr>
        <p:spPr>
          <a:xfrm>
            <a:off x="1016000" y="1841500"/>
            <a:ext cx="6731000" cy="1397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Ingest alerts across the security stack, suppress false positives, and dynamically build investigation plans. Correlate findings across SIEMs, EDRs, identity platforms, and threat intelligence feeds — constructing incident timelines and mapping attack paths.</a:t>
            </a:r>
            <a:endParaRPr lang="en-US" sz="1400" dirty="0"/>
          </a:p>
        </p:txBody>
      </p:sp>
      <p:sp>
        <p:nvSpPr>
          <p:cNvPr id="10" name="Shape 7"/>
          <p:cNvSpPr/>
          <p:nvPr/>
        </p:nvSpPr>
        <p:spPr>
          <a:xfrm>
            <a:off x="8255000" y="1206500"/>
            <a:ext cx="7239000" cy="2222500"/>
          </a:xfrm>
          <a:prstGeom prst="rect">
            <a:avLst/>
          </a:prstGeom>
          <a:solidFill>
            <a:srgbClr val="1E293B"/>
          </a:solidFill>
          <a:ln/>
        </p:spPr>
      </p:sp>
      <p:sp>
        <p:nvSpPr>
          <p:cNvPr id="11" name="Shape 8"/>
          <p:cNvSpPr/>
          <p:nvPr/>
        </p:nvSpPr>
        <p:spPr>
          <a:xfrm>
            <a:off x="8509000" y="1397000"/>
            <a:ext cx="381000" cy="381000"/>
          </a:xfrm>
          <a:custGeom>
            <a:avLst/>
            <a:gdLst/>
            <a:ahLst/>
            <a:cxnLst/>
            <a:rect l="l" t="t" r="r" b="b"/>
            <a:pathLst>
              <a:path w="381000" h="381000">
                <a:moveTo>
                  <a:pt x="190500" y="-11906"/>
                </a:moveTo>
                <a:cubicBezTo>
                  <a:pt x="202208" y="-11906"/>
                  <a:pt x="211667" y="-1265"/>
                  <a:pt x="211667" y="11906"/>
                </a:cubicBezTo>
                <a:lnTo>
                  <a:pt x="211667" y="25524"/>
                </a:lnTo>
                <a:cubicBezTo>
                  <a:pt x="276556" y="35942"/>
                  <a:pt x="327885" y="93687"/>
                  <a:pt x="337145" y="166688"/>
                </a:cubicBezTo>
                <a:lnTo>
                  <a:pt x="349250" y="166688"/>
                </a:lnTo>
                <a:cubicBezTo>
                  <a:pt x="360958" y="166688"/>
                  <a:pt x="370417" y="177329"/>
                  <a:pt x="370417" y="190500"/>
                </a:cubicBezTo>
                <a:cubicBezTo>
                  <a:pt x="370417" y="203671"/>
                  <a:pt x="360958" y="214313"/>
                  <a:pt x="349250" y="214313"/>
                </a:cubicBezTo>
                <a:lnTo>
                  <a:pt x="337145" y="214313"/>
                </a:lnTo>
                <a:cubicBezTo>
                  <a:pt x="327885" y="287313"/>
                  <a:pt x="276556" y="345058"/>
                  <a:pt x="211667" y="355476"/>
                </a:cubicBezTo>
                <a:lnTo>
                  <a:pt x="211667" y="369094"/>
                </a:lnTo>
                <a:cubicBezTo>
                  <a:pt x="211667" y="382265"/>
                  <a:pt x="202208" y="392906"/>
                  <a:pt x="190500" y="392906"/>
                </a:cubicBezTo>
                <a:cubicBezTo>
                  <a:pt x="178792" y="392906"/>
                  <a:pt x="169333" y="382265"/>
                  <a:pt x="169333" y="369094"/>
                </a:cubicBezTo>
                <a:lnTo>
                  <a:pt x="169333" y="355476"/>
                </a:lnTo>
                <a:cubicBezTo>
                  <a:pt x="104444" y="345058"/>
                  <a:pt x="53115" y="287313"/>
                  <a:pt x="43855" y="214313"/>
                </a:cubicBezTo>
                <a:lnTo>
                  <a:pt x="31750" y="214313"/>
                </a:lnTo>
                <a:cubicBezTo>
                  <a:pt x="20042" y="214313"/>
                  <a:pt x="10583" y="203671"/>
                  <a:pt x="10583" y="190500"/>
                </a:cubicBezTo>
                <a:cubicBezTo>
                  <a:pt x="10583" y="177329"/>
                  <a:pt x="20042" y="166688"/>
                  <a:pt x="31750" y="166688"/>
                </a:cubicBezTo>
                <a:lnTo>
                  <a:pt x="43855" y="166688"/>
                </a:lnTo>
                <a:cubicBezTo>
                  <a:pt x="53115" y="93687"/>
                  <a:pt x="104444" y="35942"/>
                  <a:pt x="169333" y="25524"/>
                </a:cubicBezTo>
                <a:lnTo>
                  <a:pt x="169333" y="11906"/>
                </a:lnTo>
                <a:cubicBezTo>
                  <a:pt x="169333" y="-1265"/>
                  <a:pt x="178792" y="-11906"/>
                  <a:pt x="190500" y="-11906"/>
                </a:cubicBezTo>
                <a:close/>
                <a:moveTo>
                  <a:pt x="86783" y="214313"/>
                </a:moveTo>
                <a:cubicBezTo>
                  <a:pt x="95184" y="260970"/>
                  <a:pt x="127860" y="297731"/>
                  <a:pt x="169333" y="307181"/>
                </a:cubicBezTo>
                <a:lnTo>
                  <a:pt x="169333" y="297656"/>
                </a:lnTo>
                <a:cubicBezTo>
                  <a:pt x="169333" y="284485"/>
                  <a:pt x="178792" y="273844"/>
                  <a:pt x="190500" y="273844"/>
                </a:cubicBezTo>
                <a:cubicBezTo>
                  <a:pt x="202208" y="273844"/>
                  <a:pt x="211667" y="284485"/>
                  <a:pt x="211667" y="297656"/>
                </a:cubicBezTo>
                <a:lnTo>
                  <a:pt x="211667" y="307181"/>
                </a:lnTo>
                <a:cubicBezTo>
                  <a:pt x="253140" y="297731"/>
                  <a:pt x="285816" y="260970"/>
                  <a:pt x="294217" y="214313"/>
                </a:cubicBezTo>
                <a:lnTo>
                  <a:pt x="285750" y="214313"/>
                </a:lnTo>
                <a:cubicBezTo>
                  <a:pt x="274042" y="214313"/>
                  <a:pt x="264583" y="203671"/>
                  <a:pt x="264583" y="190500"/>
                </a:cubicBezTo>
                <a:cubicBezTo>
                  <a:pt x="264583" y="177329"/>
                  <a:pt x="274042" y="166688"/>
                  <a:pt x="285750" y="166688"/>
                </a:cubicBezTo>
                <a:lnTo>
                  <a:pt x="294217" y="166688"/>
                </a:lnTo>
                <a:cubicBezTo>
                  <a:pt x="285816" y="120030"/>
                  <a:pt x="253140" y="83269"/>
                  <a:pt x="211667" y="73819"/>
                </a:cubicBezTo>
                <a:lnTo>
                  <a:pt x="211667" y="83344"/>
                </a:lnTo>
                <a:cubicBezTo>
                  <a:pt x="211667" y="96515"/>
                  <a:pt x="202208" y="107156"/>
                  <a:pt x="190500" y="107156"/>
                </a:cubicBezTo>
                <a:cubicBezTo>
                  <a:pt x="178792" y="107156"/>
                  <a:pt x="169333" y="96515"/>
                  <a:pt x="169333" y="83344"/>
                </a:cubicBezTo>
                <a:lnTo>
                  <a:pt x="169333" y="73819"/>
                </a:lnTo>
                <a:cubicBezTo>
                  <a:pt x="127860" y="83269"/>
                  <a:pt x="95184" y="120030"/>
                  <a:pt x="86783" y="166688"/>
                </a:cubicBezTo>
                <a:lnTo>
                  <a:pt x="95250" y="166688"/>
                </a:lnTo>
                <a:cubicBezTo>
                  <a:pt x="106958" y="166688"/>
                  <a:pt x="116417" y="177329"/>
                  <a:pt x="116417" y="190500"/>
                </a:cubicBezTo>
                <a:cubicBezTo>
                  <a:pt x="116417" y="203671"/>
                  <a:pt x="106958" y="214313"/>
                  <a:pt x="95250" y="214313"/>
                </a:cubicBezTo>
                <a:lnTo>
                  <a:pt x="86783" y="214313"/>
                </a:lnTo>
                <a:close/>
                <a:moveTo>
                  <a:pt x="190500" y="154781"/>
                </a:moveTo>
                <a:cubicBezTo>
                  <a:pt x="208023" y="154781"/>
                  <a:pt x="222250" y="170786"/>
                  <a:pt x="222250" y="190500"/>
                </a:cubicBezTo>
                <a:cubicBezTo>
                  <a:pt x="222250" y="210214"/>
                  <a:pt x="208023" y="226219"/>
                  <a:pt x="190500" y="226219"/>
                </a:cubicBezTo>
                <a:cubicBezTo>
                  <a:pt x="172977" y="226219"/>
                  <a:pt x="158750" y="210214"/>
                  <a:pt x="158750" y="190500"/>
                </a:cubicBezTo>
                <a:cubicBezTo>
                  <a:pt x="158750" y="170786"/>
                  <a:pt x="172977" y="154781"/>
                  <a:pt x="190500" y="154781"/>
                </a:cubicBezTo>
                <a:close/>
              </a:path>
            </a:pathLst>
          </a:custGeom>
          <a:solidFill>
            <a:srgbClr val="22D3EE"/>
          </a:solidFill>
          <a:ln/>
        </p:spPr>
      </p:sp>
      <p:sp>
        <p:nvSpPr>
          <p:cNvPr id="12" name="Text 9"/>
          <p:cNvSpPr/>
          <p:nvPr/>
        </p:nvSpPr>
        <p:spPr>
          <a:xfrm>
            <a:off x="9017000" y="1397000"/>
            <a:ext cx="3810000" cy="3556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Proactive Threat Hunting</a:t>
            </a:r>
            <a:endParaRPr lang="en-US" sz="1600" dirty="0"/>
          </a:p>
        </p:txBody>
      </p:sp>
      <p:sp>
        <p:nvSpPr>
          <p:cNvPr id="13" name="Text 10"/>
          <p:cNvSpPr/>
          <p:nvPr/>
        </p:nvSpPr>
        <p:spPr>
          <a:xfrm>
            <a:off x="8509000" y="1841500"/>
            <a:ext cx="6731000" cy="1397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Hypothesis-driven hunts via natural language queries. Agents gather evidence across identity logs, endpoint telemetry, cloud activity, and SaaS platforms. Autonomous continuous monitoring for emerging threats with pre-built hunt templates.</a:t>
            </a:r>
            <a:endParaRPr lang="en-US" sz="1400" dirty="0"/>
          </a:p>
        </p:txBody>
      </p:sp>
      <p:sp>
        <p:nvSpPr>
          <p:cNvPr id="14" name="Shape 11"/>
          <p:cNvSpPr/>
          <p:nvPr/>
        </p:nvSpPr>
        <p:spPr>
          <a:xfrm>
            <a:off x="762000" y="3683000"/>
            <a:ext cx="7239000" cy="2222500"/>
          </a:xfrm>
          <a:prstGeom prst="rect">
            <a:avLst/>
          </a:prstGeom>
          <a:solidFill>
            <a:srgbClr val="1E293B"/>
          </a:solidFill>
          <a:ln/>
        </p:spPr>
      </p:sp>
      <p:sp>
        <p:nvSpPr>
          <p:cNvPr id="15" name="Shape 12"/>
          <p:cNvSpPr/>
          <p:nvPr/>
        </p:nvSpPr>
        <p:spPr>
          <a:xfrm>
            <a:off x="1016000" y="3873500"/>
            <a:ext cx="381000" cy="381000"/>
          </a:xfrm>
          <a:custGeom>
            <a:avLst/>
            <a:gdLst/>
            <a:ahLst/>
            <a:cxnLst/>
            <a:rect l="l" t="t" r="r" b="b"/>
            <a:pathLst>
              <a:path w="381000" h="381000">
                <a:moveTo>
                  <a:pt x="190500" y="0"/>
                </a:moveTo>
                <a:cubicBezTo>
                  <a:pt x="193923" y="0"/>
                  <a:pt x="197346" y="744"/>
                  <a:pt x="200471" y="2158"/>
                </a:cubicBezTo>
                <a:lnTo>
                  <a:pt x="340668" y="61615"/>
                </a:lnTo>
                <a:cubicBezTo>
                  <a:pt x="357039" y="68535"/>
                  <a:pt x="369243" y="84683"/>
                  <a:pt x="369168" y="104180"/>
                </a:cubicBezTo>
                <a:cubicBezTo>
                  <a:pt x="368796" y="177998"/>
                  <a:pt x="338435" y="313060"/>
                  <a:pt x="210220" y="374452"/>
                </a:cubicBezTo>
                <a:cubicBezTo>
                  <a:pt x="197793" y="380405"/>
                  <a:pt x="183356" y="380405"/>
                  <a:pt x="170929" y="374452"/>
                </a:cubicBezTo>
                <a:cubicBezTo>
                  <a:pt x="42639" y="313060"/>
                  <a:pt x="12353" y="177998"/>
                  <a:pt x="11981" y="104180"/>
                </a:cubicBezTo>
                <a:cubicBezTo>
                  <a:pt x="11906" y="84683"/>
                  <a:pt x="24110" y="68535"/>
                  <a:pt x="40481" y="61615"/>
                </a:cubicBezTo>
                <a:lnTo>
                  <a:pt x="180603" y="2158"/>
                </a:lnTo>
                <a:cubicBezTo>
                  <a:pt x="183728" y="744"/>
                  <a:pt x="187077" y="0"/>
                  <a:pt x="190500" y="0"/>
                </a:cubicBezTo>
                <a:close/>
                <a:moveTo>
                  <a:pt x="190500" y="49709"/>
                </a:moveTo>
                <a:lnTo>
                  <a:pt x="190500" y="331068"/>
                </a:lnTo>
                <a:cubicBezTo>
                  <a:pt x="293191" y="281360"/>
                  <a:pt x="320799" y="171227"/>
                  <a:pt x="321469" y="105296"/>
                </a:cubicBezTo>
                <a:lnTo>
                  <a:pt x="190500" y="49783"/>
                </a:lnTo>
                <a:lnTo>
                  <a:pt x="190500" y="49783"/>
                </a:lnTo>
                <a:close/>
              </a:path>
            </a:pathLst>
          </a:custGeom>
          <a:solidFill>
            <a:srgbClr val="A855F7"/>
          </a:solidFill>
          <a:ln/>
        </p:spPr>
      </p:sp>
      <p:sp>
        <p:nvSpPr>
          <p:cNvPr id="16" name="Text 13"/>
          <p:cNvSpPr/>
          <p:nvPr/>
        </p:nvSpPr>
        <p:spPr>
          <a:xfrm>
            <a:off x="1524000" y="3873500"/>
            <a:ext cx="3810000" cy="3556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Detection Engineering</a:t>
            </a:r>
            <a:endParaRPr lang="en-US" sz="1600" dirty="0"/>
          </a:p>
        </p:txBody>
      </p:sp>
      <p:sp>
        <p:nvSpPr>
          <p:cNvPr id="17" name="Text 14"/>
          <p:cNvSpPr/>
          <p:nvPr/>
        </p:nvSpPr>
        <p:spPr>
          <a:xfrm>
            <a:off x="1016000" y="4318000"/>
            <a:ext cx="6731000" cy="1397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Translate hunt findings into detection logic automatically. Per-rule disposition data reveals which detections produce true positives vs. noise. Coverage gap analysis shifts tuning from reactive noise suppression toward systematic coverage improvement.</a:t>
            </a:r>
            <a:endParaRPr lang="en-US" sz="1400" dirty="0"/>
          </a:p>
        </p:txBody>
      </p:sp>
      <p:sp>
        <p:nvSpPr>
          <p:cNvPr id="18" name="Shape 15"/>
          <p:cNvSpPr/>
          <p:nvPr/>
        </p:nvSpPr>
        <p:spPr>
          <a:xfrm>
            <a:off x="8255000" y="3683000"/>
            <a:ext cx="7239000" cy="2222500"/>
          </a:xfrm>
          <a:prstGeom prst="rect">
            <a:avLst/>
          </a:prstGeom>
          <a:solidFill>
            <a:srgbClr val="1E293B"/>
          </a:solidFill>
          <a:ln/>
        </p:spPr>
      </p:sp>
      <p:sp>
        <p:nvSpPr>
          <p:cNvPr id="19" name="Shape 16"/>
          <p:cNvSpPr/>
          <p:nvPr/>
        </p:nvSpPr>
        <p:spPr>
          <a:xfrm>
            <a:off x="8509000" y="3873500"/>
            <a:ext cx="381000" cy="381000"/>
          </a:xfrm>
          <a:custGeom>
            <a:avLst/>
            <a:gdLst/>
            <a:ahLst/>
            <a:cxnLst/>
            <a:rect l="l" t="t" r="r" b="b"/>
            <a:pathLst>
              <a:path w="381000" h="381000">
                <a:moveTo>
                  <a:pt x="288131" y="-7367"/>
                </a:moveTo>
                <a:cubicBezTo>
                  <a:pt x="298252" y="-967"/>
                  <a:pt x="301994" y="10641"/>
                  <a:pt x="297401" y="20762"/>
                </a:cubicBezTo>
                <a:lnTo>
                  <a:pt x="230726" y="166688"/>
                </a:lnTo>
                <a:lnTo>
                  <a:pt x="353786" y="166688"/>
                </a:lnTo>
                <a:cubicBezTo>
                  <a:pt x="365267" y="166688"/>
                  <a:pt x="375472" y="172938"/>
                  <a:pt x="379384" y="182389"/>
                </a:cubicBezTo>
                <a:cubicBezTo>
                  <a:pt x="383296" y="191839"/>
                  <a:pt x="379979" y="202406"/>
                  <a:pt x="371220" y="208806"/>
                </a:cubicBezTo>
                <a:lnTo>
                  <a:pt x="126291" y="387400"/>
                </a:lnTo>
                <a:cubicBezTo>
                  <a:pt x="116681" y="394395"/>
                  <a:pt x="102989" y="394767"/>
                  <a:pt x="92869" y="388367"/>
                </a:cubicBezTo>
                <a:cubicBezTo>
                  <a:pt x="82748" y="381967"/>
                  <a:pt x="79006" y="370359"/>
                  <a:pt x="83599" y="360238"/>
                </a:cubicBezTo>
                <a:lnTo>
                  <a:pt x="150274" y="214313"/>
                </a:lnTo>
                <a:lnTo>
                  <a:pt x="27214" y="214313"/>
                </a:lnTo>
                <a:cubicBezTo>
                  <a:pt x="15733" y="214313"/>
                  <a:pt x="5528" y="208062"/>
                  <a:pt x="1616" y="198611"/>
                </a:cubicBezTo>
                <a:cubicBezTo>
                  <a:pt x="-2296" y="189161"/>
                  <a:pt x="1021" y="178594"/>
                  <a:pt x="9780" y="172194"/>
                </a:cubicBezTo>
                <a:lnTo>
                  <a:pt x="254709" y="-6400"/>
                </a:lnTo>
                <a:cubicBezTo>
                  <a:pt x="264319" y="-13395"/>
                  <a:pt x="278011" y="-13767"/>
                  <a:pt x="288131" y="-7367"/>
                </a:cubicBezTo>
                <a:close/>
              </a:path>
            </a:pathLst>
          </a:custGeom>
          <a:solidFill>
            <a:srgbClr val="F59E0B"/>
          </a:solidFill>
          <a:ln/>
        </p:spPr>
      </p:sp>
      <p:sp>
        <p:nvSpPr>
          <p:cNvPr id="20" name="Text 17"/>
          <p:cNvSpPr/>
          <p:nvPr/>
        </p:nvSpPr>
        <p:spPr>
          <a:xfrm>
            <a:off x="9017000" y="3873500"/>
            <a:ext cx="3810000" cy="3556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Response &amp; Remediation</a:t>
            </a:r>
            <a:endParaRPr lang="en-US" sz="1600" dirty="0"/>
          </a:p>
        </p:txBody>
      </p:sp>
      <p:sp>
        <p:nvSpPr>
          <p:cNvPr id="21" name="Text 18"/>
          <p:cNvSpPr/>
          <p:nvPr/>
        </p:nvSpPr>
        <p:spPr>
          <a:xfrm>
            <a:off x="8509000" y="4318000"/>
            <a:ext cx="6731000" cy="1397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Spectrum of autonomy: fully autonomous remediation for high-confidence scenarios (endpoint isolation, credential disabling) to one-click human-in-the-loop approval for cases requiring analyst judgment. Flexible autonomy calibration to risk tolerance.</a:t>
            </a:r>
            <a:endParaRPr lang="en-US" sz="1400" dirty="0"/>
          </a:p>
        </p:txBody>
      </p:sp>
      <p:sp>
        <p:nvSpPr>
          <p:cNvPr id="22" name="Shape 19"/>
          <p:cNvSpPr/>
          <p:nvPr/>
        </p:nvSpPr>
        <p:spPr>
          <a:xfrm>
            <a:off x="762000" y="6159500"/>
            <a:ext cx="14732000" cy="1270000"/>
          </a:xfrm>
          <a:prstGeom prst="rect">
            <a:avLst/>
          </a:prstGeom>
          <a:solidFill>
            <a:srgbClr val="1E293B"/>
          </a:solidFill>
          <a:ln/>
        </p:spPr>
      </p:sp>
      <p:sp>
        <p:nvSpPr>
          <p:cNvPr id="23" name="Shape 20"/>
          <p:cNvSpPr/>
          <p:nvPr/>
        </p:nvSpPr>
        <p:spPr>
          <a:xfrm>
            <a:off x="1016000" y="6477000"/>
            <a:ext cx="381000" cy="381000"/>
          </a:xfrm>
          <a:custGeom>
            <a:avLst/>
            <a:gdLst/>
            <a:ahLst/>
            <a:cxnLst/>
            <a:rect l="l" t="t" r="r" b="b"/>
            <a:pathLst>
              <a:path w="381000" h="381000">
                <a:moveTo>
                  <a:pt x="308967" y="23812"/>
                </a:moveTo>
                <a:lnTo>
                  <a:pt x="317500" y="23812"/>
                </a:lnTo>
                <a:cubicBezTo>
                  <a:pt x="352524" y="23812"/>
                  <a:pt x="381000" y="45169"/>
                  <a:pt x="381000" y="71438"/>
                </a:cubicBezTo>
                <a:lnTo>
                  <a:pt x="381000" y="333375"/>
                </a:lnTo>
                <a:cubicBezTo>
                  <a:pt x="381000" y="359643"/>
                  <a:pt x="352524" y="381000"/>
                  <a:pt x="317500" y="381000"/>
                </a:cubicBezTo>
                <a:lnTo>
                  <a:pt x="63500" y="381000"/>
                </a:lnTo>
                <a:cubicBezTo>
                  <a:pt x="28476" y="381000"/>
                  <a:pt x="0" y="359643"/>
                  <a:pt x="0" y="333375"/>
                </a:cubicBezTo>
                <a:lnTo>
                  <a:pt x="0" y="71438"/>
                </a:lnTo>
                <a:cubicBezTo>
                  <a:pt x="0" y="45169"/>
                  <a:pt x="28476" y="23812"/>
                  <a:pt x="63500" y="23812"/>
                </a:cubicBezTo>
                <a:lnTo>
                  <a:pt x="72033" y="23812"/>
                </a:lnTo>
                <a:cubicBezTo>
                  <a:pt x="82947" y="9599"/>
                  <a:pt x="103485" y="0"/>
                  <a:pt x="127000" y="0"/>
                </a:cubicBezTo>
                <a:lnTo>
                  <a:pt x="254000" y="0"/>
                </a:lnTo>
                <a:cubicBezTo>
                  <a:pt x="277515" y="0"/>
                  <a:pt x="298053" y="9599"/>
                  <a:pt x="308967" y="23812"/>
                </a:cubicBezTo>
                <a:close/>
                <a:moveTo>
                  <a:pt x="246063" y="83344"/>
                </a:moveTo>
                <a:cubicBezTo>
                  <a:pt x="259259" y="83344"/>
                  <a:pt x="269875" y="75381"/>
                  <a:pt x="269875" y="65484"/>
                </a:cubicBezTo>
                <a:cubicBezTo>
                  <a:pt x="269875" y="55587"/>
                  <a:pt x="259259" y="47625"/>
                  <a:pt x="246063" y="47625"/>
                </a:cubicBezTo>
                <a:lnTo>
                  <a:pt x="134938" y="47625"/>
                </a:lnTo>
                <a:cubicBezTo>
                  <a:pt x="121741" y="47625"/>
                  <a:pt x="111125" y="55587"/>
                  <a:pt x="111125" y="65484"/>
                </a:cubicBezTo>
                <a:cubicBezTo>
                  <a:pt x="111125" y="75381"/>
                  <a:pt x="121741" y="83344"/>
                  <a:pt x="134938" y="83344"/>
                </a:cubicBezTo>
                <a:lnTo>
                  <a:pt x="246063" y="83344"/>
                </a:lnTo>
                <a:close/>
                <a:moveTo>
                  <a:pt x="274241" y="193997"/>
                </a:moveTo>
                <a:cubicBezTo>
                  <a:pt x="281186" y="185663"/>
                  <a:pt x="277813" y="174650"/>
                  <a:pt x="266700" y="169366"/>
                </a:cubicBezTo>
                <a:cubicBezTo>
                  <a:pt x="255587" y="164083"/>
                  <a:pt x="240903" y="166688"/>
                  <a:pt x="233859" y="175022"/>
                </a:cubicBezTo>
                <a:lnTo>
                  <a:pt x="172938" y="248171"/>
                </a:lnTo>
                <a:lnTo>
                  <a:pt x="146149" y="221382"/>
                </a:lnTo>
                <a:cubicBezTo>
                  <a:pt x="138212" y="213494"/>
                  <a:pt x="123329" y="211857"/>
                  <a:pt x="112812" y="217810"/>
                </a:cubicBezTo>
                <a:cubicBezTo>
                  <a:pt x="102295" y="223763"/>
                  <a:pt x="100112" y="234925"/>
                  <a:pt x="108049" y="242813"/>
                </a:cubicBezTo>
                <a:lnTo>
                  <a:pt x="155674" y="290438"/>
                </a:lnTo>
                <a:cubicBezTo>
                  <a:pt x="160337" y="295126"/>
                  <a:pt x="167878" y="297805"/>
                  <a:pt x="175716" y="297582"/>
                </a:cubicBezTo>
                <a:cubicBezTo>
                  <a:pt x="183555" y="297359"/>
                  <a:pt x="190698" y="294233"/>
                  <a:pt x="194866" y="289173"/>
                </a:cubicBezTo>
                <a:lnTo>
                  <a:pt x="274241" y="193923"/>
                </a:lnTo>
                <a:close/>
              </a:path>
            </a:pathLst>
          </a:custGeom>
          <a:solidFill>
            <a:srgbClr val="10B981"/>
          </a:solidFill>
          <a:ln/>
        </p:spPr>
      </p:sp>
      <p:sp>
        <p:nvSpPr>
          <p:cNvPr id="24" name="Text 21"/>
          <p:cNvSpPr/>
          <p:nvPr/>
        </p:nvSpPr>
        <p:spPr>
          <a:xfrm>
            <a:off x="1524000" y="6477000"/>
            <a:ext cx="3810000" cy="3556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Compliance Automation</a:t>
            </a:r>
            <a:endParaRPr lang="en-US" sz="1600" dirty="0"/>
          </a:p>
        </p:txBody>
      </p:sp>
      <p:sp>
        <p:nvSpPr>
          <p:cNvPr id="25" name="Text 22"/>
          <p:cNvSpPr/>
          <p:nvPr/>
        </p:nvSpPr>
        <p:spPr>
          <a:xfrm>
            <a:off x="1524000" y="6858000"/>
            <a:ext cx="13716000" cy="381000"/>
          </a:xfrm>
          <a:prstGeom prst="rect">
            <a:avLst/>
          </a:prstGeom>
          <a:noFill/>
          <a:ln/>
        </p:spPr>
        <p:txBody>
          <a:bodyPr wrap="square" lIns="0" tIns="0" rIns="0" bIns="0" rtlCol="0" anchor="t"/>
          <a:lstStyle/>
          <a:p>
            <a:pPr algn="l">
              <a:lnSpc>
                <a:spcPct val="140000"/>
              </a:lnSpc>
            </a:pPr>
            <a:r>
              <a:rPr lang="en-US" sz="1400" dirty="0">
                <a:solidFill>
                  <a:srgbClr val="E2E8F0"/>
                </a:solidFill>
                <a:latin typeface="Quattrocento Sans" pitchFamily="34" charset="0"/>
                <a:ea typeface="Quattrocento Sans" pitchFamily="34" charset="-122"/>
                <a:cs typeface="Quattrocento Sans" pitchFamily="34" charset="-120"/>
              </a:rPr>
              <a:t>Automated compliance reporting and evidence collection for regulatory requirements, security audits, and incident documentation with immutable audit trails.</a:t>
            </a:r>
            <a:endParaRPr lang="en-US" sz="1400" dirty="0"/>
          </a:p>
        </p:txBody>
      </p:sp>
      <p:sp>
        <p:nvSpPr>
          <p:cNvPr id="26" name="Text 23"/>
          <p:cNvSpPr/>
          <p:nvPr/>
        </p:nvSpPr>
        <p:spPr>
          <a:xfrm>
            <a:off x="762000" y="8763000"/>
            <a:ext cx="8890000" cy="254000"/>
          </a:xfrm>
          <a:prstGeom prst="rect">
            <a:avLst/>
          </a:prstGeom>
          <a:noFill/>
          <a:ln/>
        </p:spPr>
        <p:txBody>
          <a:bodyPr wrap="none" lIns="0" tIns="0" rIns="0" bIns="0" rtlCol="0" anchor="ctr"/>
          <a:lstStyle/>
          <a:p>
            <a:pPr algn="l">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Sources: Prophet Security 2026; Torq HyperSOC 2026</a:t>
            </a:r>
            <a:endParaRPr lang="en-US" sz="1200" dirty="0"/>
          </a:p>
        </p:txBody>
      </p:sp>
      <p:sp>
        <p:nvSpPr>
          <p:cNvPr id="27" name="Text 24"/>
          <p:cNvSpPr/>
          <p:nvPr/>
        </p:nvSpPr>
        <p:spPr>
          <a:xfrm>
            <a:off x="14986000" y="8763000"/>
            <a:ext cx="762000" cy="254000"/>
          </a:xfrm>
          <a:prstGeom prst="rect">
            <a:avLst/>
          </a:prstGeom>
          <a:noFill/>
          <a:ln/>
        </p:spPr>
        <p:txBody>
          <a:bodyPr wrap="none" lIns="0" tIns="0" rIns="0" bIns="0" rtlCol="0" anchor="ctr"/>
          <a:lstStyle/>
          <a:p>
            <a:pPr algn="r">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06</a:t>
            </a:r>
            <a:endParaRPr lang="en-US" sz="12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72A"/>
        </a:solidFill>
      </p:bgPr>
    </p:bg>
    <p:spTree>
      <p:nvGrpSpPr>
        <p:cNvPr id="1" name=""/>
        <p:cNvGrpSpPr/>
        <p:nvPr/>
      </p:nvGrpSpPr>
      <p:grpSpPr>
        <a:xfrm>
          <a:off x="0" y="0"/>
          <a:ext cx="0" cy="0"/>
          <a:chOff x="0" y="0"/>
          <a:chExt cx="0" cy="0"/>
        </a:xfrm>
      </p:grpSpPr>
      <p:sp>
        <p:nvSpPr>
          <p:cNvPr id="3" name="Shape 0"/>
          <p:cNvSpPr/>
          <p:nvPr/>
        </p:nvSpPr>
        <p:spPr>
          <a:xfrm>
            <a:off x="0" y="0"/>
            <a:ext cx="16256000" cy="50800"/>
          </a:xfrm>
          <a:prstGeom prst="rect">
            <a:avLst/>
          </a:prstGeom>
          <a:solidFill>
            <a:srgbClr val="0EA5E9"/>
          </a:solidFill>
          <a:ln/>
        </p:spPr>
      </p:sp>
      <p:sp>
        <p:nvSpPr>
          <p:cNvPr id="4" name="Text 1"/>
          <p:cNvSpPr/>
          <p:nvPr/>
        </p:nvSpPr>
        <p:spPr>
          <a:xfrm>
            <a:off x="762000" y="381000"/>
            <a:ext cx="7620000" cy="482600"/>
          </a:xfrm>
          <a:prstGeom prst="rect">
            <a:avLst/>
          </a:prstGeom>
          <a:noFill/>
          <a:ln/>
        </p:spPr>
        <p:txBody>
          <a:bodyPr wrap="none" lIns="0" tIns="0" rIns="0" bIns="0" rtlCol="0" anchor="ctr"/>
          <a:lstStyle/>
          <a:p>
            <a:pPr algn="l">
              <a:lnSpc>
                <a:spcPct val="120000"/>
              </a:lnSpc>
            </a:pPr>
            <a:r>
              <a:rPr lang="en-US" sz="2800" dirty="0">
                <a:solidFill>
                  <a:srgbClr val="0EA5E9"/>
                </a:solidFill>
                <a:latin typeface="Liter" pitchFamily="34" charset="0"/>
                <a:ea typeface="Liter" pitchFamily="34" charset="-122"/>
                <a:cs typeface="Liter" pitchFamily="34" charset="-120"/>
              </a:rPr>
              <a:t>Threat Hunting</a:t>
            </a:r>
            <a:endParaRPr lang="en-US" sz="2800" dirty="0"/>
          </a:p>
        </p:txBody>
      </p:sp>
      <p:sp>
        <p:nvSpPr>
          <p:cNvPr id="5" name="Shape 2"/>
          <p:cNvSpPr/>
          <p:nvPr/>
        </p:nvSpPr>
        <p:spPr>
          <a:xfrm>
            <a:off x="762000" y="939800"/>
            <a:ext cx="14732000" cy="12700"/>
          </a:xfrm>
          <a:prstGeom prst="rect">
            <a:avLst/>
          </a:prstGeom>
          <a:solidFill>
            <a:srgbClr val="475569"/>
          </a:solidFill>
          <a:ln/>
        </p:spPr>
      </p:sp>
      <p:sp>
        <p:nvSpPr>
          <p:cNvPr id="6" name="Text 3"/>
          <p:cNvSpPr/>
          <p:nvPr/>
        </p:nvSpPr>
        <p:spPr>
          <a:xfrm>
            <a:off x="762000" y="1206500"/>
            <a:ext cx="7874000" cy="1270000"/>
          </a:xfrm>
          <a:prstGeom prst="rect">
            <a:avLst/>
          </a:prstGeom>
          <a:noFill/>
          <a:ln/>
        </p:spPr>
        <p:txBody>
          <a:bodyPr wrap="square" lIns="0" tIns="0" rIns="0" bIns="0" rtlCol="0" anchor="t"/>
          <a:lstStyle/>
          <a:p>
            <a:pPr algn="l">
              <a:lnSpc>
                <a:spcPct val="150000"/>
              </a:lnSpc>
            </a:pPr>
            <a:r>
              <a:rPr lang="en-US" sz="1800" dirty="0">
                <a:solidFill>
                  <a:srgbClr val="E2E8F0"/>
                </a:solidFill>
                <a:latin typeface="Quattrocento Sans" pitchFamily="34" charset="0"/>
                <a:ea typeface="Quattrocento Sans" pitchFamily="34" charset="-122"/>
                <a:cs typeface="Quattrocento Sans" pitchFamily="34" charset="-120"/>
              </a:rPr>
              <a:t>AI agents transform threat hunting from a periodic, senior-staff-dependent exercise into a </a:t>
            </a:r>
            <a:pPr algn="l">
              <a:lnSpc>
                <a:spcPct val="150000"/>
              </a:lnSpc>
            </a:pPr>
            <a:r>
              <a:rPr lang="en-US" sz="1800" b="1" dirty="0">
                <a:solidFill>
                  <a:srgbClr val="E2E8F0"/>
                </a:solidFill>
                <a:latin typeface="Quattrocento Sans" pitchFamily="34" charset="0"/>
                <a:ea typeface="Quattrocento Sans" pitchFamily="34" charset="-122"/>
                <a:cs typeface="Quattrocento Sans" pitchFamily="34" charset="-120"/>
              </a:rPr>
              <a:t>persistent operational capability</a:t>
            </a:r>
            <a:pPr algn="l">
              <a:lnSpc>
                <a:spcPct val="150000"/>
              </a:lnSpc>
            </a:pPr>
            <a:r>
              <a:rPr lang="en-US" sz="1800" dirty="0">
                <a:solidFill>
                  <a:srgbClr val="E2E8F0"/>
                </a:solidFill>
                <a:latin typeface="Quattrocento Sans" pitchFamily="34" charset="0"/>
                <a:ea typeface="Quattrocento Sans" pitchFamily="34" charset="-122"/>
                <a:cs typeface="Quattrocento Sans" pitchFamily="34" charset="-120"/>
              </a:rPr>
              <a:t> that runs continuously at machine speed.</a:t>
            </a:r>
            <a:endParaRPr lang="en-US" sz="1800" dirty="0"/>
          </a:p>
        </p:txBody>
      </p:sp>
      <p:sp>
        <p:nvSpPr>
          <p:cNvPr id="7" name="Shape 4"/>
          <p:cNvSpPr/>
          <p:nvPr/>
        </p:nvSpPr>
        <p:spPr>
          <a:xfrm>
            <a:off x="762000" y="2603500"/>
            <a:ext cx="7874000" cy="1524000"/>
          </a:xfrm>
          <a:prstGeom prst="rect">
            <a:avLst/>
          </a:prstGeom>
          <a:solidFill>
            <a:srgbClr val="1E293B"/>
          </a:solidFill>
          <a:ln/>
        </p:spPr>
      </p:sp>
      <p:sp>
        <p:nvSpPr>
          <p:cNvPr id="8" name="Shape 5"/>
          <p:cNvSpPr/>
          <p:nvPr/>
        </p:nvSpPr>
        <p:spPr>
          <a:xfrm>
            <a:off x="762000" y="2603500"/>
            <a:ext cx="50800" cy="1524000"/>
          </a:xfrm>
          <a:prstGeom prst="rect">
            <a:avLst/>
          </a:prstGeom>
          <a:solidFill>
            <a:srgbClr val="0EA5E9"/>
          </a:solidFill>
          <a:ln/>
        </p:spPr>
      </p:sp>
      <p:sp>
        <p:nvSpPr>
          <p:cNvPr id="9" name="Text 6"/>
          <p:cNvSpPr/>
          <p:nvPr/>
        </p:nvSpPr>
        <p:spPr>
          <a:xfrm>
            <a:off x="1016000" y="2705100"/>
            <a:ext cx="5080000" cy="3048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Ad-Hoc Hypothesis-Driven Hunts</a:t>
            </a:r>
            <a:endParaRPr lang="en-US" sz="1600" dirty="0"/>
          </a:p>
        </p:txBody>
      </p:sp>
      <p:sp>
        <p:nvSpPr>
          <p:cNvPr id="10" name="Text 7"/>
          <p:cNvSpPr/>
          <p:nvPr/>
        </p:nvSpPr>
        <p:spPr>
          <a:xfrm>
            <a:off x="1016000" y="3060700"/>
            <a:ext cx="7366000" cy="9906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Analysts initiate hunts via natural language: "Are we impacted by this campaign?" Agents gather evidence across identity logs, endpoint telemetry, cloud activity, email, and SaaS — compressing hours of manual work into minutes.</a:t>
            </a:r>
            <a:endParaRPr lang="en-US" sz="1400" dirty="0"/>
          </a:p>
        </p:txBody>
      </p:sp>
      <p:sp>
        <p:nvSpPr>
          <p:cNvPr id="11" name="Shape 8"/>
          <p:cNvSpPr/>
          <p:nvPr/>
        </p:nvSpPr>
        <p:spPr>
          <a:xfrm>
            <a:off x="762000" y="4254500"/>
            <a:ext cx="7874000" cy="1460500"/>
          </a:xfrm>
          <a:prstGeom prst="rect">
            <a:avLst/>
          </a:prstGeom>
          <a:solidFill>
            <a:srgbClr val="1E293B"/>
          </a:solidFill>
          <a:ln/>
        </p:spPr>
      </p:sp>
      <p:sp>
        <p:nvSpPr>
          <p:cNvPr id="12" name="Shape 9"/>
          <p:cNvSpPr/>
          <p:nvPr/>
        </p:nvSpPr>
        <p:spPr>
          <a:xfrm>
            <a:off x="762000" y="4254500"/>
            <a:ext cx="50800" cy="1460500"/>
          </a:xfrm>
          <a:prstGeom prst="rect">
            <a:avLst/>
          </a:prstGeom>
          <a:solidFill>
            <a:srgbClr val="22D3EE"/>
          </a:solidFill>
          <a:ln/>
        </p:spPr>
      </p:sp>
      <p:sp>
        <p:nvSpPr>
          <p:cNvPr id="13" name="Text 10"/>
          <p:cNvSpPr/>
          <p:nvPr/>
        </p:nvSpPr>
        <p:spPr>
          <a:xfrm>
            <a:off x="1016000" y="4356100"/>
            <a:ext cx="5080000" cy="3048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Autonomous Scheduled Hunts</a:t>
            </a:r>
            <a:endParaRPr lang="en-US" sz="1600" dirty="0"/>
          </a:p>
        </p:txBody>
      </p:sp>
      <p:sp>
        <p:nvSpPr>
          <p:cNvPr id="14" name="Text 11"/>
          <p:cNvSpPr/>
          <p:nvPr/>
        </p:nvSpPr>
        <p:spPr>
          <a:xfrm>
            <a:off x="1016000" y="4711700"/>
            <a:ext cx="7366000" cy="8636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Continuous monitoring for emerging threats that bypass existing detections. Pre-built hunt templates aligned to current threat intelligence operationalize new threat data immediately.</a:t>
            </a:r>
            <a:endParaRPr lang="en-US" sz="1400" dirty="0"/>
          </a:p>
        </p:txBody>
      </p:sp>
      <p:sp>
        <p:nvSpPr>
          <p:cNvPr id="15" name="Shape 12"/>
          <p:cNvSpPr/>
          <p:nvPr/>
        </p:nvSpPr>
        <p:spPr>
          <a:xfrm>
            <a:off x="762000" y="5842000"/>
            <a:ext cx="7874000" cy="1333500"/>
          </a:xfrm>
          <a:prstGeom prst="rect">
            <a:avLst/>
          </a:prstGeom>
          <a:solidFill>
            <a:srgbClr val="1E293B"/>
          </a:solidFill>
          <a:ln/>
        </p:spPr>
      </p:sp>
      <p:sp>
        <p:nvSpPr>
          <p:cNvPr id="16" name="Shape 13"/>
          <p:cNvSpPr/>
          <p:nvPr/>
        </p:nvSpPr>
        <p:spPr>
          <a:xfrm>
            <a:off x="762000" y="5842000"/>
            <a:ext cx="50800" cy="1333500"/>
          </a:xfrm>
          <a:prstGeom prst="rect">
            <a:avLst/>
          </a:prstGeom>
          <a:solidFill>
            <a:srgbClr val="A855F7"/>
          </a:solidFill>
          <a:ln/>
        </p:spPr>
      </p:sp>
      <p:sp>
        <p:nvSpPr>
          <p:cNvPr id="17" name="Text 14"/>
          <p:cNvSpPr/>
          <p:nvPr/>
        </p:nvSpPr>
        <p:spPr>
          <a:xfrm>
            <a:off x="1016000" y="5943600"/>
            <a:ext cx="5080000" cy="3048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IOC Expansion &amp; MITRE Mapping</a:t>
            </a:r>
            <a:endParaRPr lang="en-US" sz="1600" dirty="0"/>
          </a:p>
        </p:txBody>
      </p:sp>
      <p:sp>
        <p:nvSpPr>
          <p:cNvPr id="18" name="Text 15"/>
          <p:cNvSpPr/>
          <p:nvPr/>
        </p:nvSpPr>
        <p:spPr>
          <a:xfrm>
            <a:off x="1016000" y="6299200"/>
            <a:ext cx="7366000" cy="762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Automatic expansion of indicators of compromise, hunting for similar attack patterns, and generating behavioral signatures. All findings mapped to MITRE ATT&amp;CK for TTP identification.</a:t>
            </a:r>
            <a:endParaRPr lang="en-US" sz="1400" dirty="0"/>
          </a:p>
        </p:txBody>
      </p:sp>
      <p:pic>
        <p:nvPicPr>
          <p:cNvPr id="19" name="Image 0" descr="https://kimi-img.moonshot.cn/pub/slides/okc/jrtvwrx5sycfk/mnt/agents/output/agentic-ai-cybersecurity/images/1_Cyber_security_and_safety_data_concept.png">    </p:cNvPr>
          <p:cNvPicPr>
            <a:picLocks noChangeAspect="1"/>
          </p:cNvPicPr>
          <p:nvPr/>
        </p:nvPicPr>
        <p:blipFill>
          <a:blip r:embed="rId1"/>
          <a:srcRect l="0" r="0" t="0" b="0"/>
          <a:stretch/>
        </p:blipFill>
        <p:spPr>
          <a:xfrm>
            <a:off x="9144000" y="1206500"/>
            <a:ext cx="6350000" cy="5969000"/>
          </a:xfrm>
          <a:prstGeom prst="rect">
            <a:avLst/>
          </a:prstGeom>
        </p:spPr>
      </p:pic>
      <p:sp>
        <p:nvSpPr>
          <p:cNvPr id="20" name="Text 16"/>
          <p:cNvSpPr/>
          <p:nvPr/>
        </p:nvSpPr>
        <p:spPr>
          <a:xfrm>
            <a:off x="762000" y="8763000"/>
            <a:ext cx="8890000" cy="254000"/>
          </a:xfrm>
          <a:prstGeom prst="rect">
            <a:avLst/>
          </a:prstGeom>
          <a:noFill/>
          <a:ln/>
        </p:spPr>
        <p:txBody>
          <a:bodyPr wrap="none" lIns="0" tIns="0" rIns="0" bIns="0" rtlCol="0" anchor="ctr"/>
          <a:lstStyle/>
          <a:p>
            <a:pPr algn="l">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Sources: Torq HyperSOC 2026; Prophet Security 2026</a:t>
            </a:r>
            <a:endParaRPr lang="en-US" sz="1200" dirty="0"/>
          </a:p>
        </p:txBody>
      </p:sp>
      <p:sp>
        <p:nvSpPr>
          <p:cNvPr id="21" name="Text 17"/>
          <p:cNvSpPr/>
          <p:nvPr/>
        </p:nvSpPr>
        <p:spPr>
          <a:xfrm>
            <a:off x="14986000" y="8763000"/>
            <a:ext cx="762000" cy="254000"/>
          </a:xfrm>
          <a:prstGeom prst="rect">
            <a:avLst/>
          </a:prstGeom>
          <a:noFill/>
          <a:ln/>
        </p:spPr>
        <p:txBody>
          <a:bodyPr wrap="none" lIns="0" tIns="0" rIns="0" bIns="0" rtlCol="0" anchor="ctr"/>
          <a:lstStyle/>
          <a:p>
            <a:pPr algn="r">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07</a:t>
            </a:r>
            <a:endParaRPr lang="en-US" sz="1200" dirty="0"/>
          </a:p>
        </p:txBody>
      </p:sp>
    </p:spTree>
  </p:cSld>
  <p:clrMapOvr>
    <a:masterClrMapping/>
  </p:clrMapOvr>
  <p:transition>
    <p:fade/>
    <p:spd val="med"/>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2A"/>
        </a:solidFill>
      </p:bgPr>
    </p:bg>
    <p:spTree>
      <p:nvGrpSpPr>
        <p:cNvPr id="1" name=""/>
        <p:cNvGrpSpPr/>
        <p:nvPr/>
      </p:nvGrpSpPr>
      <p:grpSpPr>
        <a:xfrm>
          <a:off x="0" y="0"/>
          <a:ext cx="0" cy="0"/>
          <a:chOff x="0" y="0"/>
          <a:chExt cx="0" cy="0"/>
        </a:xfrm>
      </p:grpSpPr>
      <p:sp>
        <p:nvSpPr>
          <p:cNvPr id="3" name="Shape 0"/>
          <p:cNvSpPr/>
          <p:nvPr/>
        </p:nvSpPr>
        <p:spPr>
          <a:xfrm>
            <a:off x="0" y="0"/>
            <a:ext cx="16256000" cy="50800"/>
          </a:xfrm>
          <a:prstGeom prst="rect">
            <a:avLst/>
          </a:prstGeom>
          <a:solidFill>
            <a:srgbClr val="0EA5E9"/>
          </a:solidFill>
          <a:ln/>
        </p:spPr>
      </p:sp>
      <p:sp>
        <p:nvSpPr>
          <p:cNvPr id="4" name="Text 1"/>
          <p:cNvSpPr/>
          <p:nvPr/>
        </p:nvSpPr>
        <p:spPr>
          <a:xfrm>
            <a:off x="762000" y="381000"/>
            <a:ext cx="7620000" cy="482600"/>
          </a:xfrm>
          <a:prstGeom prst="rect">
            <a:avLst/>
          </a:prstGeom>
          <a:noFill/>
          <a:ln/>
        </p:spPr>
        <p:txBody>
          <a:bodyPr wrap="none" lIns="0" tIns="0" rIns="0" bIns="0" rtlCol="0" anchor="ctr"/>
          <a:lstStyle/>
          <a:p>
            <a:pPr algn="l">
              <a:lnSpc>
                <a:spcPct val="120000"/>
              </a:lnSpc>
            </a:pPr>
            <a:r>
              <a:rPr lang="en-US" sz="2800" dirty="0">
                <a:solidFill>
                  <a:srgbClr val="0EA5E9"/>
                </a:solidFill>
                <a:latin typeface="Liter" pitchFamily="34" charset="0"/>
                <a:ea typeface="Liter" pitchFamily="34" charset="-122"/>
                <a:cs typeface="Liter" pitchFamily="34" charset="-120"/>
              </a:rPr>
              <a:t>Incident Response</a:t>
            </a:r>
            <a:endParaRPr lang="en-US" sz="2800" dirty="0"/>
          </a:p>
        </p:txBody>
      </p:sp>
      <p:sp>
        <p:nvSpPr>
          <p:cNvPr id="5" name="Shape 2"/>
          <p:cNvSpPr/>
          <p:nvPr/>
        </p:nvSpPr>
        <p:spPr>
          <a:xfrm>
            <a:off x="762000" y="939800"/>
            <a:ext cx="14732000" cy="12700"/>
          </a:xfrm>
          <a:prstGeom prst="rect">
            <a:avLst/>
          </a:prstGeom>
          <a:solidFill>
            <a:srgbClr val="475569"/>
          </a:solidFill>
          <a:ln/>
        </p:spPr>
      </p:sp>
      <p:sp>
        <p:nvSpPr>
          <p:cNvPr id="6" name="Shape 3"/>
          <p:cNvSpPr/>
          <p:nvPr/>
        </p:nvSpPr>
        <p:spPr>
          <a:xfrm>
            <a:off x="762000" y="1143000"/>
            <a:ext cx="14732000" cy="1397000"/>
          </a:xfrm>
          <a:prstGeom prst="rect">
            <a:avLst/>
          </a:prstGeom>
          <a:solidFill>
            <a:srgbClr val="1E293B"/>
          </a:solidFill>
          <a:ln/>
        </p:spPr>
      </p:sp>
      <p:sp>
        <p:nvSpPr>
          <p:cNvPr id="7" name="Text 4"/>
          <p:cNvSpPr/>
          <p:nvPr/>
        </p:nvSpPr>
        <p:spPr>
          <a:xfrm>
            <a:off x="1016000" y="1206500"/>
            <a:ext cx="4318000" cy="698500"/>
          </a:xfrm>
          <a:prstGeom prst="rect">
            <a:avLst/>
          </a:prstGeom>
          <a:noFill/>
          <a:ln/>
        </p:spPr>
        <p:txBody>
          <a:bodyPr wrap="none" lIns="0" tIns="0" rIns="0" bIns="0" rtlCol="0" anchor="ctr"/>
          <a:lstStyle/>
          <a:p>
            <a:pPr algn="ctr">
              <a:lnSpc>
                <a:spcPct val="120000"/>
              </a:lnSpc>
            </a:pPr>
            <a:r>
              <a:rPr lang="en-US" sz="4200" dirty="0">
                <a:solidFill>
                  <a:srgbClr val="22D3EE"/>
                </a:solidFill>
                <a:latin typeface="Liter" pitchFamily="34" charset="0"/>
                <a:ea typeface="Liter" pitchFamily="34" charset="-122"/>
                <a:cs typeface="Liter" pitchFamily="34" charset="-120"/>
              </a:rPr>
              <a:t>50%</a:t>
            </a:r>
            <a:endParaRPr lang="en-US" sz="4200" dirty="0"/>
          </a:p>
        </p:txBody>
      </p:sp>
      <p:sp>
        <p:nvSpPr>
          <p:cNvPr id="8" name="Text 5"/>
          <p:cNvSpPr/>
          <p:nvPr/>
        </p:nvSpPr>
        <p:spPr>
          <a:xfrm>
            <a:off x="1016000" y="1968500"/>
            <a:ext cx="4318000" cy="381000"/>
          </a:xfrm>
          <a:prstGeom prst="rect">
            <a:avLst/>
          </a:prstGeom>
          <a:noFill/>
          <a:ln/>
        </p:spPr>
        <p:txBody>
          <a:bodyPr wrap="none" lIns="0" tIns="0" rIns="0" bIns="0" rtlCol="0" anchor="ctr"/>
          <a:lstStyle/>
          <a:p>
            <a:pPr algn="ctr">
              <a:lnSpc>
                <a:spcPct val="120000"/>
              </a:lnSpc>
            </a:pPr>
            <a:r>
              <a:rPr lang="en-US" sz="1400" dirty="0">
                <a:solidFill>
                  <a:srgbClr val="E2E8F0"/>
                </a:solidFill>
                <a:latin typeface="Quattrocento Sans" pitchFamily="34" charset="0"/>
                <a:ea typeface="Quattrocento Sans" pitchFamily="34" charset="-122"/>
                <a:cs typeface="Quattrocento Sans" pitchFamily="34" charset="-120"/>
              </a:rPr>
              <a:t>Faster Mean Time to Detection</a:t>
            </a:r>
            <a:endParaRPr lang="en-US" sz="1400" dirty="0"/>
          </a:p>
        </p:txBody>
      </p:sp>
      <p:sp>
        <p:nvSpPr>
          <p:cNvPr id="9" name="Shape 6"/>
          <p:cNvSpPr/>
          <p:nvPr/>
        </p:nvSpPr>
        <p:spPr>
          <a:xfrm>
            <a:off x="5588000" y="1333500"/>
            <a:ext cx="12700" cy="1016000"/>
          </a:xfrm>
          <a:prstGeom prst="rect">
            <a:avLst/>
          </a:prstGeom>
          <a:solidFill>
            <a:srgbClr val="475569"/>
          </a:solidFill>
          <a:ln/>
        </p:spPr>
      </p:sp>
      <p:sp>
        <p:nvSpPr>
          <p:cNvPr id="10" name="Text 7"/>
          <p:cNvSpPr/>
          <p:nvPr/>
        </p:nvSpPr>
        <p:spPr>
          <a:xfrm>
            <a:off x="5842000" y="1206500"/>
            <a:ext cx="4318000" cy="698500"/>
          </a:xfrm>
          <a:prstGeom prst="rect">
            <a:avLst/>
          </a:prstGeom>
          <a:noFill/>
          <a:ln/>
        </p:spPr>
        <p:txBody>
          <a:bodyPr wrap="none" lIns="0" tIns="0" rIns="0" bIns="0" rtlCol="0" anchor="ctr"/>
          <a:lstStyle/>
          <a:p>
            <a:pPr algn="ctr">
              <a:lnSpc>
                <a:spcPct val="120000"/>
              </a:lnSpc>
            </a:pPr>
            <a:r>
              <a:rPr lang="en-US" sz="4200" dirty="0">
                <a:solidFill>
                  <a:srgbClr val="22D3EE"/>
                </a:solidFill>
                <a:latin typeface="Liter" pitchFamily="34" charset="0"/>
                <a:ea typeface="Liter" pitchFamily="34" charset="-122"/>
                <a:cs typeface="Liter" pitchFamily="34" charset="-120"/>
              </a:rPr>
              <a:t>90%</a:t>
            </a:r>
            <a:endParaRPr lang="en-US" sz="4200" dirty="0"/>
          </a:p>
        </p:txBody>
      </p:sp>
      <p:sp>
        <p:nvSpPr>
          <p:cNvPr id="11" name="Text 8"/>
          <p:cNvSpPr/>
          <p:nvPr/>
        </p:nvSpPr>
        <p:spPr>
          <a:xfrm>
            <a:off x="5842000" y="1968500"/>
            <a:ext cx="4318000" cy="381000"/>
          </a:xfrm>
          <a:prstGeom prst="rect">
            <a:avLst/>
          </a:prstGeom>
          <a:noFill/>
          <a:ln/>
        </p:spPr>
        <p:txBody>
          <a:bodyPr wrap="none" lIns="0" tIns="0" rIns="0" bIns="0" rtlCol="0" anchor="ctr"/>
          <a:lstStyle/>
          <a:p>
            <a:pPr algn="ctr">
              <a:lnSpc>
                <a:spcPct val="120000"/>
              </a:lnSpc>
            </a:pPr>
            <a:r>
              <a:rPr lang="en-US" sz="1400" dirty="0">
                <a:solidFill>
                  <a:srgbClr val="E2E8F0"/>
                </a:solidFill>
                <a:latin typeface="Quattrocento Sans" pitchFamily="34" charset="0"/>
                <a:ea typeface="Quattrocento Sans" pitchFamily="34" charset="-122"/>
                <a:cs typeface="Quattrocento Sans" pitchFamily="34" charset="-120"/>
              </a:rPr>
              <a:t>Of Responses Automated</a:t>
            </a:r>
            <a:endParaRPr lang="en-US" sz="1400" dirty="0"/>
          </a:p>
        </p:txBody>
      </p:sp>
      <p:sp>
        <p:nvSpPr>
          <p:cNvPr id="12" name="Shape 9"/>
          <p:cNvSpPr/>
          <p:nvPr/>
        </p:nvSpPr>
        <p:spPr>
          <a:xfrm>
            <a:off x="10414000" y="1333500"/>
            <a:ext cx="12700" cy="1016000"/>
          </a:xfrm>
          <a:prstGeom prst="rect">
            <a:avLst/>
          </a:prstGeom>
          <a:solidFill>
            <a:srgbClr val="475569"/>
          </a:solidFill>
          <a:ln/>
        </p:spPr>
      </p:sp>
      <p:sp>
        <p:nvSpPr>
          <p:cNvPr id="13" name="Text 10"/>
          <p:cNvSpPr/>
          <p:nvPr/>
        </p:nvSpPr>
        <p:spPr>
          <a:xfrm>
            <a:off x="10668000" y="1206500"/>
            <a:ext cx="4572000" cy="698500"/>
          </a:xfrm>
          <a:prstGeom prst="rect">
            <a:avLst/>
          </a:prstGeom>
          <a:noFill/>
          <a:ln/>
        </p:spPr>
        <p:txBody>
          <a:bodyPr wrap="none" lIns="0" tIns="0" rIns="0" bIns="0" rtlCol="0" anchor="ctr"/>
          <a:lstStyle/>
          <a:p>
            <a:pPr algn="ctr">
              <a:lnSpc>
                <a:spcPct val="120000"/>
              </a:lnSpc>
            </a:pPr>
            <a:r>
              <a:rPr lang="en-US" sz="4200" dirty="0">
                <a:solidFill>
                  <a:srgbClr val="22D3EE"/>
                </a:solidFill>
                <a:latin typeface="Liter" pitchFamily="34" charset="0"/>
                <a:ea typeface="Liter" pitchFamily="34" charset="-122"/>
                <a:cs typeface="Liter" pitchFamily="34" charset="-120"/>
              </a:rPr>
              <a:t>35%</a:t>
            </a:r>
            <a:endParaRPr lang="en-US" sz="4200" dirty="0"/>
          </a:p>
        </p:txBody>
      </p:sp>
      <p:sp>
        <p:nvSpPr>
          <p:cNvPr id="14" name="Text 11"/>
          <p:cNvSpPr/>
          <p:nvPr/>
        </p:nvSpPr>
        <p:spPr>
          <a:xfrm>
            <a:off x="10668000" y="1968500"/>
            <a:ext cx="4572000" cy="381000"/>
          </a:xfrm>
          <a:prstGeom prst="rect">
            <a:avLst/>
          </a:prstGeom>
          <a:noFill/>
          <a:ln/>
        </p:spPr>
        <p:txBody>
          <a:bodyPr wrap="none" lIns="0" tIns="0" rIns="0" bIns="0" rtlCol="0" anchor="ctr"/>
          <a:lstStyle/>
          <a:p>
            <a:pPr algn="ctr">
              <a:lnSpc>
                <a:spcPct val="120000"/>
              </a:lnSpc>
            </a:pPr>
            <a:r>
              <a:rPr lang="en-US" sz="1400" dirty="0">
                <a:solidFill>
                  <a:srgbClr val="E2E8F0"/>
                </a:solidFill>
                <a:latin typeface="Quattrocento Sans" pitchFamily="34" charset="0"/>
                <a:ea typeface="Quattrocento Sans" pitchFamily="34" charset="-122"/>
                <a:cs typeface="Quattrocento Sans" pitchFamily="34" charset="-120"/>
              </a:rPr>
              <a:t>Reduction in Breach Probability</a:t>
            </a:r>
            <a:endParaRPr lang="en-US" sz="1400" dirty="0"/>
          </a:p>
        </p:txBody>
      </p:sp>
      <p:sp>
        <p:nvSpPr>
          <p:cNvPr id="15" name="Shape 12"/>
          <p:cNvSpPr/>
          <p:nvPr/>
        </p:nvSpPr>
        <p:spPr>
          <a:xfrm>
            <a:off x="762000" y="2794000"/>
            <a:ext cx="4699000" cy="4191000"/>
          </a:xfrm>
          <a:prstGeom prst="rect">
            <a:avLst/>
          </a:prstGeom>
          <a:solidFill>
            <a:srgbClr val="1E293B"/>
          </a:solidFill>
          <a:ln/>
        </p:spPr>
      </p:sp>
      <p:sp>
        <p:nvSpPr>
          <p:cNvPr id="16" name="Shape 13"/>
          <p:cNvSpPr/>
          <p:nvPr/>
        </p:nvSpPr>
        <p:spPr>
          <a:xfrm>
            <a:off x="1016000" y="2984500"/>
            <a:ext cx="355600" cy="355600"/>
          </a:xfrm>
          <a:custGeom>
            <a:avLst/>
            <a:gdLst/>
            <a:ahLst/>
            <a:cxnLst/>
            <a:rect l="l" t="t" r="r" b="b"/>
            <a:pathLst>
              <a:path w="355600" h="355600">
                <a:moveTo>
                  <a:pt x="22225" y="44450"/>
                </a:moveTo>
                <a:cubicBezTo>
                  <a:pt x="13266" y="44450"/>
                  <a:pt x="5140" y="49867"/>
                  <a:pt x="1667" y="58202"/>
                </a:cubicBezTo>
                <a:cubicBezTo>
                  <a:pt x="-1806" y="66536"/>
                  <a:pt x="139" y="76051"/>
                  <a:pt x="6529" y="82371"/>
                </a:cubicBezTo>
                <a:lnTo>
                  <a:pt x="133350" y="209262"/>
                </a:lnTo>
                <a:lnTo>
                  <a:pt x="133350" y="288925"/>
                </a:lnTo>
                <a:cubicBezTo>
                  <a:pt x="133350" y="294829"/>
                  <a:pt x="135711" y="300454"/>
                  <a:pt x="139879" y="304621"/>
                </a:cubicBezTo>
                <a:lnTo>
                  <a:pt x="184329" y="349071"/>
                </a:lnTo>
                <a:cubicBezTo>
                  <a:pt x="190718" y="355461"/>
                  <a:pt x="200233" y="357336"/>
                  <a:pt x="208568" y="353864"/>
                </a:cubicBezTo>
                <a:cubicBezTo>
                  <a:pt x="216902" y="350391"/>
                  <a:pt x="222250" y="342334"/>
                  <a:pt x="222250" y="333375"/>
                </a:cubicBezTo>
                <a:lnTo>
                  <a:pt x="222250" y="209262"/>
                </a:lnTo>
                <a:lnTo>
                  <a:pt x="349071" y="82441"/>
                </a:lnTo>
                <a:cubicBezTo>
                  <a:pt x="355461" y="76051"/>
                  <a:pt x="357336" y="66536"/>
                  <a:pt x="353864" y="58202"/>
                </a:cubicBezTo>
                <a:cubicBezTo>
                  <a:pt x="350391" y="49867"/>
                  <a:pt x="342334" y="44450"/>
                  <a:pt x="333375" y="44450"/>
                </a:cubicBezTo>
                <a:lnTo>
                  <a:pt x="22225" y="44450"/>
                </a:lnTo>
                <a:close/>
              </a:path>
            </a:pathLst>
          </a:custGeom>
          <a:solidFill>
            <a:srgbClr val="0EA5E9"/>
          </a:solidFill>
          <a:ln/>
        </p:spPr>
      </p:sp>
      <p:sp>
        <p:nvSpPr>
          <p:cNvPr id="17" name="Text 14"/>
          <p:cNvSpPr/>
          <p:nvPr/>
        </p:nvSpPr>
        <p:spPr>
          <a:xfrm>
            <a:off x="1473200" y="2984500"/>
            <a:ext cx="3683000" cy="3556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AI-Powered Alert Triage</a:t>
            </a:r>
            <a:endParaRPr lang="en-US" sz="1600" dirty="0"/>
          </a:p>
        </p:txBody>
      </p:sp>
      <p:sp>
        <p:nvSpPr>
          <p:cNvPr id="18" name="Text 15"/>
          <p:cNvSpPr/>
          <p:nvPr/>
        </p:nvSpPr>
        <p:spPr>
          <a:xfrm>
            <a:off x="1016000" y="3492500"/>
            <a:ext cx="4191000" cy="3302000"/>
          </a:xfrm>
          <a:prstGeom prst="rect">
            <a:avLst/>
          </a:prstGeom>
          <a:noFill/>
          <a:ln/>
        </p:spPr>
        <p:txBody>
          <a:bodyPr wrap="square" lIns="0" tIns="0" rIns="0" bIns="0" rtlCol="0" anchor="t"/>
          <a:lstStyle/>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Natural language processing</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ML-based threat scoring</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Contextual alert enrichment</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Automated false positive filtering</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Dynamic priority assignment</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Multi-source correlation</a:t>
            </a:r>
            <a:endParaRPr lang="en-US" sz="1400" dirty="0"/>
          </a:p>
          <a:p>
            <a:pPr algn="l">
              <a:lnSpc>
                <a:spcPct val="160000"/>
              </a:lnSpc>
              <a:spcBef>
                <a:spcPts val="1000"/>
              </a:spcBef>
            </a:pPr>
            <a:r>
              <a:rPr lang="en-US" sz="1400" dirty="0">
                <a:solidFill>
                  <a:srgbClr val="475569"/>
                </a:solidFill>
                <a:latin typeface="Quattrocento Sans" pitchFamily="34" charset="0"/>
                <a:ea typeface="Quattrocento Sans" pitchFamily="34" charset="-122"/>
                <a:cs typeface="Quattrocento Sans" pitchFamily="34" charset="-120"/>
              </a:rPr>
              <a:t>Eliminates alert fatigue by filtering noise before it reaches analysts</a:t>
            </a:r>
            <a:endParaRPr lang="en-US" sz="1400" dirty="0"/>
          </a:p>
        </p:txBody>
      </p:sp>
      <p:sp>
        <p:nvSpPr>
          <p:cNvPr id="19" name="Shape 16"/>
          <p:cNvSpPr/>
          <p:nvPr/>
        </p:nvSpPr>
        <p:spPr>
          <a:xfrm>
            <a:off x="5715000" y="2794000"/>
            <a:ext cx="4699000" cy="4191000"/>
          </a:xfrm>
          <a:prstGeom prst="rect">
            <a:avLst/>
          </a:prstGeom>
          <a:solidFill>
            <a:srgbClr val="1E293B"/>
          </a:solidFill>
          <a:ln/>
        </p:spPr>
      </p:sp>
      <p:sp>
        <p:nvSpPr>
          <p:cNvPr id="20" name="Shape 17"/>
          <p:cNvSpPr/>
          <p:nvPr/>
        </p:nvSpPr>
        <p:spPr>
          <a:xfrm>
            <a:off x="5969000" y="2984500"/>
            <a:ext cx="355600" cy="355600"/>
          </a:xfrm>
          <a:custGeom>
            <a:avLst/>
            <a:gdLst/>
            <a:ahLst/>
            <a:cxnLst/>
            <a:rect l="l" t="t" r="r" b="b"/>
            <a:pathLst>
              <a:path w="355600" h="355600">
                <a:moveTo>
                  <a:pt x="88900" y="22225"/>
                </a:moveTo>
                <a:lnTo>
                  <a:pt x="111125" y="22225"/>
                </a:lnTo>
                <a:cubicBezTo>
                  <a:pt x="123418" y="22225"/>
                  <a:pt x="133350" y="32157"/>
                  <a:pt x="133350" y="44450"/>
                </a:cubicBezTo>
                <a:lnTo>
                  <a:pt x="133350" y="66675"/>
                </a:lnTo>
                <a:lnTo>
                  <a:pt x="66675" y="66675"/>
                </a:lnTo>
                <a:lnTo>
                  <a:pt x="66675" y="44450"/>
                </a:lnTo>
                <a:cubicBezTo>
                  <a:pt x="66675" y="32157"/>
                  <a:pt x="76607" y="22225"/>
                  <a:pt x="88900" y="22225"/>
                </a:cubicBezTo>
                <a:close/>
                <a:moveTo>
                  <a:pt x="133350" y="88900"/>
                </a:moveTo>
                <a:lnTo>
                  <a:pt x="133350" y="311150"/>
                </a:lnTo>
                <a:cubicBezTo>
                  <a:pt x="133350" y="323443"/>
                  <a:pt x="123418" y="333375"/>
                  <a:pt x="111125" y="333375"/>
                </a:cubicBezTo>
                <a:lnTo>
                  <a:pt x="22225" y="333375"/>
                </a:lnTo>
                <a:cubicBezTo>
                  <a:pt x="9932" y="333375"/>
                  <a:pt x="0" y="323443"/>
                  <a:pt x="0" y="311150"/>
                </a:cubicBezTo>
                <a:lnTo>
                  <a:pt x="0" y="270103"/>
                </a:lnTo>
                <a:cubicBezTo>
                  <a:pt x="0" y="246072"/>
                  <a:pt x="6529" y="222458"/>
                  <a:pt x="18891" y="201831"/>
                </a:cubicBezTo>
                <a:cubicBezTo>
                  <a:pt x="28406" y="185995"/>
                  <a:pt x="34518" y="168354"/>
                  <a:pt x="36810" y="150019"/>
                </a:cubicBezTo>
                <a:lnTo>
                  <a:pt x="42019" y="108347"/>
                </a:lnTo>
                <a:cubicBezTo>
                  <a:pt x="43408" y="97234"/>
                  <a:pt x="52854" y="88900"/>
                  <a:pt x="64105" y="88900"/>
                </a:cubicBezTo>
                <a:lnTo>
                  <a:pt x="133419" y="88900"/>
                </a:lnTo>
                <a:close/>
                <a:moveTo>
                  <a:pt x="291564" y="88900"/>
                </a:moveTo>
                <a:cubicBezTo>
                  <a:pt x="302746" y="88900"/>
                  <a:pt x="312261" y="97234"/>
                  <a:pt x="313650" y="108347"/>
                </a:cubicBezTo>
                <a:lnTo>
                  <a:pt x="318790" y="150019"/>
                </a:lnTo>
                <a:cubicBezTo>
                  <a:pt x="321082" y="168354"/>
                  <a:pt x="327194" y="185995"/>
                  <a:pt x="336709" y="201831"/>
                </a:cubicBezTo>
                <a:cubicBezTo>
                  <a:pt x="349071" y="222458"/>
                  <a:pt x="355600" y="246072"/>
                  <a:pt x="355600" y="270103"/>
                </a:cubicBezTo>
                <a:lnTo>
                  <a:pt x="355600" y="311150"/>
                </a:lnTo>
                <a:cubicBezTo>
                  <a:pt x="355600" y="323443"/>
                  <a:pt x="345668" y="333375"/>
                  <a:pt x="333375" y="333375"/>
                </a:cubicBezTo>
                <a:lnTo>
                  <a:pt x="244475" y="333375"/>
                </a:lnTo>
                <a:cubicBezTo>
                  <a:pt x="232182" y="333375"/>
                  <a:pt x="222250" y="323443"/>
                  <a:pt x="222250" y="311150"/>
                </a:cubicBezTo>
                <a:lnTo>
                  <a:pt x="222250" y="88900"/>
                </a:lnTo>
                <a:lnTo>
                  <a:pt x="291564" y="88900"/>
                </a:lnTo>
                <a:close/>
                <a:moveTo>
                  <a:pt x="222250" y="44450"/>
                </a:moveTo>
                <a:cubicBezTo>
                  <a:pt x="222250" y="32157"/>
                  <a:pt x="232182" y="22225"/>
                  <a:pt x="244475" y="22225"/>
                </a:cubicBezTo>
                <a:lnTo>
                  <a:pt x="266700" y="22225"/>
                </a:lnTo>
                <a:cubicBezTo>
                  <a:pt x="278993" y="22225"/>
                  <a:pt x="288925" y="32157"/>
                  <a:pt x="288925" y="44450"/>
                </a:cubicBezTo>
                <a:lnTo>
                  <a:pt x="288925" y="66675"/>
                </a:lnTo>
                <a:lnTo>
                  <a:pt x="222250" y="66675"/>
                </a:lnTo>
                <a:lnTo>
                  <a:pt x="222250" y="44450"/>
                </a:lnTo>
                <a:close/>
                <a:moveTo>
                  <a:pt x="200025" y="88900"/>
                </a:moveTo>
                <a:lnTo>
                  <a:pt x="200025" y="200025"/>
                </a:lnTo>
                <a:lnTo>
                  <a:pt x="155575" y="200025"/>
                </a:lnTo>
                <a:lnTo>
                  <a:pt x="155575" y="88900"/>
                </a:lnTo>
                <a:lnTo>
                  <a:pt x="200025" y="88900"/>
                </a:lnTo>
                <a:close/>
              </a:path>
            </a:pathLst>
          </a:custGeom>
          <a:solidFill>
            <a:srgbClr val="22D3EE"/>
          </a:solidFill>
          <a:ln/>
        </p:spPr>
      </p:sp>
      <p:sp>
        <p:nvSpPr>
          <p:cNvPr id="21" name="Text 18"/>
          <p:cNvSpPr/>
          <p:nvPr/>
        </p:nvSpPr>
        <p:spPr>
          <a:xfrm>
            <a:off x="6426200" y="2984500"/>
            <a:ext cx="3683000" cy="3556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Autonomous Investigation</a:t>
            </a:r>
            <a:endParaRPr lang="en-US" sz="1600" dirty="0"/>
          </a:p>
        </p:txBody>
      </p:sp>
      <p:sp>
        <p:nvSpPr>
          <p:cNvPr id="22" name="Text 19"/>
          <p:cNvSpPr/>
          <p:nvPr/>
        </p:nvSpPr>
        <p:spPr>
          <a:xfrm>
            <a:off x="5969000" y="3492500"/>
            <a:ext cx="4191000" cy="3302000"/>
          </a:xfrm>
          <a:prstGeom prst="rect">
            <a:avLst/>
          </a:prstGeom>
          <a:noFill/>
          <a:ln/>
        </p:spPr>
        <p:txBody>
          <a:bodyPr wrap="square" lIns="0" tIns="0" rIns="0" bIns="0" rtlCol="0" anchor="t"/>
          <a:lstStyle/>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Automated evidence collection</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Attack timeline reconstruction</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Asset impact analysis</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IOC expansion and hunting</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Threat attribution</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Forensic data preservation</a:t>
            </a:r>
            <a:endParaRPr lang="en-US" sz="1400" dirty="0"/>
          </a:p>
          <a:p>
            <a:pPr algn="l">
              <a:lnSpc>
                <a:spcPct val="160000"/>
              </a:lnSpc>
              <a:spcBef>
                <a:spcPts val="1000"/>
              </a:spcBef>
            </a:pPr>
            <a:r>
              <a:rPr lang="en-US" sz="1400" dirty="0">
                <a:solidFill>
                  <a:srgbClr val="475569"/>
                </a:solidFill>
                <a:latin typeface="Quattrocento Sans" pitchFamily="34" charset="0"/>
                <a:ea typeface="Quattrocento Sans" pitchFamily="34" charset="-122"/>
                <a:cs typeface="Quattrocento Sans" pitchFamily="34" charset="-120"/>
              </a:rPr>
              <a:t>Builds complete attack timelines that would take hours manually</a:t>
            </a:r>
            <a:endParaRPr lang="en-US" sz="1400" dirty="0"/>
          </a:p>
        </p:txBody>
      </p:sp>
      <p:sp>
        <p:nvSpPr>
          <p:cNvPr id="23" name="Shape 20"/>
          <p:cNvSpPr/>
          <p:nvPr/>
        </p:nvSpPr>
        <p:spPr>
          <a:xfrm>
            <a:off x="10668000" y="2794000"/>
            <a:ext cx="4826000" cy="4191000"/>
          </a:xfrm>
          <a:prstGeom prst="rect">
            <a:avLst/>
          </a:prstGeom>
          <a:solidFill>
            <a:srgbClr val="1E293B"/>
          </a:solidFill>
          <a:ln/>
        </p:spPr>
      </p:sp>
      <p:sp>
        <p:nvSpPr>
          <p:cNvPr id="24" name="Shape 21"/>
          <p:cNvSpPr/>
          <p:nvPr/>
        </p:nvSpPr>
        <p:spPr>
          <a:xfrm>
            <a:off x="10922000" y="2984500"/>
            <a:ext cx="355600" cy="355600"/>
          </a:xfrm>
          <a:custGeom>
            <a:avLst/>
            <a:gdLst/>
            <a:ahLst/>
            <a:cxnLst/>
            <a:rect l="l" t="t" r="r" b="b"/>
            <a:pathLst>
              <a:path w="355600" h="355600">
                <a:moveTo>
                  <a:pt x="268923" y="-6876"/>
                </a:moveTo>
                <a:cubicBezTo>
                  <a:pt x="278368" y="-903"/>
                  <a:pt x="281861" y="9932"/>
                  <a:pt x="277574" y="19377"/>
                </a:cubicBezTo>
                <a:lnTo>
                  <a:pt x="215344" y="155575"/>
                </a:lnTo>
                <a:lnTo>
                  <a:pt x="330200" y="155575"/>
                </a:lnTo>
                <a:cubicBezTo>
                  <a:pt x="340916" y="155575"/>
                  <a:pt x="350441" y="161409"/>
                  <a:pt x="354092" y="170230"/>
                </a:cubicBezTo>
                <a:cubicBezTo>
                  <a:pt x="357743" y="179050"/>
                  <a:pt x="354648" y="188913"/>
                  <a:pt x="346472" y="194885"/>
                </a:cubicBezTo>
                <a:lnTo>
                  <a:pt x="117872" y="361573"/>
                </a:lnTo>
                <a:cubicBezTo>
                  <a:pt x="108903" y="368102"/>
                  <a:pt x="96123" y="368449"/>
                  <a:pt x="86678" y="362476"/>
                </a:cubicBezTo>
                <a:cubicBezTo>
                  <a:pt x="77232" y="356503"/>
                  <a:pt x="73739" y="345668"/>
                  <a:pt x="78026" y="336223"/>
                </a:cubicBezTo>
                <a:lnTo>
                  <a:pt x="140256" y="200025"/>
                </a:lnTo>
                <a:lnTo>
                  <a:pt x="25400" y="200025"/>
                </a:lnTo>
                <a:cubicBezTo>
                  <a:pt x="14684" y="200025"/>
                  <a:pt x="5159" y="194191"/>
                  <a:pt x="1508" y="185370"/>
                </a:cubicBezTo>
                <a:cubicBezTo>
                  <a:pt x="-2143" y="176550"/>
                  <a:pt x="952" y="166688"/>
                  <a:pt x="9128" y="160715"/>
                </a:cubicBezTo>
                <a:lnTo>
                  <a:pt x="237728" y="-5973"/>
                </a:lnTo>
                <a:cubicBezTo>
                  <a:pt x="246698" y="-12502"/>
                  <a:pt x="259477" y="-12849"/>
                  <a:pt x="268923" y="-6876"/>
                </a:cubicBezTo>
                <a:close/>
              </a:path>
            </a:pathLst>
          </a:custGeom>
          <a:solidFill>
            <a:srgbClr val="F59E0B"/>
          </a:solidFill>
          <a:ln/>
        </p:spPr>
      </p:sp>
      <p:sp>
        <p:nvSpPr>
          <p:cNvPr id="25" name="Text 22"/>
          <p:cNvSpPr/>
          <p:nvPr/>
        </p:nvSpPr>
        <p:spPr>
          <a:xfrm>
            <a:off x="11379200" y="2984500"/>
            <a:ext cx="3810000" cy="3556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Intelligent Response</a:t>
            </a:r>
            <a:endParaRPr lang="en-US" sz="1600" dirty="0"/>
          </a:p>
        </p:txBody>
      </p:sp>
      <p:sp>
        <p:nvSpPr>
          <p:cNvPr id="26" name="Text 23"/>
          <p:cNvSpPr/>
          <p:nvPr/>
        </p:nvSpPr>
        <p:spPr>
          <a:xfrm>
            <a:off x="10922000" y="3492500"/>
            <a:ext cx="4318000" cy="3302000"/>
          </a:xfrm>
          <a:prstGeom prst="rect">
            <a:avLst/>
          </a:prstGeom>
          <a:noFill/>
          <a:ln/>
        </p:spPr>
        <p:txBody>
          <a:bodyPr wrap="square" lIns="0" tIns="0" rIns="0" bIns="0" rtlCol="0" anchor="t"/>
          <a:lstStyle/>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Endpoint isolation &amp; quarantine</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Network segmentation</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User account management</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Automated threat blocking</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Evidence preservation</a:t>
            </a:r>
            <a:endParaRPr lang="en-US" sz="1400" dirty="0"/>
          </a:p>
          <a:p>
            <a:pPr algn="l">
              <a:lnSpc>
                <a:spcPct val="160000"/>
              </a:lnSpc>
            </a:pPr>
            <a:r>
              <a:rPr lang="en-US" sz="1400" dirty="0">
                <a:solidFill>
                  <a:srgbClr val="22D3EE"/>
                </a:solidFill>
                <a:latin typeface="Quattrocento Sans" pitchFamily="34" charset="0"/>
                <a:ea typeface="Quattrocento Sans" pitchFamily="34" charset="-122"/>
                <a:cs typeface="Quattrocento Sans" pitchFamily="34" charset="-120"/>
              </a:rPr>
              <a:t>■</a:t>
            </a:r>
            <a:pPr algn="l">
              <a:lnSpc>
                <a:spcPct val="160000"/>
              </a:lnSpc>
            </a:pPr>
            <a:r>
              <a:rPr lang="en-US" sz="1400" dirty="0">
                <a:solidFill>
                  <a:srgbClr val="E2E8F0"/>
                </a:solidFill>
                <a:latin typeface="Quattrocento Sans" pitchFamily="34" charset="0"/>
                <a:ea typeface="Quattrocento Sans" pitchFamily="34" charset="-122"/>
                <a:cs typeface="Quattrocento Sans" pitchFamily="34" charset="-120"/>
              </a:rPr>
              <a:t> Stakeholder notification</a:t>
            </a:r>
            <a:endParaRPr lang="en-US" sz="1400" dirty="0"/>
          </a:p>
          <a:p>
            <a:pPr algn="l">
              <a:lnSpc>
                <a:spcPct val="160000"/>
              </a:lnSpc>
              <a:spcBef>
                <a:spcPts val="1000"/>
              </a:spcBef>
            </a:pPr>
            <a:r>
              <a:rPr lang="en-US" sz="1400" dirty="0">
                <a:solidFill>
                  <a:srgbClr val="475569"/>
                </a:solidFill>
                <a:latin typeface="Quattrocento Sans" pitchFamily="34" charset="0"/>
                <a:ea typeface="Quattrocento Sans" pitchFamily="34" charset="-122"/>
                <a:cs typeface="Quattrocento Sans" pitchFamily="34" charset="-120"/>
              </a:rPr>
              <a:t>Human-in-the-loop checkpoints for high-risk decisions</a:t>
            </a:r>
            <a:endParaRPr lang="en-US" sz="1400" dirty="0"/>
          </a:p>
        </p:txBody>
      </p:sp>
      <p:sp>
        <p:nvSpPr>
          <p:cNvPr id="27" name="Shape 24"/>
          <p:cNvSpPr/>
          <p:nvPr/>
        </p:nvSpPr>
        <p:spPr>
          <a:xfrm>
            <a:off x="762000" y="7239000"/>
            <a:ext cx="14732000" cy="762000"/>
          </a:xfrm>
          <a:prstGeom prst="rect">
            <a:avLst/>
          </a:prstGeom>
          <a:solidFill>
            <a:srgbClr val="1E293B"/>
          </a:solidFill>
          <a:ln/>
        </p:spPr>
      </p:sp>
      <p:sp>
        <p:nvSpPr>
          <p:cNvPr id="28" name="Shape 25"/>
          <p:cNvSpPr/>
          <p:nvPr/>
        </p:nvSpPr>
        <p:spPr>
          <a:xfrm>
            <a:off x="762000" y="7239000"/>
            <a:ext cx="50800" cy="762000"/>
          </a:xfrm>
          <a:prstGeom prst="rect">
            <a:avLst/>
          </a:prstGeom>
          <a:solidFill>
            <a:srgbClr val="F59E0B"/>
          </a:solidFill>
          <a:ln/>
        </p:spPr>
      </p:sp>
      <p:sp>
        <p:nvSpPr>
          <p:cNvPr id="29" name="Text 26"/>
          <p:cNvSpPr/>
          <p:nvPr/>
        </p:nvSpPr>
        <p:spPr>
          <a:xfrm>
            <a:off x="1016000" y="7239000"/>
            <a:ext cx="14224000" cy="762000"/>
          </a:xfrm>
          <a:prstGeom prst="rect">
            <a:avLst/>
          </a:prstGeom>
          <a:noFill/>
          <a:ln/>
        </p:spPr>
        <p:txBody>
          <a:bodyPr wrap="square" lIns="0" tIns="0" rIns="0" bIns="0" rtlCol="0" anchor="ctr"/>
          <a:lstStyle/>
          <a:p>
            <a:pPr algn="l">
              <a:lnSpc>
                <a:spcPct val="120000"/>
              </a:lnSpc>
            </a:pPr>
            <a:r>
              <a:rPr lang="en-US" sz="1500" b="1" dirty="0">
                <a:solidFill>
                  <a:srgbClr val="E2E8F0"/>
                </a:solidFill>
                <a:latin typeface="Quattrocento Sans" pitchFamily="34" charset="0"/>
                <a:ea typeface="Quattrocento Sans" pitchFamily="34" charset="-122"/>
                <a:cs typeface="Quattrocento Sans" pitchFamily="34" charset="-120"/>
              </a:rPr>
              <a:t>Human-in-the-Loop:</a:t>
            </a:r>
            <a:pPr algn="l">
              <a:lnSpc>
                <a:spcPct val="120000"/>
              </a:lnSpc>
            </a:pPr>
            <a:r>
              <a:rPr lang="en-US" sz="1500" dirty="0">
                <a:solidFill>
                  <a:srgbClr val="E2E8F0"/>
                </a:solidFill>
                <a:latin typeface="Quattrocento Sans" pitchFamily="34" charset="0"/>
                <a:ea typeface="Quattrocento Sans" pitchFamily="34" charset="-122"/>
                <a:cs typeface="Quattrocento Sans" pitchFamily="34" charset="-120"/>
              </a:rPr>
              <a:t> High-confidence, well-understood scenarios trigger autonomous response. Cases requiring analyst judgment use one-click approval. Autonomy is calibrated to organizational risk tolerance — not an all-or-nothing model.</a:t>
            </a:r>
            <a:endParaRPr lang="en-US" sz="1500" dirty="0"/>
          </a:p>
        </p:txBody>
      </p:sp>
      <p:sp>
        <p:nvSpPr>
          <p:cNvPr id="30" name="Text 27"/>
          <p:cNvSpPr/>
          <p:nvPr/>
        </p:nvSpPr>
        <p:spPr>
          <a:xfrm>
            <a:off x="762000" y="8763000"/>
            <a:ext cx="8890000" cy="254000"/>
          </a:xfrm>
          <a:prstGeom prst="rect">
            <a:avLst/>
          </a:prstGeom>
          <a:noFill/>
          <a:ln/>
        </p:spPr>
        <p:txBody>
          <a:bodyPr wrap="none" lIns="0" tIns="0" rIns="0" bIns="0" rtlCol="0" anchor="ctr"/>
          <a:lstStyle/>
          <a:p>
            <a:pPr algn="l">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Source: Torq HyperSOC Platform 2026</a:t>
            </a:r>
            <a:endParaRPr lang="en-US" sz="1200" dirty="0"/>
          </a:p>
        </p:txBody>
      </p:sp>
      <p:sp>
        <p:nvSpPr>
          <p:cNvPr id="31" name="Text 28"/>
          <p:cNvSpPr/>
          <p:nvPr/>
        </p:nvSpPr>
        <p:spPr>
          <a:xfrm>
            <a:off x="14986000" y="8763000"/>
            <a:ext cx="762000" cy="254000"/>
          </a:xfrm>
          <a:prstGeom prst="rect">
            <a:avLst/>
          </a:prstGeom>
          <a:noFill/>
          <a:ln/>
        </p:spPr>
        <p:txBody>
          <a:bodyPr wrap="none" lIns="0" tIns="0" rIns="0" bIns="0" rtlCol="0" anchor="ctr"/>
          <a:lstStyle/>
          <a:p>
            <a:pPr algn="r">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08</a:t>
            </a:r>
            <a:endParaRPr lang="en-US" sz="1200" dirty="0"/>
          </a:p>
        </p:txBody>
      </p:sp>
    </p:spTree>
  </p:cSld>
  <p:clrMapOvr>
    <a:masterClrMapping/>
  </p:clrMapOvr>
  <p:transition>
    <p:fade/>
    <p:spd val="med"/>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2A"/>
        </a:solidFill>
      </p:bgPr>
    </p:bg>
    <p:spTree>
      <p:nvGrpSpPr>
        <p:cNvPr id="1" name=""/>
        <p:cNvGrpSpPr/>
        <p:nvPr/>
      </p:nvGrpSpPr>
      <p:grpSpPr>
        <a:xfrm>
          <a:off x="0" y="0"/>
          <a:ext cx="0" cy="0"/>
          <a:chOff x="0" y="0"/>
          <a:chExt cx="0" cy="0"/>
        </a:xfrm>
      </p:grpSpPr>
      <p:sp>
        <p:nvSpPr>
          <p:cNvPr id="3" name="Shape 0"/>
          <p:cNvSpPr/>
          <p:nvPr/>
        </p:nvSpPr>
        <p:spPr>
          <a:xfrm>
            <a:off x="0" y="0"/>
            <a:ext cx="16256000" cy="50800"/>
          </a:xfrm>
          <a:prstGeom prst="rect">
            <a:avLst/>
          </a:prstGeom>
          <a:solidFill>
            <a:srgbClr val="0EA5E9"/>
          </a:solidFill>
          <a:ln/>
        </p:spPr>
      </p:sp>
      <p:sp>
        <p:nvSpPr>
          <p:cNvPr id="4" name="Text 1"/>
          <p:cNvSpPr/>
          <p:nvPr/>
        </p:nvSpPr>
        <p:spPr>
          <a:xfrm>
            <a:off x="762000" y="381000"/>
            <a:ext cx="7620000" cy="482600"/>
          </a:xfrm>
          <a:prstGeom prst="rect">
            <a:avLst/>
          </a:prstGeom>
          <a:noFill/>
          <a:ln/>
        </p:spPr>
        <p:txBody>
          <a:bodyPr wrap="none" lIns="0" tIns="0" rIns="0" bIns="0" rtlCol="0" anchor="ctr"/>
          <a:lstStyle/>
          <a:p>
            <a:pPr algn="l">
              <a:lnSpc>
                <a:spcPct val="120000"/>
              </a:lnSpc>
            </a:pPr>
            <a:r>
              <a:rPr lang="en-US" sz="2800" dirty="0">
                <a:solidFill>
                  <a:srgbClr val="0EA5E9"/>
                </a:solidFill>
                <a:latin typeface="Liter" pitchFamily="34" charset="0"/>
                <a:ea typeface="Liter" pitchFamily="34" charset="-122"/>
                <a:cs typeface="Liter" pitchFamily="34" charset="-120"/>
              </a:rPr>
              <a:t>SOC Automation</a:t>
            </a:r>
            <a:endParaRPr lang="en-US" sz="2800" dirty="0"/>
          </a:p>
        </p:txBody>
      </p:sp>
      <p:sp>
        <p:nvSpPr>
          <p:cNvPr id="5" name="Shape 2"/>
          <p:cNvSpPr/>
          <p:nvPr/>
        </p:nvSpPr>
        <p:spPr>
          <a:xfrm>
            <a:off x="762000" y="939800"/>
            <a:ext cx="14732000" cy="12700"/>
          </a:xfrm>
          <a:prstGeom prst="rect">
            <a:avLst/>
          </a:prstGeom>
          <a:solidFill>
            <a:srgbClr val="475569"/>
          </a:solidFill>
          <a:ln/>
        </p:spPr>
      </p:sp>
      <p:sp>
        <p:nvSpPr>
          <p:cNvPr id="6" name="Text 3"/>
          <p:cNvSpPr/>
          <p:nvPr/>
        </p:nvSpPr>
        <p:spPr>
          <a:xfrm>
            <a:off x="762000" y="1143000"/>
            <a:ext cx="5080000" cy="330200"/>
          </a:xfrm>
          <a:prstGeom prst="rect">
            <a:avLst/>
          </a:prstGeom>
          <a:noFill/>
          <a:ln/>
        </p:spPr>
        <p:txBody>
          <a:bodyPr wrap="none" lIns="0" tIns="0" rIns="0" bIns="0" rtlCol="0" anchor="ctr"/>
          <a:lstStyle/>
          <a:p>
            <a:pPr algn="l">
              <a:lnSpc>
                <a:spcPct val="120000"/>
              </a:lnSpc>
            </a:pPr>
            <a:r>
              <a:rPr lang="en-US" sz="1600" spc="200" kern="0" dirty="0">
                <a:solidFill>
                  <a:srgbClr val="FFFFFF"/>
                </a:solidFill>
                <a:latin typeface="Liter" pitchFamily="34" charset="0"/>
                <a:ea typeface="Liter" pitchFamily="34" charset="-122"/>
                <a:cs typeface="Liter" pitchFamily="34" charset="-120"/>
              </a:rPr>
              <a:t>EVOLUTION OF THE SOC MODEL</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62000" y="1587500"/>
          <a:ext cx="8382000" cy="3048000"/>
        </p:xfrm>
        <a:graphic>
          <a:graphicData uri="http://schemas.openxmlformats.org/drawingml/2006/table">
            <a:tbl>
              <a:tblPr/>
              <a:tblGrid>
                <a:gridCol w="1844040"/>
                <a:gridCol w="2179320"/>
                <a:gridCol w="2179320"/>
                <a:gridCol w="2179320"/>
              </a:tblGrid>
              <a:tr h="548640">
                <a:tc>
                  <a:txBody>
                    <a:bodyPr/>
                    <a:lstStyle/>
                    <a:p>
                      <a:pPr algn="ctr"/>
                      <a:r>
                        <a:rPr lang="en-US" sz="1200" b="1" dirty="0">
                          <a:solidFill>
                            <a:srgbClr val="FFFFFF"/>
                          </a:solidFill>
                          <a:latin typeface="Quattrocento Sans" pitchFamily="34" charset="0"/>
                          <a:ea typeface="Quattrocento Sans" pitchFamily="34" charset="-122"/>
                          <a:cs typeface="Quattrocento Sans" pitchFamily="34" charset="-120"/>
                        </a:rPr>
                        <a:t>Feature</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EA5E9"/>
                    </a:solidFill>
                  </a:tcPr>
                </a:tc>
                <a:tc>
                  <a:txBody>
                    <a:bodyPr/>
                    <a:lstStyle/>
                    <a:p>
                      <a:pPr algn="ctr"/>
                      <a:r>
                        <a:rPr lang="en-US" sz="1200" b="1" dirty="0">
                          <a:solidFill>
                            <a:srgbClr val="FFFFFF"/>
                          </a:solidFill>
                          <a:latin typeface="Quattrocento Sans" pitchFamily="34" charset="0"/>
                          <a:ea typeface="Quattrocento Sans" pitchFamily="34" charset="-122"/>
                          <a:cs typeface="Quattrocento Sans" pitchFamily="34" charset="-120"/>
                        </a:rPr>
                        <a:t>Traditional SOC</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EA5E9"/>
                    </a:solidFill>
                  </a:tcPr>
                </a:tc>
                <a:tc>
                  <a:txBody>
                    <a:bodyPr/>
                    <a:lstStyle/>
                    <a:p>
                      <a:pPr algn="ctr"/>
                      <a:r>
                        <a:rPr lang="en-US" sz="1200" b="1" dirty="0">
                          <a:solidFill>
                            <a:srgbClr val="FFFFFF"/>
                          </a:solidFill>
                          <a:latin typeface="Quattrocento Sans" pitchFamily="34" charset="0"/>
                          <a:ea typeface="Quattrocento Sans" pitchFamily="34" charset="-122"/>
                          <a:cs typeface="Quattrocento Sans" pitchFamily="34" charset="-120"/>
                        </a:rPr>
                        <a:t>Automated SOC</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EA5E9"/>
                    </a:solidFill>
                  </a:tcPr>
                </a:tc>
                <a:tc>
                  <a:txBody>
                    <a:bodyPr/>
                    <a:lstStyle/>
                    <a:p>
                      <a:pPr algn="ctr"/>
                      <a:r>
                        <a:rPr lang="en-US" sz="1200" b="1" dirty="0">
                          <a:solidFill>
                            <a:srgbClr val="FFFFFF"/>
                          </a:solidFill>
                          <a:latin typeface="Quattrocento Sans" pitchFamily="34" charset="0"/>
                          <a:ea typeface="Quattrocento Sans" pitchFamily="34" charset="-122"/>
                          <a:cs typeface="Quattrocento Sans" pitchFamily="34" charset="-120"/>
                        </a:rPr>
                        <a:t>Autonomous SOC</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EA5E9"/>
                    </a:solidFill>
                  </a:tcPr>
                </a:tc>
              </a:tr>
              <a:tr h="624840">
                <a:tc>
                  <a:txBody>
                    <a:bodyPr/>
                    <a:lstStyle/>
                    <a:p>
                      <a:pPr algn="ctr"/>
                      <a:r>
                        <a:rPr lang="en-US" sz="1100" dirty="0">
                          <a:solidFill>
                            <a:srgbClr val="E2E8F0"/>
                          </a:solidFill>
                          <a:latin typeface="Quattrocento Sans" pitchFamily="34" charset="0"/>
                          <a:ea typeface="Quattrocento Sans" pitchFamily="34" charset="-122"/>
                          <a:cs typeface="Quattrocento Sans" pitchFamily="34" charset="-120"/>
                        </a:rPr>
                        <a:t>Analyst Role</a:t>
                      </a:r>
                      <a:endParaRPr lang="en-US" sz="11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c>
                  <a:txBody>
                    <a:bodyPr/>
                    <a:lstStyle/>
                    <a:p>
                      <a:pPr algn="ctr"/>
                      <a:r>
                        <a:rPr lang="en-US" sz="1100" dirty="0">
                          <a:solidFill>
                            <a:srgbClr val="E2E8F0"/>
                          </a:solidFill>
                          <a:latin typeface="Quattrocento Sans" pitchFamily="34" charset="0"/>
                          <a:ea typeface="Quattrocento Sans" pitchFamily="34" charset="-122"/>
                          <a:cs typeface="Quattrocento Sans" pitchFamily="34" charset="-120"/>
                        </a:rPr>
                        <a:t>High manual effort</a:t>
                      </a:r>
                      <a:endParaRPr lang="en-US" sz="11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c>
                  <a:txBody>
                    <a:bodyPr/>
                    <a:lstStyle/>
                    <a:p>
                      <a:pPr algn="ctr"/>
                      <a:r>
                        <a:rPr lang="en-US" sz="1100" dirty="0">
                          <a:solidFill>
                            <a:srgbClr val="E2E8F0"/>
                          </a:solidFill>
                          <a:latin typeface="Quattrocento Sans" pitchFamily="34" charset="0"/>
                          <a:ea typeface="Quattrocento Sans" pitchFamily="34" charset="-122"/>
                          <a:cs typeface="Quattrocento Sans" pitchFamily="34" charset="-120"/>
                        </a:rPr>
                        <a:t>Medium oversight</a:t>
                      </a:r>
                      <a:endParaRPr lang="en-US" sz="11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c>
                  <a:txBody>
                    <a:bodyPr/>
                    <a:lstStyle/>
                    <a:p>
                      <a:pPr algn="ctr"/>
                      <a:r>
                        <a:rPr lang="en-US" sz="1100" dirty="0">
                          <a:solidFill>
                            <a:srgbClr val="E2E8F0"/>
                          </a:solidFill>
                          <a:latin typeface="Quattrocento Sans" pitchFamily="34" charset="0"/>
                          <a:ea typeface="Quattrocento Sans" pitchFamily="34" charset="-122"/>
                          <a:cs typeface="Quattrocento Sans" pitchFamily="34" charset="-120"/>
                        </a:rPr>
                        <a:t>Minimal / strategic</a:t>
                      </a:r>
                      <a:endParaRPr lang="en-US" sz="11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r>
              <a:tr h="624840">
                <a:tc>
                  <a:txBody>
                    <a:bodyPr/>
                    <a:lstStyle/>
                    <a:p>
                      <a:pPr algn="ctr"/>
                      <a:r>
                        <a:rPr lang="en-US" sz="1100" dirty="0">
                          <a:solidFill>
                            <a:srgbClr val="E2E8F0"/>
                          </a:solidFill>
                          <a:latin typeface="Quattrocento Sans" pitchFamily="34" charset="0"/>
                          <a:ea typeface="Quattrocento Sans" pitchFamily="34" charset="-122"/>
                          <a:cs typeface="Quattrocento Sans" pitchFamily="34" charset="-120"/>
                        </a:rPr>
                        <a:t>Key Tech</a:t>
                      </a:r>
                      <a:endParaRPr lang="en-US" sz="11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c>
                  <a:txBody>
                    <a:bodyPr/>
                    <a:lstStyle/>
                    <a:p>
                      <a:pPr algn="ctr"/>
                      <a:r>
                        <a:rPr lang="en-US" sz="1100" dirty="0">
                          <a:solidFill>
                            <a:srgbClr val="E2E8F0"/>
                          </a:solidFill>
                          <a:latin typeface="Quattrocento Sans" pitchFamily="34" charset="0"/>
                          <a:ea typeface="Quattrocento Sans" pitchFamily="34" charset="-122"/>
                          <a:cs typeface="Quattrocento Sans" pitchFamily="34" charset="-120"/>
                        </a:rPr>
                        <a:t>SIEM, IDS, manual</a:t>
                      </a:r>
                      <a:endParaRPr lang="en-US" sz="11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c>
                  <a:txBody>
                    <a:bodyPr/>
                    <a:lstStyle/>
                    <a:p>
                      <a:pPr algn="ctr"/>
                      <a:r>
                        <a:rPr lang="en-US" sz="1100" dirty="0">
                          <a:solidFill>
                            <a:srgbClr val="E2E8F0"/>
                          </a:solidFill>
                          <a:latin typeface="Quattrocento Sans" pitchFamily="34" charset="0"/>
                          <a:ea typeface="Quattrocento Sans" pitchFamily="34" charset="-122"/>
                          <a:cs typeface="Quattrocento Sans" pitchFamily="34" charset="-120"/>
                        </a:rPr>
                        <a:t>SOAR, basic ML</a:t>
                      </a:r>
                      <a:endParaRPr lang="en-US" sz="11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c>
                  <a:txBody>
                    <a:bodyPr/>
                    <a:lstStyle/>
                    <a:p>
                      <a:pPr algn="ctr"/>
                      <a:r>
                        <a:rPr lang="en-US" sz="1100" dirty="0">
                          <a:solidFill>
                            <a:srgbClr val="E2E8F0"/>
                          </a:solidFill>
                          <a:latin typeface="Quattrocento Sans" pitchFamily="34" charset="0"/>
                          <a:ea typeface="Quattrocento Sans" pitchFamily="34" charset="-122"/>
                          <a:cs typeface="Quattrocento Sans" pitchFamily="34" charset="-120"/>
                        </a:rPr>
                        <a:t>AI agents, LLMs, RL</a:t>
                      </a:r>
                      <a:endParaRPr lang="en-US" sz="11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r>
              <a:tr h="624840">
                <a:tc>
                  <a:txBody>
                    <a:bodyPr/>
                    <a:lstStyle/>
                    <a:p>
                      <a:pPr algn="ctr"/>
                      <a:r>
                        <a:rPr lang="en-US" sz="1100" dirty="0">
                          <a:solidFill>
                            <a:srgbClr val="E2E8F0"/>
                          </a:solidFill>
                          <a:latin typeface="Quattrocento Sans" pitchFamily="34" charset="0"/>
                          <a:ea typeface="Quattrocento Sans" pitchFamily="34" charset="-122"/>
                          <a:cs typeface="Quattrocento Sans" pitchFamily="34" charset="-120"/>
                        </a:rPr>
                        <a:t>Decision</a:t>
                      </a:r>
                      <a:endParaRPr lang="en-US" sz="11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c>
                  <a:txBody>
                    <a:bodyPr/>
                    <a:lstStyle/>
                    <a:p>
                      <a:pPr algn="ctr"/>
                      <a:r>
                        <a:rPr lang="en-US" sz="1100" dirty="0">
                          <a:solidFill>
                            <a:srgbClr val="E2E8F0"/>
                          </a:solidFill>
                          <a:latin typeface="Quattrocento Sans" pitchFamily="34" charset="0"/>
                          <a:ea typeface="Quattrocento Sans" pitchFamily="34" charset="-122"/>
                          <a:cs typeface="Quattrocento Sans" pitchFamily="34" charset="-120"/>
                        </a:rPr>
                        <a:t>Human-driven</a:t>
                      </a:r>
                      <a:endParaRPr lang="en-US" sz="11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c>
                  <a:txBody>
                    <a:bodyPr/>
                    <a:lstStyle/>
                    <a:p>
                      <a:pPr algn="ctr"/>
                      <a:r>
                        <a:rPr lang="en-US" sz="1100" dirty="0">
                          <a:solidFill>
                            <a:srgbClr val="E2E8F0"/>
                          </a:solidFill>
                          <a:latin typeface="Quattrocento Sans" pitchFamily="34" charset="0"/>
                          <a:ea typeface="Quattrocento Sans" pitchFamily="34" charset="-122"/>
                          <a:cs typeface="Quattrocento Sans" pitchFamily="34" charset="-120"/>
                        </a:rPr>
                        <a:t>Rule-based</a:t>
                      </a:r>
                      <a:endParaRPr lang="en-US" sz="11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c>
                  <a:txBody>
                    <a:bodyPr/>
                    <a:lstStyle/>
                    <a:p>
                      <a:pPr algn="ctr"/>
                      <a:r>
                        <a:rPr lang="en-US" sz="1100" dirty="0">
                          <a:solidFill>
                            <a:srgbClr val="E2E8F0"/>
                          </a:solidFill>
                          <a:latin typeface="Quattrocento Sans" pitchFamily="34" charset="0"/>
                          <a:ea typeface="Quattrocento Sans" pitchFamily="34" charset="-122"/>
                          <a:cs typeface="Quattrocento Sans" pitchFamily="34" charset="-120"/>
                        </a:rPr>
                        <a:t>AI-driven, adaptive</a:t>
                      </a:r>
                      <a:endParaRPr lang="en-US" sz="11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r>
              <a:tr h="624840">
                <a:tc>
                  <a:txBody>
                    <a:bodyPr/>
                    <a:lstStyle/>
                    <a:p>
                      <a:pPr algn="ctr"/>
                      <a:r>
                        <a:rPr lang="en-US" sz="1100" dirty="0">
                          <a:solidFill>
                            <a:srgbClr val="E2E8F0"/>
                          </a:solidFill>
                          <a:latin typeface="Quattrocento Sans" pitchFamily="34" charset="0"/>
                          <a:ea typeface="Quattrocento Sans" pitchFamily="34" charset="-122"/>
                          <a:cs typeface="Quattrocento Sans" pitchFamily="34" charset="-120"/>
                        </a:rPr>
                        <a:t>Scalability</a:t>
                      </a:r>
                      <a:endParaRPr lang="en-US" sz="11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c>
                  <a:txBody>
                    <a:bodyPr/>
                    <a:lstStyle/>
                    <a:p>
                      <a:pPr algn="ctr"/>
                      <a:r>
                        <a:rPr lang="en-US" sz="1100" dirty="0">
                          <a:solidFill>
                            <a:srgbClr val="E2E8F0"/>
                          </a:solidFill>
                          <a:latin typeface="Quattrocento Sans" pitchFamily="34" charset="0"/>
                          <a:ea typeface="Quattrocento Sans" pitchFamily="34" charset="-122"/>
                          <a:cs typeface="Quattrocento Sans" pitchFamily="34" charset="-120"/>
                        </a:rPr>
                        <a:t>Limited</a:t>
                      </a:r>
                      <a:endParaRPr lang="en-US" sz="11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c>
                  <a:txBody>
                    <a:bodyPr/>
                    <a:lstStyle/>
                    <a:p>
                      <a:pPr algn="ctr"/>
                      <a:r>
                        <a:rPr lang="en-US" sz="1100" dirty="0">
                          <a:solidFill>
                            <a:srgbClr val="E2E8F0"/>
                          </a:solidFill>
                          <a:latin typeface="Quattrocento Sans" pitchFamily="34" charset="0"/>
                          <a:ea typeface="Quattrocento Sans" pitchFamily="34" charset="-122"/>
                          <a:cs typeface="Quattrocento Sans" pitchFamily="34" charset="-120"/>
                        </a:rPr>
                        <a:t>Moderate</a:t>
                      </a:r>
                      <a:endParaRPr lang="en-US" sz="11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c>
                  <a:txBody>
                    <a:bodyPr/>
                    <a:lstStyle/>
                    <a:p>
                      <a:pPr algn="ctr"/>
                      <a:r>
                        <a:rPr lang="en-US" sz="1100" dirty="0">
                          <a:solidFill>
                            <a:srgbClr val="E2E8F0"/>
                          </a:solidFill>
                          <a:latin typeface="Quattrocento Sans" pitchFamily="34" charset="0"/>
                          <a:ea typeface="Quattrocento Sans" pitchFamily="34" charset="-122"/>
                          <a:cs typeface="Quattrocento Sans" pitchFamily="34" charset="-120"/>
                        </a:rPr>
                        <a:t>High</a:t>
                      </a:r>
                      <a:endParaRPr lang="en-US" sz="11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r>
            </a:tbl>
          </a:graphicData>
        </a:graphic>
      </p:graphicFrame>
      <p:sp>
        <p:nvSpPr>
          <p:cNvPr id="8" name="Shape 4"/>
          <p:cNvSpPr/>
          <p:nvPr/>
        </p:nvSpPr>
        <p:spPr>
          <a:xfrm>
            <a:off x="762000" y="4953000"/>
            <a:ext cx="8382000" cy="1841500"/>
          </a:xfrm>
          <a:prstGeom prst="rect">
            <a:avLst/>
          </a:prstGeom>
          <a:solidFill>
            <a:srgbClr val="1E293B"/>
          </a:solidFill>
          <a:ln/>
        </p:spPr>
      </p:sp>
      <p:sp>
        <p:nvSpPr>
          <p:cNvPr id="9" name="Shape 5"/>
          <p:cNvSpPr/>
          <p:nvPr/>
        </p:nvSpPr>
        <p:spPr>
          <a:xfrm>
            <a:off x="762000" y="4953000"/>
            <a:ext cx="50800" cy="1841500"/>
          </a:xfrm>
          <a:prstGeom prst="rect">
            <a:avLst/>
          </a:prstGeom>
          <a:solidFill>
            <a:srgbClr val="10B981"/>
          </a:solidFill>
          <a:ln/>
        </p:spPr>
      </p:sp>
      <p:sp>
        <p:nvSpPr>
          <p:cNvPr id="10" name="Text 6"/>
          <p:cNvSpPr/>
          <p:nvPr/>
        </p:nvSpPr>
        <p:spPr>
          <a:xfrm>
            <a:off x="1016000" y="5054600"/>
            <a:ext cx="2540000" cy="254000"/>
          </a:xfrm>
          <a:prstGeom prst="rect">
            <a:avLst/>
          </a:prstGeom>
          <a:noFill/>
          <a:ln/>
        </p:spPr>
        <p:txBody>
          <a:bodyPr wrap="none" lIns="0" tIns="0" rIns="0" bIns="0" rtlCol="0" anchor="ctr"/>
          <a:lstStyle/>
          <a:p>
            <a:pPr algn="l">
              <a:lnSpc>
                <a:spcPct val="120000"/>
              </a:lnSpc>
            </a:pPr>
            <a:r>
              <a:rPr lang="en-US" sz="1200" spc="200" kern="0" dirty="0">
                <a:solidFill>
                  <a:srgbClr val="10B981"/>
                </a:solidFill>
                <a:latin typeface="Liter" pitchFamily="34" charset="0"/>
                <a:ea typeface="Liter" pitchFamily="34" charset="-122"/>
                <a:cs typeface="Liter" pitchFamily="34" charset="-120"/>
              </a:rPr>
              <a:t>CASE STUDY</a:t>
            </a:r>
            <a:endParaRPr lang="en-US" sz="1200" dirty="0"/>
          </a:p>
        </p:txBody>
      </p:sp>
      <p:sp>
        <p:nvSpPr>
          <p:cNvPr id="11" name="Text 7"/>
          <p:cNvSpPr/>
          <p:nvPr/>
        </p:nvSpPr>
        <p:spPr>
          <a:xfrm>
            <a:off x="1016000" y="5334000"/>
            <a:ext cx="5080000" cy="3048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Grammarly — 90% Efficiency Gain</a:t>
            </a:r>
            <a:endParaRPr lang="en-US" sz="1600" dirty="0"/>
          </a:p>
        </p:txBody>
      </p:sp>
      <p:sp>
        <p:nvSpPr>
          <p:cNvPr id="12" name="Text 8"/>
          <p:cNvSpPr/>
          <p:nvPr/>
        </p:nvSpPr>
        <p:spPr>
          <a:xfrm>
            <a:off x="1016000" y="5689600"/>
            <a:ext cx="7874000" cy="1016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Grammarly integrated AI-enabled workflows for SOC automation, cutting Tier-1 investigation times from </a:t>
            </a:r>
            <a:pPr algn="l">
              <a:lnSpc>
                <a:spcPct val="150000"/>
              </a:lnSpc>
            </a:pPr>
            <a:r>
              <a:rPr lang="en-US" sz="1400" b="1" dirty="0">
                <a:solidFill>
                  <a:srgbClr val="E2E8F0"/>
                </a:solidFill>
                <a:latin typeface="Quattrocento Sans" pitchFamily="34" charset="0"/>
                <a:ea typeface="Quattrocento Sans" pitchFamily="34" charset="-122"/>
                <a:cs typeface="Quattrocento Sans" pitchFamily="34" charset="-120"/>
              </a:rPr>
              <a:t>45 minutes to 4 minutes</a:t>
            </a:r>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 Human-in-the-loop approach: start small, iterate with real data, scale gradually.</a:t>
            </a:r>
            <a:endParaRPr lang="en-US" sz="1400" dirty="0"/>
          </a:p>
        </p:txBody>
      </p:sp>
      <p:sp>
        <p:nvSpPr>
          <p:cNvPr id="13" name="Text 9"/>
          <p:cNvSpPr/>
          <p:nvPr/>
        </p:nvSpPr>
        <p:spPr>
          <a:xfrm>
            <a:off x="9652000" y="1143000"/>
            <a:ext cx="5080000" cy="330200"/>
          </a:xfrm>
          <a:prstGeom prst="rect">
            <a:avLst/>
          </a:prstGeom>
          <a:noFill/>
          <a:ln/>
        </p:spPr>
        <p:txBody>
          <a:bodyPr wrap="none" lIns="0" tIns="0" rIns="0" bIns="0" rtlCol="0" anchor="ctr"/>
          <a:lstStyle/>
          <a:p>
            <a:pPr algn="l">
              <a:lnSpc>
                <a:spcPct val="120000"/>
              </a:lnSpc>
            </a:pPr>
            <a:r>
              <a:rPr lang="en-US" sz="1600" spc="200" kern="0" dirty="0">
                <a:solidFill>
                  <a:srgbClr val="FFFFFF"/>
                </a:solidFill>
                <a:latin typeface="Liter" pitchFamily="34" charset="0"/>
                <a:ea typeface="Liter" pitchFamily="34" charset="-122"/>
                <a:cs typeface="Liter" pitchFamily="34" charset="-120"/>
              </a:rPr>
              <a:t>6-LAYER ARCHITECTURE</a:t>
            </a:r>
            <a:endParaRPr lang="en-US" sz="1600" dirty="0"/>
          </a:p>
        </p:txBody>
      </p:sp>
      <p:sp>
        <p:nvSpPr>
          <p:cNvPr id="14" name="Shape 10"/>
          <p:cNvSpPr/>
          <p:nvPr/>
        </p:nvSpPr>
        <p:spPr>
          <a:xfrm>
            <a:off x="9652000" y="1587500"/>
            <a:ext cx="5842000" cy="635000"/>
          </a:xfrm>
          <a:prstGeom prst="rect">
            <a:avLst/>
          </a:prstGeom>
          <a:solidFill>
            <a:srgbClr val="0EA5E9">
              <a:alpha val="12549"/>
            </a:srgbClr>
          </a:solidFill>
          <a:ln w="12700">
            <a:solidFill>
              <a:srgbClr val="0EA5E9"/>
            </a:solidFill>
            <a:prstDash val="solid"/>
          </a:ln>
        </p:spPr>
      </p:sp>
      <p:sp>
        <p:nvSpPr>
          <p:cNvPr id="15" name="Text 11"/>
          <p:cNvSpPr/>
          <p:nvPr/>
        </p:nvSpPr>
        <p:spPr>
          <a:xfrm>
            <a:off x="9842500" y="1587500"/>
            <a:ext cx="5461000" cy="635000"/>
          </a:xfrm>
          <a:prstGeom prst="rect">
            <a:avLst/>
          </a:prstGeom>
          <a:noFill/>
          <a:ln/>
        </p:spPr>
        <p:txBody>
          <a:bodyPr wrap="none" lIns="0" tIns="0" rIns="0" bIns="0" rtlCol="0" anchor="ctr"/>
          <a:lstStyle/>
          <a:p>
            <a:pPr algn="l">
              <a:lnSpc>
                <a:spcPct val="120000"/>
              </a:lnSpc>
            </a:pPr>
            <a:r>
              <a:rPr lang="en-US" sz="1400" b="1" dirty="0">
                <a:solidFill>
                  <a:srgbClr val="E2E8F0"/>
                </a:solidFill>
                <a:latin typeface="Quattrocento Sans" pitchFamily="34" charset="0"/>
                <a:ea typeface="Quattrocento Sans" pitchFamily="34" charset="-122"/>
                <a:cs typeface="Quattrocento Sans" pitchFamily="34" charset="-120"/>
              </a:rPr>
              <a:t>L1</a:t>
            </a:r>
            <a:pPr algn="l">
              <a:lnSpc>
                <a:spcPct val="120000"/>
              </a:lnSpc>
            </a:pPr>
            <a:r>
              <a:rPr lang="en-US" sz="1400" dirty="0">
                <a:solidFill>
                  <a:srgbClr val="E2E8F0"/>
                </a:solidFill>
                <a:latin typeface="Quattrocento Sans" pitchFamily="34" charset="0"/>
                <a:ea typeface="Quattrocento Sans" pitchFamily="34" charset="-122"/>
                <a:cs typeface="Quattrocento Sans" pitchFamily="34" charset="-120"/>
              </a:rPr>
              <a:t>  Data Ingestion — SIEM, EDR, NDR, Cloud</a:t>
            </a:r>
            <a:endParaRPr lang="en-US" sz="1400" dirty="0"/>
          </a:p>
        </p:txBody>
      </p:sp>
      <p:sp>
        <p:nvSpPr>
          <p:cNvPr id="16" name="Shape 12"/>
          <p:cNvSpPr/>
          <p:nvPr/>
        </p:nvSpPr>
        <p:spPr>
          <a:xfrm>
            <a:off x="9652000" y="2311400"/>
            <a:ext cx="5842000" cy="635000"/>
          </a:xfrm>
          <a:prstGeom prst="rect">
            <a:avLst/>
          </a:prstGeom>
          <a:solidFill>
            <a:srgbClr val="0EA5E9">
              <a:alpha val="18824"/>
            </a:srgbClr>
          </a:solidFill>
          <a:ln w="12700">
            <a:solidFill>
              <a:srgbClr val="0EA5E9"/>
            </a:solidFill>
            <a:prstDash val="solid"/>
          </a:ln>
        </p:spPr>
      </p:sp>
      <p:sp>
        <p:nvSpPr>
          <p:cNvPr id="17" name="Text 13"/>
          <p:cNvSpPr/>
          <p:nvPr/>
        </p:nvSpPr>
        <p:spPr>
          <a:xfrm>
            <a:off x="9842500" y="2311400"/>
            <a:ext cx="5461000" cy="635000"/>
          </a:xfrm>
          <a:prstGeom prst="rect">
            <a:avLst/>
          </a:prstGeom>
          <a:noFill/>
          <a:ln/>
        </p:spPr>
        <p:txBody>
          <a:bodyPr wrap="none" lIns="0" tIns="0" rIns="0" bIns="0" rtlCol="0" anchor="ctr"/>
          <a:lstStyle/>
          <a:p>
            <a:pPr algn="l">
              <a:lnSpc>
                <a:spcPct val="120000"/>
              </a:lnSpc>
            </a:pPr>
            <a:r>
              <a:rPr lang="en-US" sz="1400" b="1" dirty="0">
                <a:solidFill>
                  <a:srgbClr val="E2E8F0"/>
                </a:solidFill>
                <a:latin typeface="Quattrocento Sans" pitchFamily="34" charset="0"/>
                <a:ea typeface="Quattrocento Sans" pitchFamily="34" charset="-122"/>
                <a:cs typeface="Quattrocento Sans" pitchFamily="34" charset="-120"/>
              </a:rPr>
              <a:t>L2</a:t>
            </a:r>
            <a:pPr algn="l">
              <a:lnSpc>
                <a:spcPct val="120000"/>
              </a:lnSpc>
            </a:pPr>
            <a:r>
              <a:rPr lang="en-US" sz="1400" dirty="0">
                <a:solidFill>
                  <a:srgbClr val="E2E8F0"/>
                </a:solidFill>
                <a:latin typeface="Quattrocento Sans" pitchFamily="34" charset="0"/>
                <a:ea typeface="Quattrocento Sans" pitchFamily="34" charset="-122"/>
                <a:cs typeface="Quattrocento Sans" pitchFamily="34" charset="-120"/>
              </a:rPr>
              <a:t>  Perception &amp; Parsing — Telemetry, Logs</a:t>
            </a:r>
            <a:endParaRPr lang="en-US" sz="1400" dirty="0"/>
          </a:p>
        </p:txBody>
      </p:sp>
      <p:sp>
        <p:nvSpPr>
          <p:cNvPr id="18" name="Shape 14"/>
          <p:cNvSpPr/>
          <p:nvPr/>
        </p:nvSpPr>
        <p:spPr>
          <a:xfrm>
            <a:off x="9652000" y="3035300"/>
            <a:ext cx="5842000" cy="635000"/>
          </a:xfrm>
          <a:prstGeom prst="rect">
            <a:avLst/>
          </a:prstGeom>
          <a:solidFill>
            <a:srgbClr val="0EA5E9">
              <a:alpha val="25098"/>
            </a:srgbClr>
          </a:solidFill>
          <a:ln w="12700">
            <a:solidFill>
              <a:srgbClr val="0EA5E9"/>
            </a:solidFill>
            <a:prstDash val="solid"/>
          </a:ln>
        </p:spPr>
      </p:sp>
      <p:sp>
        <p:nvSpPr>
          <p:cNvPr id="19" name="Text 15"/>
          <p:cNvSpPr/>
          <p:nvPr/>
        </p:nvSpPr>
        <p:spPr>
          <a:xfrm>
            <a:off x="9842500" y="3035300"/>
            <a:ext cx="5461000" cy="635000"/>
          </a:xfrm>
          <a:prstGeom prst="rect">
            <a:avLst/>
          </a:prstGeom>
          <a:noFill/>
          <a:ln/>
        </p:spPr>
        <p:txBody>
          <a:bodyPr wrap="none" lIns="0" tIns="0" rIns="0" bIns="0" rtlCol="0" anchor="ctr"/>
          <a:lstStyle/>
          <a:p>
            <a:pPr algn="l">
              <a:lnSpc>
                <a:spcPct val="120000"/>
              </a:lnSpc>
            </a:pPr>
            <a:r>
              <a:rPr lang="en-US" sz="1400" b="1" dirty="0">
                <a:solidFill>
                  <a:srgbClr val="E2E8F0"/>
                </a:solidFill>
                <a:latin typeface="Quattrocento Sans" pitchFamily="34" charset="0"/>
                <a:ea typeface="Quattrocento Sans" pitchFamily="34" charset="-122"/>
                <a:cs typeface="Quattrocento Sans" pitchFamily="34" charset="-120"/>
              </a:rPr>
              <a:t>L3</a:t>
            </a:r>
            <a:pPr algn="l">
              <a:lnSpc>
                <a:spcPct val="120000"/>
              </a:lnSpc>
            </a:pPr>
            <a:r>
              <a:rPr lang="en-US" sz="1400" dirty="0">
                <a:solidFill>
                  <a:srgbClr val="E2E8F0"/>
                </a:solidFill>
                <a:latin typeface="Quattrocento Sans" pitchFamily="34" charset="0"/>
                <a:ea typeface="Quattrocento Sans" pitchFamily="34" charset="-122"/>
                <a:cs typeface="Quattrocento Sans" pitchFamily="34" charset="-120"/>
              </a:rPr>
              <a:t>  Reasoning &amp; Planning — ML/LLM Agents</a:t>
            </a:r>
            <a:endParaRPr lang="en-US" sz="1400" dirty="0"/>
          </a:p>
        </p:txBody>
      </p:sp>
      <p:sp>
        <p:nvSpPr>
          <p:cNvPr id="20" name="Shape 16"/>
          <p:cNvSpPr/>
          <p:nvPr/>
        </p:nvSpPr>
        <p:spPr>
          <a:xfrm>
            <a:off x="9652000" y="3759200"/>
            <a:ext cx="5842000" cy="635000"/>
          </a:xfrm>
          <a:prstGeom prst="rect">
            <a:avLst/>
          </a:prstGeom>
          <a:solidFill>
            <a:srgbClr val="0EA5E9">
              <a:alpha val="31373"/>
            </a:srgbClr>
          </a:solidFill>
          <a:ln w="12700">
            <a:solidFill>
              <a:srgbClr val="0EA5E9"/>
            </a:solidFill>
            <a:prstDash val="solid"/>
          </a:ln>
        </p:spPr>
      </p:sp>
      <p:sp>
        <p:nvSpPr>
          <p:cNvPr id="21" name="Text 17"/>
          <p:cNvSpPr/>
          <p:nvPr/>
        </p:nvSpPr>
        <p:spPr>
          <a:xfrm>
            <a:off x="9842500" y="3759200"/>
            <a:ext cx="5461000" cy="635000"/>
          </a:xfrm>
          <a:prstGeom prst="rect">
            <a:avLst/>
          </a:prstGeom>
          <a:noFill/>
          <a:ln/>
        </p:spPr>
        <p:txBody>
          <a:bodyPr wrap="none" lIns="0" tIns="0" rIns="0" bIns="0" rtlCol="0" anchor="ctr"/>
          <a:lstStyle/>
          <a:p>
            <a:pPr algn="l">
              <a:lnSpc>
                <a:spcPct val="120000"/>
              </a:lnSpc>
            </a:pPr>
            <a:r>
              <a:rPr lang="en-US" sz="1400" b="1" dirty="0">
                <a:solidFill>
                  <a:srgbClr val="E2E8F0"/>
                </a:solidFill>
                <a:latin typeface="Quattrocento Sans" pitchFamily="34" charset="0"/>
                <a:ea typeface="Quattrocento Sans" pitchFamily="34" charset="-122"/>
                <a:cs typeface="Quattrocento Sans" pitchFamily="34" charset="-120"/>
              </a:rPr>
              <a:t>L4</a:t>
            </a:r>
            <a:pPr algn="l">
              <a:lnSpc>
                <a:spcPct val="120000"/>
              </a:lnSpc>
            </a:pPr>
            <a:r>
              <a:rPr lang="en-US" sz="1400" dirty="0">
                <a:solidFill>
                  <a:srgbClr val="E2E8F0"/>
                </a:solidFill>
                <a:latin typeface="Quattrocento Sans" pitchFamily="34" charset="0"/>
                <a:ea typeface="Quattrocento Sans" pitchFamily="34" charset="-122"/>
                <a:cs typeface="Quattrocento Sans" pitchFamily="34" charset="-120"/>
              </a:rPr>
              <a:t>  Action Execution — SOAR, Containment</a:t>
            </a:r>
            <a:endParaRPr lang="en-US" sz="1400" dirty="0"/>
          </a:p>
        </p:txBody>
      </p:sp>
      <p:sp>
        <p:nvSpPr>
          <p:cNvPr id="22" name="Shape 18"/>
          <p:cNvSpPr/>
          <p:nvPr/>
        </p:nvSpPr>
        <p:spPr>
          <a:xfrm>
            <a:off x="9652000" y="4483100"/>
            <a:ext cx="5842000" cy="635000"/>
          </a:xfrm>
          <a:prstGeom prst="rect">
            <a:avLst/>
          </a:prstGeom>
          <a:solidFill>
            <a:srgbClr val="0EA5E9">
              <a:alpha val="37647"/>
            </a:srgbClr>
          </a:solidFill>
          <a:ln w="12700">
            <a:solidFill>
              <a:srgbClr val="0EA5E9"/>
            </a:solidFill>
            <a:prstDash val="solid"/>
          </a:ln>
        </p:spPr>
      </p:sp>
      <p:sp>
        <p:nvSpPr>
          <p:cNvPr id="23" name="Text 19"/>
          <p:cNvSpPr/>
          <p:nvPr/>
        </p:nvSpPr>
        <p:spPr>
          <a:xfrm>
            <a:off x="9842500" y="4483100"/>
            <a:ext cx="5461000" cy="635000"/>
          </a:xfrm>
          <a:prstGeom prst="rect">
            <a:avLst/>
          </a:prstGeom>
          <a:noFill/>
          <a:ln/>
        </p:spPr>
        <p:txBody>
          <a:bodyPr wrap="none" lIns="0" tIns="0" rIns="0" bIns="0" rtlCol="0" anchor="ctr"/>
          <a:lstStyle/>
          <a:p>
            <a:pPr algn="l">
              <a:lnSpc>
                <a:spcPct val="120000"/>
              </a:lnSpc>
            </a:pPr>
            <a:r>
              <a:rPr lang="en-US" sz="1400" b="1" dirty="0">
                <a:solidFill>
                  <a:srgbClr val="E2E8F0"/>
                </a:solidFill>
                <a:latin typeface="Quattrocento Sans" pitchFamily="34" charset="0"/>
                <a:ea typeface="Quattrocento Sans" pitchFamily="34" charset="-122"/>
                <a:cs typeface="Quattrocento Sans" pitchFamily="34" charset="-120"/>
              </a:rPr>
              <a:t>L5</a:t>
            </a:r>
            <a:pPr algn="l">
              <a:lnSpc>
                <a:spcPct val="120000"/>
              </a:lnSpc>
            </a:pPr>
            <a:r>
              <a:rPr lang="en-US" sz="1400" dirty="0">
                <a:solidFill>
                  <a:srgbClr val="E2E8F0"/>
                </a:solidFill>
                <a:latin typeface="Quattrocento Sans" pitchFamily="34" charset="0"/>
                <a:ea typeface="Quattrocento Sans" pitchFamily="34" charset="-122"/>
                <a:cs typeface="Quattrocento Sans" pitchFamily="34" charset="-120"/>
              </a:rPr>
              <a:t>  Human Interface — HITL, NL Queries</a:t>
            </a:r>
            <a:endParaRPr lang="en-US" sz="1400" dirty="0"/>
          </a:p>
        </p:txBody>
      </p:sp>
      <p:sp>
        <p:nvSpPr>
          <p:cNvPr id="24" name="Shape 20"/>
          <p:cNvSpPr/>
          <p:nvPr/>
        </p:nvSpPr>
        <p:spPr>
          <a:xfrm>
            <a:off x="9652000" y="5207000"/>
            <a:ext cx="5842000" cy="635000"/>
          </a:xfrm>
          <a:prstGeom prst="rect">
            <a:avLst/>
          </a:prstGeom>
          <a:solidFill>
            <a:srgbClr val="0EA5E9">
              <a:alpha val="43922"/>
            </a:srgbClr>
          </a:solidFill>
          <a:ln w="12700">
            <a:solidFill>
              <a:srgbClr val="0EA5E9"/>
            </a:solidFill>
            <a:prstDash val="solid"/>
          </a:ln>
        </p:spPr>
      </p:sp>
      <p:sp>
        <p:nvSpPr>
          <p:cNvPr id="25" name="Text 21"/>
          <p:cNvSpPr/>
          <p:nvPr/>
        </p:nvSpPr>
        <p:spPr>
          <a:xfrm>
            <a:off x="9842500" y="5207000"/>
            <a:ext cx="5461000" cy="635000"/>
          </a:xfrm>
          <a:prstGeom prst="rect">
            <a:avLst/>
          </a:prstGeom>
          <a:noFill/>
          <a:ln/>
        </p:spPr>
        <p:txBody>
          <a:bodyPr wrap="none" lIns="0" tIns="0" rIns="0" bIns="0" rtlCol="0" anchor="ctr"/>
          <a:lstStyle/>
          <a:p>
            <a:pPr algn="l">
              <a:lnSpc>
                <a:spcPct val="120000"/>
              </a:lnSpc>
            </a:pPr>
            <a:r>
              <a:rPr lang="en-US" sz="1400" b="1" dirty="0">
                <a:solidFill>
                  <a:srgbClr val="E2E8F0"/>
                </a:solidFill>
                <a:latin typeface="Quattrocento Sans" pitchFamily="34" charset="0"/>
                <a:ea typeface="Quattrocento Sans" pitchFamily="34" charset="-122"/>
                <a:cs typeface="Quattrocento Sans" pitchFamily="34" charset="-120"/>
              </a:rPr>
              <a:t>L6</a:t>
            </a:r>
            <a:pPr algn="l">
              <a:lnSpc>
                <a:spcPct val="120000"/>
              </a:lnSpc>
            </a:pPr>
            <a:r>
              <a:rPr lang="en-US" sz="1400" dirty="0">
                <a:solidFill>
                  <a:srgbClr val="E2E8F0"/>
                </a:solidFill>
                <a:latin typeface="Quattrocento Sans" pitchFamily="34" charset="0"/>
                <a:ea typeface="Quattrocento Sans" pitchFamily="34" charset="-122"/>
                <a:cs typeface="Quattrocento Sans" pitchFamily="34" charset="-120"/>
              </a:rPr>
              <a:t>  Governance &amp; Observability — Audit, Compliance</a:t>
            </a:r>
            <a:endParaRPr lang="en-US" sz="1400" dirty="0"/>
          </a:p>
        </p:txBody>
      </p:sp>
      <p:sp>
        <p:nvSpPr>
          <p:cNvPr id="26" name="Shape 22"/>
          <p:cNvSpPr/>
          <p:nvPr/>
        </p:nvSpPr>
        <p:spPr>
          <a:xfrm>
            <a:off x="9652000" y="6223000"/>
            <a:ext cx="5842000" cy="889000"/>
          </a:xfrm>
          <a:prstGeom prst="rect">
            <a:avLst/>
          </a:prstGeom>
          <a:solidFill>
            <a:srgbClr val="1E293B"/>
          </a:solidFill>
          <a:ln/>
        </p:spPr>
      </p:sp>
      <p:sp>
        <p:nvSpPr>
          <p:cNvPr id="27" name="Text 23"/>
          <p:cNvSpPr/>
          <p:nvPr/>
        </p:nvSpPr>
        <p:spPr>
          <a:xfrm>
            <a:off x="9842500" y="6286500"/>
            <a:ext cx="5461000" cy="762000"/>
          </a:xfrm>
          <a:prstGeom prst="rect">
            <a:avLst/>
          </a:prstGeom>
          <a:noFill/>
          <a:ln/>
        </p:spPr>
        <p:txBody>
          <a:bodyPr wrap="square" lIns="0" tIns="0" rIns="0" bIns="0" rtlCol="0" anchor="ctr"/>
          <a:lstStyle/>
          <a:p>
            <a:pPr algn="l">
              <a:lnSpc>
                <a:spcPct val="150000"/>
              </a:lnSpc>
            </a:pPr>
            <a:r>
              <a:rPr lang="en-US" sz="1400" b="1" dirty="0">
                <a:solidFill>
                  <a:srgbClr val="E2E8F0"/>
                </a:solidFill>
                <a:latin typeface="Quattrocento Sans" pitchFamily="34" charset="0"/>
                <a:ea typeface="Quattrocento Sans" pitchFamily="34" charset="-122"/>
                <a:cs typeface="Quattrocento Sans" pitchFamily="34" charset="-120"/>
              </a:rPr>
              <a:t>Trend:</a:t>
            </a:r>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 Organizations moving toward "tierless" SOC organized by skill and specialization rather than escalation levels</a:t>
            </a:r>
            <a:endParaRPr lang="en-US" sz="1400" dirty="0"/>
          </a:p>
        </p:txBody>
      </p:sp>
      <p:sp>
        <p:nvSpPr>
          <p:cNvPr id="28" name="Text 24"/>
          <p:cNvSpPr/>
          <p:nvPr/>
        </p:nvSpPr>
        <p:spPr>
          <a:xfrm>
            <a:off x="762000" y="8763000"/>
            <a:ext cx="8890000" cy="254000"/>
          </a:xfrm>
          <a:prstGeom prst="rect">
            <a:avLst/>
          </a:prstGeom>
          <a:noFill/>
          <a:ln/>
        </p:spPr>
        <p:txBody>
          <a:bodyPr wrap="none" lIns="0" tIns="0" rIns="0" bIns="0" rtlCol="0" anchor="ctr"/>
          <a:lstStyle/>
          <a:p>
            <a:pPr algn="l">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Sources: Wiz 2026; NextAgile 2026; IJERET 2025</a:t>
            </a:r>
            <a:endParaRPr lang="en-US" sz="1200" dirty="0"/>
          </a:p>
        </p:txBody>
      </p:sp>
      <p:sp>
        <p:nvSpPr>
          <p:cNvPr id="29" name="Text 25"/>
          <p:cNvSpPr/>
          <p:nvPr/>
        </p:nvSpPr>
        <p:spPr>
          <a:xfrm>
            <a:off x="14986000" y="8763000"/>
            <a:ext cx="762000" cy="254000"/>
          </a:xfrm>
          <a:prstGeom prst="rect">
            <a:avLst/>
          </a:prstGeom>
          <a:noFill/>
          <a:ln/>
        </p:spPr>
        <p:txBody>
          <a:bodyPr wrap="none" lIns="0" tIns="0" rIns="0" bIns="0" rtlCol="0" anchor="ctr"/>
          <a:lstStyle/>
          <a:p>
            <a:pPr algn="r">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09</a:t>
            </a:r>
            <a:endParaRPr lang="en-US" sz="1200" dirty="0"/>
          </a:p>
        </p:txBody>
      </p:sp>
    </p:spTree>
  </p:cSld>
  <p:clrMapOvr>
    <a:masterClrMapping/>
  </p:clrMapOvr>
  <p:transition>
    <p:fade/>
    <p:spd val="med"/>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2A"/>
        </a:solidFill>
      </p:bgPr>
    </p:bg>
    <p:spTree>
      <p:nvGrpSpPr>
        <p:cNvPr id="1" name=""/>
        <p:cNvGrpSpPr/>
        <p:nvPr/>
      </p:nvGrpSpPr>
      <p:grpSpPr>
        <a:xfrm>
          <a:off x="0" y="0"/>
          <a:ext cx="0" cy="0"/>
          <a:chOff x="0" y="0"/>
          <a:chExt cx="0" cy="0"/>
        </a:xfrm>
      </p:grpSpPr>
      <p:sp>
        <p:nvSpPr>
          <p:cNvPr id="3" name="Shape 0"/>
          <p:cNvSpPr/>
          <p:nvPr/>
        </p:nvSpPr>
        <p:spPr>
          <a:xfrm>
            <a:off x="0" y="0"/>
            <a:ext cx="16256000" cy="50800"/>
          </a:xfrm>
          <a:prstGeom prst="rect">
            <a:avLst/>
          </a:prstGeom>
          <a:solidFill>
            <a:srgbClr val="0EA5E9"/>
          </a:solidFill>
          <a:ln/>
        </p:spPr>
      </p:sp>
      <p:sp>
        <p:nvSpPr>
          <p:cNvPr id="4" name="Text 1"/>
          <p:cNvSpPr/>
          <p:nvPr/>
        </p:nvSpPr>
        <p:spPr>
          <a:xfrm>
            <a:off x="762000" y="381000"/>
            <a:ext cx="7620000" cy="482600"/>
          </a:xfrm>
          <a:prstGeom prst="rect">
            <a:avLst/>
          </a:prstGeom>
          <a:noFill/>
          <a:ln/>
        </p:spPr>
        <p:txBody>
          <a:bodyPr wrap="none" lIns="0" tIns="0" rIns="0" bIns="0" rtlCol="0" anchor="ctr"/>
          <a:lstStyle/>
          <a:p>
            <a:pPr algn="l">
              <a:lnSpc>
                <a:spcPct val="120000"/>
              </a:lnSpc>
            </a:pPr>
            <a:r>
              <a:rPr lang="en-US" sz="2800" dirty="0">
                <a:solidFill>
                  <a:srgbClr val="0EA5E9"/>
                </a:solidFill>
                <a:latin typeface="Liter" pitchFamily="34" charset="0"/>
                <a:ea typeface="Liter" pitchFamily="34" charset="-122"/>
                <a:cs typeface="Liter" pitchFamily="34" charset="-120"/>
              </a:rPr>
              <a:t>Benefits of Agentic AI</a:t>
            </a:r>
            <a:endParaRPr lang="en-US" sz="2800" dirty="0"/>
          </a:p>
        </p:txBody>
      </p:sp>
      <p:sp>
        <p:nvSpPr>
          <p:cNvPr id="5" name="Shape 2"/>
          <p:cNvSpPr/>
          <p:nvPr/>
        </p:nvSpPr>
        <p:spPr>
          <a:xfrm>
            <a:off x="762000" y="939800"/>
            <a:ext cx="14732000" cy="12700"/>
          </a:xfrm>
          <a:prstGeom prst="rect">
            <a:avLst/>
          </a:prstGeom>
          <a:solidFill>
            <a:srgbClr val="475569"/>
          </a:solidFill>
          <a:ln/>
        </p:spPr>
      </p:sp>
      <p:sp>
        <p:nvSpPr>
          <p:cNvPr id="6" name="Shape 3"/>
          <p:cNvSpPr/>
          <p:nvPr/>
        </p:nvSpPr>
        <p:spPr>
          <a:xfrm>
            <a:off x="762000" y="1206500"/>
            <a:ext cx="4737100" cy="3302000"/>
          </a:xfrm>
          <a:prstGeom prst="rect">
            <a:avLst/>
          </a:prstGeom>
          <a:solidFill>
            <a:srgbClr val="1E293B"/>
          </a:solidFill>
          <a:ln/>
        </p:spPr>
      </p:sp>
      <p:sp>
        <p:nvSpPr>
          <p:cNvPr id="7" name="Text 4"/>
          <p:cNvSpPr/>
          <p:nvPr/>
        </p:nvSpPr>
        <p:spPr>
          <a:xfrm>
            <a:off x="952500" y="1333500"/>
            <a:ext cx="1016000" cy="508000"/>
          </a:xfrm>
          <a:prstGeom prst="rect">
            <a:avLst/>
          </a:prstGeom>
          <a:noFill/>
          <a:ln/>
        </p:spPr>
        <p:txBody>
          <a:bodyPr wrap="none" lIns="0" tIns="0" rIns="0" bIns="0" rtlCol="0" anchor="ctr"/>
          <a:lstStyle/>
          <a:p>
            <a:pPr algn="l">
              <a:lnSpc>
                <a:spcPct val="120000"/>
              </a:lnSpc>
            </a:pPr>
            <a:r>
              <a:rPr lang="en-US" sz="2800" dirty="0">
                <a:solidFill>
                  <a:srgbClr val="22D3EE"/>
                </a:solidFill>
                <a:latin typeface="Liter" pitchFamily="34" charset="0"/>
                <a:ea typeface="Liter" pitchFamily="34" charset="-122"/>
                <a:cs typeface="Liter" pitchFamily="34" charset="-120"/>
              </a:rPr>
              <a:t>60%</a:t>
            </a:r>
            <a:endParaRPr lang="en-US" sz="2800" dirty="0"/>
          </a:p>
        </p:txBody>
      </p:sp>
      <p:sp>
        <p:nvSpPr>
          <p:cNvPr id="8" name="Text 5"/>
          <p:cNvSpPr/>
          <p:nvPr/>
        </p:nvSpPr>
        <p:spPr>
          <a:xfrm>
            <a:off x="952500" y="1879600"/>
            <a:ext cx="4318000" cy="3048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Faster Response Times</a:t>
            </a:r>
            <a:endParaRPr lang="en-US" sz="1600" dirty="0"/>
          </a:p>
        </p:txBody>
      </p:sp>
      <p:sp>
        <p:nvSpPr>
          <p:cNvPr id="9" name="Text 6"/>
          <p:cNvSpPr/>
          <p:nvPr/>
        </p:nvSpPr>
        <p:spPr>
          <a:xfrm>
            <a:off x="952500" y="2260600"/>
            <a:ext cx="4318000" cy="14605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Up to 60% reduction in MTTD and MTTR for common threats like phishing and malware. Instant triage and cross-system correlation.</a:t>
            </a:r>
            <a:endParaRPr lang="en-US" sz="1400" dirty="0"/>
          </a:p>
          <a:p>
            <a:pPr algn="l">
              <a:lnSpc>
                <a:spcPct val="150000"/>
              </a:lnSpc>
              <a:spcBef>
                <a:spcPts val="600"/>
              </a:spcBef>
            </a:pPr>
            <a:r>
              <a:rPr lang="en-US" sz="1400" dirty="0">
                <a:solidFill>
                  <a:srgbClr val="475569"/>
                </a:solidFill>
                <a:latin typeface="Quattrocento Sans" pitchFamily="34" charset="0"/>
                <a:ea typeface="Quattrocento Sans" pitchFamily="34" charset="-122"/>
                <a:cs typeface="Quattrocento Sans" pitchFamily="34" charset="-120"/>
              </a:rPr>
              <a:t>Source: IJERET 2025</a:t>
            </a:r>
            <a:endParaRPr lang="en-US" sz="1400" dirty="0"/>
          </a:p>
        </p:txBody>
      </p:sp>
      <p:sp>
        <p:nvSpPr>
          <p:cNvPr id="10" name="Shape 7"/>
          <p:cNvSpPr/>
          <p:nvPr/>
        </p:nvSpPr>
        <p:spPr>
          <a:xfrm>
            <a:off x="5753100" y="1206500"/>
            <a:ext cx="4737100" cy="3302000"/>
          </a:xfrm>
          <a:prstGeom prst="rect">
            <a:avLst/>
          </a:prstGeom>
          <a:solidFill>
            <a:srgbClr val="1E293B"/>
          </a:solidFill>
          <a:ln/>
        </p:spPr>
      </p:sp>
      <p:sp>
        <p:nvSpPr>
          <p:cNvPr id="11" name="Text 8"/>
          <p:cNvSpPr/>
          <p:nvPr/>
        </p:nvSpPr>
        <p:spPr>
          <a:xfrm>
            <a:off x="5943600" y="1333500"/>
            <a:ext cx="1016000" cy="508000"/>
          </a:xfrm>
          <a:prstGeom prst="rect">
            <a:avLst/>
          </a:prstGeom>
          <a:noFill/>
          <a:ln/>
        </p:spPr>
        <p:txBody>
          <a:bodyPr wrap="none" lIns="0" tIns="0" rIns="0" bIns="0" rtlCol="0" anchor="ctr"/>
          <a:lstStyle/>
          <a:p>
            <a:pPr algn="l">
              <a:lnSpc>
                <a:spcPct val="120000"/>
              </a:lnSpc>
            </a:pPr>
            <a:r>
              <a:rPr lang="en-US" sz="2800" dirty="0">
                <a:solidFill>
                  <a:srgbClr val="22D3EE"/>
                </a:solidFill>
                <a:latin typeface="Liter" pitchFamily="34" charset="0"/>
                <a:ea typeface="Liter" pitchFamily="34" charset="-122"/>
                <a:cs typeface="Liter" pitchFamily="34" charset="-120"/>
              </a:rPr>
              <a:t>90%</a:t>
            </a:r>
            <a:endParaRPr lang="en-US" sz="2800" dirty="0"/>
          </a:p>
        </p:txBody>
      </p:sp>
      <p:sp>
        <p:nvSpPr>
          <p:cNvPr id="12" name="Text 9"/>
          <p:cNvSpPr/>
          <p:nvPr/>
        </p:nvSpPr>
        <p:spPr>
          <a:xfrm>
            <a:off x="5943600" y="1879600"/>
            <a:ext cx="4318000" cy="3048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Reduced Workload</a:t>
            </a:r>
            <a:endParaRPr lang="en-US" sz="1600" dirty="0"/>
          </a:p>
        </p:txBody>
      </p:sp>
      <p:sp>
        <p:nvSpPr>
          <p:cNvPr id="13" name="Text 10"/>
          <p:cNvSpPr/>
          <p:nvPr/>
        </p:nvSpPr>
        <p:spPr>
          <a:xfrm>
            <a:off x="5943600" y="2260600"/>
            <a:ext cx="4318000" cy="14605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False positives eliminated through AI filtering. Alert enrichment, indicator lookup, and log parsing fully automated.</a:t>
            </a:r>
            <a:endParaRPr lang="en-US" sz="1400" dirty="0"/>
          </a:p>
          <a:p>
            <a:pPr algn="l">
              <a:lnSpc>
                <a:spcPct val="150000"/>
              </a:lnSpc>
              <a:spcBef>
                <a:spcPts val="600"/>
              </a:spcBef>
            </a:pPr>
            <a:r>
              <a:rPr lang="en-US" sz="1400" dirty="0">
                <a:solidFill>
                  <a:srgbClr val="475569"/>
                </a:solidFill>
                <a:latin typeface="Quattrocento Sans" pitchFamily="34" charset="0"/>
                <a:ea typeface="Quattrocento Sans" pitchFamily="34" charset="-122"/>
                <a:cs typeface="Quattrocento Sans" pitchFamily="34" charset="-120"/>
              </a:rPr>
              <a:t>Source: Torq 2026</a:t>
            </a:r>
            <a:endParaRPr lang="en-US" sz="1400" dirty="0"/>
          </a:p>
        </p:txBody>
      </p:sp>
      <p:sp>
        <p:nvSpPr>
          <p:cNvPr id="14" name="Shape 11"/>
          <p:cNvSpPr/>
          <p:nvPr/>
        </p:nvSpPr>
        <p:spPr>
          <a:xfrm>
            <a:off x="10744200" y="1206500"/>
            <a:ext cx="4737100" cy="3302000"/>
          </a:xfrm>
          <a:prstGeom prst="rect">
            <a:avLst/>
          </a:prstGeom>
          <a:solidFill>
            <a:srgbClr val="1E293B"/>
          </a:solidFill>
          <a:ln/>
        </p:spPr>
      </p:sp>
      <p:sp>
        <p:nvSpPr>
          <p:cNvPr id="15" name="Shape 12"/>
          <p:cNvSpPr/>
          <p:nvPr/>
        </p:nvSpPr>
        <p:spPr>
          <a:xfrm>
            <a:off x="10934700" y="1397000"/>
            <a:ext cx="381000" cy="381000"/>
          </a:xfrm>
          <a:custGeom>
            <a:avLst/>
            <a:gdLst/>
            <a:ahLst/>
            <a:cxnLst/>
            <a:rect l="l" t="t" r="r" b="b"/>
            <a:pathLst>
              <a:path w="381000" h="381000">
                <a:moveTo>
                  <a:pt x="190500" y="0"/>
                </a:moveTo>
                <a:cubicBezTo>
                  <a:pt x="295640" y="0"/>
                  <a:pt x="381000" y="85360"/>
                  <a:pt x="381000" y="190500"/>
                </a:cubicBezTo>
                <a:cubicBezTo>
                  <a:pt x="381000" y="295640"/>
                  <a:pt x="295640" y="381000"/>
                  <a:pt x="190500" y="381000"/>
                </a:cubicBezTo>
                <a:cubicBezTo>
                  <a:pt x="85360" y="381000"/>
                  <a:pt x="0" y="295640"/>
                  <a:pt x="0" y="190500"/>
                </a:cubicBezTo>
                <a:cubicBezTo>
                  <a:pt x="0" y="85360"/>
                  <a:pt x="85360" y="0"/>
                  <a:pt x="190500" y="0"/>
                </a:cubicBezTo>
                <a:close/>
                <a:moveTo>
                  <a:pt x="172641" y="89297"/>
                </a:moveTo>
                <a:lnTo>
                  <a:pt x="172641" y="190500"/>
                </a:lnTo>
                <a:cubicBezTo>
                  <a:pt x="172641" y="196453"/>
                  <a:pt x="175617" y="202034"/>
                  <a:pt x="180603" y="205383"/>
                </a:cubicBezTo>
                <a:lnTo>
                  <a:pt x="252040" y="253008"/>
                </a:lnTo>
                <a:cubicBezTo>
                  <a:pt x="260226" y="258514"/>
                  <a:pt x="271314" y="256282"/>
                  <a:pt x="276820" y="248022"/>
                </a:cubicBezTo>
                <a:cubicBezTo>
                  <a:pt x="282327" y="239762"/>
                  <a:pt x="280095" y="228749"/>
                  <a:pt x="271835" y="223242"/>
                </a:cubicBezTo>
                <a:lnTo>
                  <a:pt x="208359" y="180975"/>
                </a:lnTo>
                <a:lnTo>
                  <a:pt x="208359" y="89297"/>
                </a:lnTo>
                <a:cubicBezTo>
                  <a:pt x="208359" y="79400"/>
                  <a:pt x="200397" y="71438"/>
                  <a:pt x="190500" y="71438"/>
                </a:cubicBezTo>
                <a:cubicBezTo>
                  <a:pt x="180603" y="71438"/>
                  <a:pt x="172641" y="79400"/>
                  <a:pt x="172641" y="89297"/>
                </a:cubicBezTo>
                <a:close/>
              </a:path>
            </a:pathLst>
          </a:custGeom>
          <a:solidFill>
            <a:srgbClr val="22D3EE"/>
          </a:solidFill>
          <a:ln/>
        </p:spPr>
      </p:sp>
      <p:sp>
        <p:nvSpPr>
          <p:cNvPr id="16" name="Text 13"/>
          <p:cNvSpPr/>
          <p:nvPr/>
        </p:nvSpPr>
        <p:spPr>
          <a:xfrm>
            <a:off x="10934700" y="1879600"/>
            <a:ext cx="4318000" cy="3048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24/7 Coverage</a:t>
            </a:r>
            <a:endParaRPr lang="en-US" sz="1600" dirty="0"/>
          </a:p>
        </p:txBody>
      </p:sp>
      <p:sp>
        <p:nvSpPr>
          <p:cNvPr id="17" name="Text 14"/>
          <p:cNvSpPr/>
          <p:nvPr/>
        </p:nvSpPr>
        <p:spPr>
          <a:xfrm>
            <a:off x="10934700" y="2260600"/>
            <a:ext cx="4318000" cy="1270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Autonomous agents operate continuously without fatigue, eliminating blind spots from shift changes and analyst burnout.</a:t>
            </a:r>
            <a:endParaRPr lang="en-US" sz="1400" dirty="0"/>
          </a:p>
        </p:txBody>
      </p:sp>
      <p:sp>
        <p:nvSpPr>
          <p:cNvPr id="18" name="Shape 15"/>
          <p:cNvSpPr/>
          <p:nvPr/>
        </p:nvSpPr>
        <p:spPr>
          <a:xfrm>
            <a:off x="762000" y="4762500"/>
            <a:ext cx="4737100" cy="3302000"/>
          </a:xfrm>
          <a:prstGeom prst="rect">
            <a:avLst/>
          </a:prstGeom>
          <a:solidFill>
            <a:srgbClr val="1E293B"/>
          </a:solidFill>
          <a:ln/>
        </p:spPr>
      </p:sp>
      <p:sp>
        <p:nvSpPr>
          <p:cNvPr id="19" name="Shape 16"/>
          <p:cNvSpPr/>
          <p:nvPr/>
        </p:nvSpPr>
        <p:spPr>
          <a:xfrm>
            <a:off x="952500" y="4953000"/>
            <a:ext cx="381000" cy="381000"/>
          </a:xfrm>
          <a:custGeom>
            <a:avLst/>
            <a:gdLst/>
            <a:ahLst/>
            <a:cxnLst/>
            <a:rect l="l" t="t" r="r" b="b"/>
            <a:pathLst>
              <a:path w="381000" h="381000">
                <a:moveTo>
                  <a:pt x="71438" y="23812"/>
                </a:moveTo>
                <a:cubicBezTo>
                  <a:pt x="58266" y="23812"/>
                  <a:pt x="47625" y="34454"/>
                  <a:pt x="47625" y="47625"/>
                </a:cubicBezTo>
                <a:cubicBezTo>
                  <a:pt x="47625" y="60796"/>
                  <a:pt x="58266" y="71438"/>
                  <a:pt x="71438" y="71438"/>
                </a:cubicBezTo>
                <a:lnTo>
                  <a:pt x="85353" y="71438"/>
                </a:lnTo>
                <a:lnTo>
                  <a:pt x="6995" y="149870"/>
                </a:lnTo>
                <a:cubicBezTo>
                  <a:pt x="-2307" y="159172"/>
                  <a:pt x="-2307" y="174278"/>
                  <a:pt x="6995" y="183579"/>
                </a:cubicBezTo>
                <a:cubicBezTo>
                  <a:pt x="16297" y="192881"/>
                  <a:pt x="31403" y="192881"/>
                  <a:pt x="40704" y="183579"/>
                </a:cubicBezTo>
                <a:lnTo>
                  <a:pt x="119063" y="105147"/>
                </a:lnTo>
                <a:lnTo>
                  <a:pt x="119063" y="119063"/>
                </a:lnTo>
                <a:cubicBezTo>
                  <a:pt x="119063" y="132234"/>
                  <a:pt x="129704" y="142875"/>
                  <a:pt x="142875" y="142875"/>
                </a:cubicBezTo>
                <a:cubicBezTo>
                  <a:pt x="156046" y="142875"/>
                  <a:pt x="166688" y="132234"/>
                  <a:pt x="166688" y="119063"/>
                </a:cubicBezTo>
                <a:lnTo>
                  <a:pt x="166688" y="47625"/>
                </a:lnTo>
                <a:cubicBezTo>
                  <a:pt x="166688" y="34454"/>
                  <a:pt x="156046" y="23812"/>
                  <a:pt x="142875" y="23812"/>
                </a:cubicBezTo>
                <a:lnTo>
                  <a:pt x="71438" y="23812"/>
                </a:lnTo>
                <a:close/>
                <a:moveTo>
                  <a:pt x="300484" y="52164"/>
                </a:moveTo>
                <a:cubicBezTo>
                  <a:pt x="300484" y="62293"/>
                  <a:pt x="305888" y="71653"/>
                  <a:pt x="314660" y="76718"/>
                </a:cubicBezTo>
                <a:cubicBezTo>
                  <a:pt x="323432" y="81782"/>
                  <a:pt x="334240" y="81782"/>
                  <a:pt x="343012" y="76718"/>
                </a:cubicBezTo>
                <a:cubicBezTo>
                  <a:pt x="351784" y="71653"/>
                  <a:pt x="357188" y="62293"/>
                  <a:pt x="357188" y="52164"/>
                </a:cubicBezTo>
                <a:cubicBezTo>
                  <a:pt x="357188" y="42035"/>
                  <a:pt x="351784" y="32675"/>
                  <a:pt x="343012" y="27611"/>
                </a:cubicBezTo>
                <a:cubicBezTo>
                  <a:pt x="334240" y="22546"/>
                  <a:pt x="323432" y="22546"/>
                  <a:pt x="314660" y="27611"/>
                </a:cubicBezTo>
                <a:cubicBezTo>
                  <a:pt x="305888" y="32675"/>
                  <a:pt x="300484" y="42035"/>
                  <a:pt x="300484" y="52164"/>
                </a:cubicBezTo>
                <a:close/>
                <a:moveTo>
                  <a:pt x="208136" y="144512"/>
                </a:moveTo>
                <a:cubicBezTo>
                  <a:pt x="208136" y="154641"/>
                  <a:pt x="213540" y="164001"/>
                  <a:pt x="222312" y="169065"/>
                </a:cubicBezTo>
                <a:cubicBezTo>
                  <a:pt x="231084" y="174130"/>
                  <a:pt x="241892" y="174130"/>
                  <a:pt x="250664" y="169065"/>
                </a:cubicBezTo>
                <a:cubicBezTo>
                  <a:pt x="259436" y="164001"/>
                  <a:pt x="264840" y="154641"/>
                  <a:pt x="264840" y="144512"/>
                </a:cubicBezTo>
                <a:cubicBezTo>
                  <a:pt x="264840" y="134383"/>
                  <a:pt x="259436" y="125023"/>
                  <a:pt x="250664" y="119959"/>
                </a:cubicBezTo>
                <a:cubicBezTo>
                  <a:pt x="241892" y="114894"/>
                  <a:pt x="231084" y="114894"/>
                  <a:pt x="222312" y="119959"/>
                </a:cubicBezTo>
                <a:cubicBezTo>
                  <a:pt x="213540" y="125023"/>
                  <a:pt x="208136" y="134383"/>
                  <a:pt x="208136" y="144512"/>
                </a:cubicBezTo>
                <a:close/>
                <a:moveTo>
                  <a:pt x="328836" y="116160"/>
                </a:moveTo>
                <a:cubicBezTo>
                  <a:pt x="313188" y="116160"/>
                  <a:pt x="300484" y="128864"/>
                  <a:pt x="300484" y="144512"/>
                </a:cubicBezTo>
                <a:cubicBezTo>
                  <a:pt x="300484" y="160160"/>
                  <a:pt x="313188" y="172864"/>
                  <a:pt x="328836" y="172864"/>
                </a:cubicBezTo>
                <a:cubicBezTo>
                  <a:pt x="338965" y="172864"/>
                  <a:pt x="348325" y="167460"/>
                  <a:pt x="353389" y="158688"/>
                </a:cubicBezTo>
                <a:cubicBezTo>
                  <a:pt x="358454" y="149916"/>
                  <a:pt x="358454" y="139108"/>
                  <a:pt x="353389" y="130336"/>
                </a:cubicBezTo>
                <a:cubicBezTo>
                  <a:pt x="348325" y="121564"/>
                  <a:pt x="338965" y="116160"/>
                  <a:pt x="328836" y="116160"/>
                </a:cubicBezTo>
                <a:close/>
                <a:moveTo>
                  <a:pt x="116235" y="236488"/>
                </a:moveTo>
                <a:cubicBezTo>
                  <a:pt x="116235" y="246617"/>
                  <a:pt x="121639" y="255977"/>
                  <a:pt x="130411" y="261041"/>
                </a:cubicBezTo>
                <a:cubicBezTo>
                  <a:pt x="139183" y="266106"/>
                  <a:pt x="149990" y="266106"/>
                  <a:pt x="158762" y="261041"/>
                </a:cubicBezTo>
                <a:cubicBezTo>
                  <a:pt x="167534" y="255977"/>
                  <a:pt x="172938" y="246617"/>
                  <a:pt x="172938" y="236488"/>
                </a:cubicBezTo>
                <a:cubicBezTo>
                  <a:pt x="172938" y="226359"/>
                  <a:pt x="167534" y="216999"/>
                  <a:pt x="158762" y="211935"/>
                </a:cubicBezTo>
                <a:cubicBezTo>
                  <a:pt x="149990" y="206870"/>
                  <a:pt x="139183" y="206870"/>
                  <a:pt x="130411" y="211935"/>
                </a:cubicBezTo>
                <a:cubicBezTo>
                  <a:pt x="121639" y="216999"/>
                  <a:pt x="116235" y="226359"/>
                  <a:pt x="116235" y="236488"/>
                </a:cubicBezTo>
                <a:close/>
                <a:moveTo>
                  <a:pt x="236488" y="208136"/>
                </a:moveTo>
                <a:cubicBezTo>
                  <a:pt x="226359" y="208136"/>
                  <a:pt x="216999" y="213540"/>
                  <a:pt x="211935" y="222312"/>
                </a:cubicBezTo>
                <a:cubicBezTo>
                  <a:pt x="206870" y="231084"/>
                  <a:pt x="206870" y="241892"/>
                  <a:pt x="211935" y="250664"/>
                </a:cubicBezTo>
                <a:cubicBezTo>
                  <a:pt x="216999" y="259436"/>
                  <a:pt x="226359" y="264840"/>
                  <a:pt x="236488" y="264840"/>
                </a:cubicBezTo>
                <a:cubicBezTo>
                  <a:pt x="246617" y="264840"/>
                  <a:pt x="255977" y="259436"/>
                  <a:pt x="261041" y="250664"/>
                </a:cubicBezTo>
                <a:cubicBezTo>
                  <a:pt x="266106" y="241892"/>
                  <a:pt x="266106" y="231084"/>
                  <a:pt x="261041" y="222312"/>
                </a:cubicBezTo>
                <a:cubicBezTo>
                  <a:pt x="255977" y="213540"/>
                  <a:pt x="246617" y="208136"/>
                  <a:pt x="236488" y="208136"/>
                </a:cubicBezTo>
                <a:close/>
                <a:moveTo>
                  <a:pt x="300558" y="236488"/>
                </a:moveTo>
                <a:cubicBezTo>
                  <a:pt x="300558" y="246617"/>
                  <a:pt x="305962" y="255977"/>
                  <a:pt x="314734" y="261041"/>
                </a:cubicBezTo>
                <a:cubicBezTo>
                  <a:pt x="323506" y="266106"/>
                  <a:pt x="334314" y="266106"/>
                  <a:pt x="343086" y="261041"/>
                </a:cubicBezTo>
                <a:cubicBezTo>
                  <a:pt x="351858" y="255977"/>
                  <a:pt x="357262" y="246617"/>
                  <a:pt x="357262" y="236488"/>
                </a:cubicBezTo>
                <a:cubicBezTo>
                  <a:pt x="357262" y="220840"/>
                  <a:pt x="344558" y="208136"/>
                  <a:pt x="328910" y="208136"/>
                </a:cubicBezTo>
                <a:cubicBezTo>
                  <a:pt x="313262" y="208136"/>
                  <a:pt x="300558" y="220840"/>
                  <a:pt x="300558" y="236488"/>
                </a:cubicBezTo>
                <a:close/>
                <a:moveTo>
                  <a:pt x="52164" y="300484"/>
                </a:moveTo>
                <a:cubicBezTo>
                  <a:pt x="42035" y="300484"/>
                  <a:pt x="32675" y="305888"/>
                  <a:pt x="27611" y="314660"/>
                </a:cubicBezTo>
                <a:cubicBezTo>
                  <a:pt x="22546" y="323432"/>
                  <a:pt x="22546" y="334240"/>
                  <a:pt x="27611" y="343012"/>
                </a:cubicBezTo>
                <a:cubicBezTo>
                  <a:pt x="32675" y="351784"/>
                  <a:pt x="42035" y="357188"/>
                  <a:pt x="52164" y="357188"/>
                </a:cubicBezTo>
                <a:cubicBezTo>
                  <a:pt x="62293" y="357188"/>
                  <a:pt x="71653" y="351784"/>
                  <a:pt x="76718" y="343012"/>
                </a:cubicBezTo>
                <a:cubicBezTo>
                  <a:pt x="81782" y="334240"/>
                  <a:pt x="81782" y="323432"/>
                  <a:pt x="76718" y="314660"/>
                </a:cubicBezTo>
                <a:cubicBezTo>
                  <a:pt x="71653" y="305888"/>
                  <a:pt x="62293" y="300484"/>
                  <a:pt x="52164" y="300484"/>
                </a:cubicBezTo>
                <a:close/>
                <a:moveTo>
                  <a:pt x="116235" y="328836"/>
                </a:moveTo>
                <a:cubicBezTo>
                  <a:pt x="116235" y="338965"/>
                  <a:pt x="121639" y="348325"/>
                  <a:pt x="130411" y="353389"/>
                </a:cubicBezTo>
                <a:cubicBezTo>
                  <a:pt x="139183" y="358454"/>
                  <a:pt x="149990" y="358454"/>
                  <a:pt x="158762" y="353389"/>
                </a:cubicBezTo>
                <a:cubicBezTo>
                  <a:pt x="167534" y="348325"/>
                  <a:pt x="172938" y="338965"/>
                  <a:pt x="172938" y="328836"/>
                </a:cubicBezTo>
                <a:cubicBezTo>
                  <a:pt x="172938" y="318707"/>
                  <a:pt x="167534" y="309347"/>
                  <a:pt x="158762" y="304282"/>
                </a:cubicBezTo>
                <a:cubicBezTo>
                  <a:pt x="149990" y="299218"/>
                  <a:pt x="139183" y="299218"/>
                  <a:pt x="130411" y="304282"/>
                </a:cubicBezTo>
                <a:cubicBezTo>
                  <a:pt x="121639" y="309347"/>
                  <a:pt x="116235" y="318707"/>
                  <a:pt x="116235" y="328836"/>
                </a:cubicBezTo>
                <a:close/>
                <a:moveTo>
                  <a:pt x="236488" y="300484"/>
                </a:moveTo>
                <a:cubicBezTo>
                  <a:pt x="226359" y="300484"/>
                  <a:pt x="216999" y="305888"/>
                  <a:pt x="211935" y="314660"/>
                </a:cubicBezTo>
                <a:cubicBezTo>
                  <a:pt x="206870" y="323432"/>
                  <a:pt x="206870" y="334240"/>
                  <a:pt x="211935" y="343012"/>
                </a:cubicBezTo>
                <a:cubicBezTo>
                  <a:pt x="216999" y="351784"/>
                  <a:pt x="226359" y="357188"/>
                  <a:pt x="236488" y="357188"/>
                </a:cubicBezTo>
                <a:cubicBezTo>
                  <a:pt x="246617" y="357188"/>
                  <a:pt x="255977" y="351784"/>
                  <a:pt x="261041" y="343012"/>
                </a:cubicBezTo>
                <a:cubicBezTo>
                  <a:pt x="266106" y="334240"/>
                  <a:pt x="266106" y="323432"/>
                  <a:pt x="261041" y="314660"/>
                </a:cubicBezTo>
                <a:cubicBezTo>
                  <a:pt x="255977" y="305888"/>
                  <a:pt x="246617" y="300484"/>
                  <a:pt x="236488" y="300484"/>
                </a:cubicBezTo>
                <a:close/>
                <a:moveTo>
                  <a:pt x="300558" y="328836"/>
                </a:moveTo>
                <a:cubicBezTo>
                  <a:pt x="300558" y="338965"/>
                  <a:pt x="305962" y="348325"/>
                  <a:pt x="314734" y="353389"/>
                </a:cubicBezTo>
                <a:cubicBezTo>
                  <a:pt x="323506" y="358454"/>
                  <a:pt x="334314" y="358454"/>
                  <a:pt x="343086" y="353389"/>
                </a:cubicBezTo>
                <a:cubicBezTo>
                  <a:pt x="351858" y="348325"/>
                  <a:pt x="357262" y="338965"/>
                  <a:pt x="357262" y="328836"/>
                </a:cubicBezTo>
                <a:cubicBezTo>
                  <a:pt x="357262" y="313188"/>
                  <a:pt x="344558" y="300484"/>
                  <a:pt x="328910" y="300484"/>
                </a:cubicBezTo>
                <a:cubicBezTo>
                  <a:pt x="313262" y="300484"/>
                  <a:pt x="300558" y="313188"/>
                  <a:pt x="300558" y="328836"/>
                </a:cubicBezTo>
                <a:close/>
              </a:path>
            </a:pathLst>
          </a:custGeom>
          <a:solidFill>
            <a:srgbClr val="0EA5E9"/>
          </a:solidFill>
          <a:ln/>
        </p:spPr>
      </p:sp>
      <p:sp>
        <p:nvSpPr>
          <p:cNvPr id="20" name="Text 17"/>
          <p:cNvSpPr/>
          <p:nvPr/>
        </p:nvSpPr>
        <p:spPr>
          <a:xfrm>
            <a:off x="952500" y="5435600"/>
            <a:ext cx="4318000" cy="3048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Scalability</a:t>
            </a:r>
            <a:endParaRPr lang="en-US" sz="1600" dirty="0"/>
          </a:p>
        </p:txBody>
      </p:sp>
      <p:sp>
        <p:nvSpPr>
          <p:cNvPr id="21" name="Text 18"/>
          <p:cNvSpPr/>
          <p:nvPr/>
        </p:nvSpPr>
        <p:spPr>
          <a:xfrm>
            <a:off x="952500" y="5816600"/>
            <a:ext cx="4318000" cy="1270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Handle volume fluctuations without proportional staff increases. Process thousands of alerts simultaneously across distributed environments.</a:t>
            </a:r>
            <a:endParaRPr lang="en-US" sz="1400" dirty="0"/>
          </a:p>
        </p:txBody>
      </p:sp>
      <p:sp>
        <p:nvSpPr>
          <p:cNvPr id="22" name="Shape 19"/>
          <p:cNvSpPr/>
          <p:nvPr/>
        </p:nvSpPr>
        <p:spPr>
          <a:xfrm>
            <a:off x="5753100" y="4762500"/>
            <a:ext cx="4737100" cy="3302000"/>
          </a:xfrm>
          <a:prstGeom prst="rect">
            <a:avLst/>
          </a:prstGeom>
          <a:solidFill>
            <a:srgbClr val="1E293B"/>
          </a:solidFill>
          <a:ln/>
        </p:spPr>
      </p:sp>
      <p:sp>
        <p:nvSpPr>
          <p:cNvPr id="23" name="Shape 20"/>
          <p:cNvSpPr/>
          <p:nvPr/>
        </p:nvSpPr>
        <p:spPr>
          <a:xfrm>
            <a:off x="5943600" y="4953000"/>
            <a:ext cx="381000" cy="381000"/>
          </a:xfrm>
          <a:custGeom>
            <a:avLst/>
            <a:gdLst/>
            <a:ahLst/>
            <a:cxnLst/>
            <a:rect l="l" t="t" r="r" b="b"/>
            <a:pathLst>
              <a:path w="381000" h="381000">
                <a:moveTo>
                  <a:pt x="190500" y="23812"/>
                </a:moveTo>
                <a:cubicBezTo>
                  <a:pt x="137054" y="23812"/>
                  <a:pt x="94258" y="51197"/>
                  <a:pt x="63103" y="83790"/>
                </a:cubicBezTo>
                <a:cubicBezTo>
                  <a:pt x="32147" y="116160"/>
                  <a:pt x="11443" y="154781"/>
                  <a:pt x="1588" y="181347"/>
                </a:cubicBezTo>
                <a:cubicBezTo>
                  <a:pt x="-595" y="187226"/>
                  <a:pt x="-595" y="193774"/>
                  <a:pt x="1588" y="199653"/>
                </a:cubicBezTo>
                <a:cubicBezTo>
                  <a:pt x="11443" y="226219"/>
                  <a:pt x="32147" y="264914"/>
                  <a:pt x="63103" y="297210"/>
                </a:cubicBezTo>
                <a:cubicBezTo>
                  <a:pt x="94258" y="329729"/>
                  <a:pt x="137054" y="357188"/>
                  <a:pt x="190500" y="357188"/>
                </a:cubicBezTo>
                <a:cubicBezTo>
                  <a:pt x="243946" y="357188"/>
                  <a:pt x="286742" y="329803"/>
                  <a:pt x="317897" y="297210"/>
                </a:cubicBezTo>
                <a:cubicBezTo>
                  <a:pt x="348853" y="264840"/>
                  <a:pt x="369557" y="226219"/>
                  <a:pt x="379413" y="199653"/>
                </a:cubicBezTo>
                <a:cubicBezTo>
                  <a:pt x="381595" y="193774"/>
                  <a:pt x="381595" y="187226"/>
                  <a:pt x="379413" y="181347"/>
                </a:cubicBezTo>
                <a:cubicBezTo>
                  <a:pt x="369557" y="154781"/>
                  <a:pt x="348853" y="116086"/>
                  <a:pt x="317897" y="83790"/>
                </a:cubicBezTo>
                <a:cubicBezTo>
                  <a:pt x="286742" y="51271"/>
                  <a:pt x="243946" y="23812"/>
                  <a:pt x="190500" y="23812"/>
                </a:cubicBezTo>
                <a:close/>
                <a:moveTo>
                  <a:pt x="95250" y="190500"/>
                </a:moveTo>
                <a:cubicBezTo>
                  <a:pt x="95250" y="131359"/>
                  <a:pt x="137930" y="83344"/>
                  <a:pt x="190500" y="83344"/>
                </a:cubicBezTo>
                <a:cubicBezTo>
                  <a:pt x="243070" y="83344"/>
                  <a:pt x="285750" y="131359"/>
                  <a:pt x="285750" y="190500"/>
                </a:cubicBezTo>
                <a:cubicBezTo>
                  <a:pt x="285750" y="249641"/>
                  <a:pt x="243070" y="297656"/>
                  <a:pt x="190500" y="297656"/>
                </a:cubicBezTo>
                <a:cubicBezTo>
                  <a:pt x="137930" y="297656"/>
                  <a:pt x="95250" y="249641"/>
                  <a:pt x="95250" y="190500"/>
                </a:cubicBezTo>
                <a:close/>
                <a:moveTo>
                  <a:pt x="190500" y="142875"/>
                </a:moveTo>
                <a:cubicBezTo>
                  <a:pt x="190500" y="169143"/>
                  <a:pt x="171516" y="190500"/>
                  <a:pt x="148167" y="190500"/>
                </a:cubicBezTo>
                <a:cubicBezTo>
                  <a:pt x="140560" y="190500"/>
                  <a:pt x="133416" y="188268"/>
                  <a:pt x="127198" y="184249"/>
                </a:cubicBezTo>
                <a:cubicBezTo>
                  <a:pt x="126537" y="192360"/>
                  <a:pt x="127132" y="200695"/>
                  <a:pt x="129117" y="208955"/>
                </a:cubicBezTo>
                <a:cubicBezTo>
                  <a:pt x="138179" y="247055"/>
                  <a:pt x="173038" y="269677"/>
                  <a:pt x="206904" y="259482"/>
                </a:cubicBezTo>
                <a:cubicBezTo>
                  <a:pt x="240771" y="249287"/>
                  <a:pt x="260879" y="210071"/>
                  <a:pt x="251817" y="171971"/>
                </a:cubicBezTo>
                <a:cubicBezTo>
                  <a:pt x="243747" y="137964"/>
                  <a:pt x="215106" y="116309"/>
                  <a:pt x="184944" y="119286"/>
                </a:cubicBezTo>
                <a:cubicBezTo>
                  <a:pt x="188449" y="126206"/>
                  <a:pt x="190500" y="134243"/>
                  <a:pt x="190500" y="142875"/>
                </a:cubicBezTo>
                <a:close/>
              </a:path>
            </a:pathLst>
          </a:custGeom>
          <a:solidFill>
            <a:srgbClr val="0EA5E9"/>
          </a:solidFill>
          <a:ln/>
        </p:spPr>
      </p:sp>
      <p:sp>
        <p:nvSpPr>
          <p:cNvPr id="24" name="Text 21"/>
          <p:cNvSpPr/>
          <p:nvPr/>
        </p:nvSpPr>
        <p:spPr>
          <a:xfrm>
            <a:off x="5943600" y="5435600"/>
            <a:ext cx="4318000" cy="3048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Enhanced Detection</a:t>
            </a:r>
            <a:endParaRPr lang="en-US" sz="1600" dirty="0"/>
          </a:p>
        </p:txBody>
      </p:sp>
      <p:sp>
        <p:nvSpPr>
          <p:cNvPr id="25" name="Text 22"/>
          <p:cNvSpPr/>
          <p:nvPr/>
        </p:nvSpPr>
        <p:spPr>
          <a:xfrm>
            <a:off x="5943600" y="5816600"/>
            <a:ext cx="4318000" cy="1270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Cross-tool correlation identifies sophisticated attacks missed by isolated point solutions. 360-degree visibility across the security stack.</a:t>
            </a:r>
            <a:endParaRPr lang="en-US" sz="1400" dirty="0"/>
          </a:p>
        </p:txBody>
      </p:sp>
      <p:sp>
        <p:nvSpPr>
          <p:cNvPr id="26" name="Shape 23"/>
          <p:cNvSpPr/>
          <p:nvPr/>
        </p:nvSpPr>
        <p:spPr>
          <a:xfrm>
            <a:off x="10744200" y="4762500"/>
            <a:ext cx="4737100" cy="3302000"/>
          </a:xfrm>
          <a:prstGeom prst="rect">
            <a:avLst/>
          </a:prstGeom>
          <a:solidFill>
            <a:srgbClr val="1E293B"/>
          </a:solidFill>
          <a:ln/>
        </p:spPr>
      </p:sp>
      <p:sp>
        <p:nvSpPr>
          <p:cNvPr id="27" name="Shape 24"/>
          <p:cNvSpPr/>
          <p:nvPr/>
        </p:nvSpPr>
        <p:spPr>
          <a:xfrm>
            <a:off x="10934700" y="4953000"/>
            <a:ext cx="381000" cy="381000"/>
          </a:xfrm>
          <a:custGeom>
            <a:avLst/>
            <a:gdLst/>
            <a:ahLst/>
            <a:cxnLst/>
            <a:rect l="l" t="t" r="r" b="b"/>
            <a:pathLst>
              <a:path w="381000" h="381000">
                <a:moveTo>
                  <a:pt x="326571" y="381000"/>
                </a:moveTo>
                <a:lnTo>
                  <a:pt x="81643" y="381000"/>
                </a:lnTo>
                <a:cubicBezTo>
                  <a:pt x="36569" y="381000"/>
                  <a:pt x="0" y="349002"/>
                  <a:pt x="0" y="309563"/>
                </a:cubicBezTo>
                <a:lnTo>
                  <a:pt x="0" y="71438"/>
                </a:lnTo>
                <a:cubicBezTo>
                  <a:pt x="0" y="31998"/>
                  <a:pt x="36569" y="0"/>
                  <a:pt x="81643" y="0"/>
                </a:cubicBezTo>
                <a:lnTo>
                  <a:pt x="340179" y="0"/>
                </a:lnTo>
                <a:cubicBezTo>
                  <a:pt x="362715" y="0"/>
                  <a:pt x="381000" y="15999"/>
                  <a:pt x="381000" y="35719"/>
                </a:cubicBezTo>
                <a:lnTo>
                  <a:pt x="381000" y="250031"/>
                </a:lnTo>
                <a:cubicBezTo>
                  <a:pt x="381000" y="265584"/>
                  <a:pt x="369604" y="278829"/>
                  <a:pt x="353786" y="283741"/>
                </a:cubicBezTo>
                <a:lnTo>
                  <a:pt x="353786" y="333375"/>
                </a:lnTo>
                <a:cubicBezTo>
                  <a:pt x="368839" y="333375"/>
                  <a:pt x="381000" y="344016"/>
                  <a:pt x="381000" y="357188"/>
                </a:cubicBezTo>
                <a:cubicBezTo>
                  <a:pt x="381000" y="370359"/>
                  <a:pt x="368839" y="381000"/>
                  <a:pt x="353786" y="381000"/>
                </a:cubicBezTo>
                <a:lnTo>
                  <a:pt x="326571" y="381000"/>
                </a:lnTo>
                <a:close/>
                <a:moveTo>
                  <a:pt x="81643" y="285750"/>
                </a:moveTo>
                <a:cubicBezTo>
                  <a:pt x="66590" y="285750"/>
                  <a:pt x="54429" y="296391"/>
                  <a:pt x="54429" y="309563"/>
                </a:cubicBezTo>
                <a:cubicBezTo>
                  <a:pt x="54429" y="322734"/>
                  <a:pt x="66590" y="333375"/>
                  <a:pt x="81643" y="333375"/>
                </a:cubicBezTo>
                <a:lnTo>
                  <a:pt x="299357" y="333375"/>
                </a:lnTo>
                <a:lnTo>
                  <a:pt x="299357" y="285750"/>
                </a:lnTo>
                <a:lnTo>
                  <a:pt x="81643" y="285750"/>
                </a:lnTo>
                <a:close/>
                <a:moveTo>
                  <a:pt x="108857" y="113109"/>
                </a:moveTo>
                <a:cubicBezTo>
                  <a:pt x="108857" y="123006"/>
                  <a:pt x="117957" y="130969"/>
                  <a:pt x="129268" y="130969"/>
                </a:cubicBezTo>
                <a:lnTo>
                  <a:pt x="278946" y="130969"/>
                </a:lnTo>
                <a:cubicBezTo>
                  <a:pt x="290257" y="130969"/>
                  <a:pt x="299357" y="123006"/>
                  <a:pt x="299357" y="113109"/>
                </a:cubicBezTo>
                <a:cubicBezTo>
                  <a:pt x="299357" y="103212"/>
                  <a:pt x="290257" y="95250"/>
                  <a:pt x="278946" y="95250"/>
                </a:cubicBezTo>
                <a:lnTo>
                  <a:pt x="129268" y="95250"/>
                </a:lnTo>
                <a:cubicBezTo>
                  <a:pt x="117957" y="95250"/>
                  <a:pt x="108857" y="103212"/>
                  <a:pt x="108857" y="113109"/>
                </a:cubicBezTo>
                <a:close/>
                <a:moveTo>
                  <a:pt x="129268" y="166688"/>
                </a:moveTo>
                <a:cubicBezTo>
                  <a:pt x="117957" y="166688"/>
                  <a:pt x="108857" y="174650"/>
                  <a:pt x="108857" y="184547"/>
                </a:cubicBezTo>
                <a:cubicBezTo>
                  <a:pt x="108857" y="194444"/>
                  <a:pt x="117957" y="202406"/>
                  <a:pt x="129268" y="202406"/>
                </a:cubicBezTo>
                <a:lnTo>
                  <a:pt x="278946" y="202406"/>
                </a:lnTo>
                <a:cubicBezTo>
                  <a:pt x="290257" y="202406"/>
                  <a:pt x="299357" y="194444"/>
                  <a:pt x="299357" y="184547"/>
                </a:cubicBezTo>
                <a:cubicBezTo>
                  <a:pt x="299357" y="174650"/>
                  <a:pt x="290257" y="166688"/>
                  <a:pt x="278946" y="166688"/>
                </a:cubicBezTo>
                <a:lnTo>
                  <a:pt x="129268" y="166688"/>
                </a:lnTo>
                <a:close/>
              </a:path>
            </a:pathLst>
          </a:custGeom>
          <a:solidFill>
            <a:srgbClr val="0EA5E9"/>
          </a:solidFill>
          <a:ln/>
        </p:spPr>
      </p:sp>
      <p:sp>
        <p:nvSpPr>
          <p:cNvPr id="28" name="Text 25"/>
          <p:cNvSpPr/>
          <p:nvPr/>
        </p:nvSpPr>
        <p:spPr>
          <a:xfrm>
            <a:off x="10934700" y="5435600"/>
            <a:ext cx="4318000" cy="3048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Knowledge Preservation</a:t>
            </a:r>
            <a:endParaRPr lang="en-US" sz="1600" dirty="0"/>
          </a:p>
        </p:txBody>
      </p:sp>
      <p:sp>
        <p:nvSpPr>
          <p:cNvPr id="29" name="Text 26"/>
          <p:cNvSpPr/>
          <p:nvPr/>
        </p:nvSpPr>
        <p:spPr>
          <a:xfrm>
            <a:off x="10934700" y="5816600"/>
            <a:ext cx="4318000" cy="1270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Institutional response patterns captured and replicated, reducing dependency on individual experts and ensuring consistency.</a:t>
            </a:r>
            <a:endParaRPr lang="en-US" sz="1400" dirty="0"/>
          </a:p>
        </p:txBody>
      </p:sp>
      <p:sp>
        <p:nvSpPr>
          <p:cNvPr id="30" name="Text 27"/>
          <p:cNvSpPr/>
          <p:nvPr/>
        </p:nvSpPr>
        <p:spPr>
          <a:xfrm>
            <a:off x="762000" y="8763000"/>
            <a:ext cx="8890000" cy="254000"/>
          </a:xfrm>
          <a:prstGeom prst="rect">
            <a:avLst/>
          </a:prstGeom>
          <a:noFill/>
          <a:ln/>
        </p:spPr>
        <p:txBody>
          <a:bodyPr wrap="none" lIns="0" tIns="0" rIns="0" bIns="0" rtlCol="0" anchor="ctr"/>
          <a:lstStyle/>
          <a:p>
            <a:pPr algn="l">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Sources: IJERET 2025; Torq HyperSOC 2026</a:t>
            </a:r>
            <a:endParaRPr lang="en-US" sz="1200" dirty="0"/>
          </a:p>
        </p:txBody>
      </p:sp>
      <p:sp>
        <p:nvSpPr>
          <p:cNvPr id="31" name="Text 28"/>
          <p:cNvSpPr/>
          <p:nvPr/>
        </p:nvSpPr>
        <p:spPr>
          <a:xfrm>
            <a:off x="14986000" y="8763000"/>
            <a:ext cx="762000" cy="254000"/>
          </a:xfrm>
          <a:prstGeom prst="rect">
            <a:avLst/>
          </a:prstGeom>
          <a:noFill/>
          <a:ln/>
        </p:spPr>
        <p:txBody>
          <a:bodyPr wrap="none" lIns="0" tIns="0" rIns="0" bIns="0" rtlCol="0" anchor="ctr"/>
          <a:lstStyle/>
          <a:p>
            <a:pPr algn="r">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10</a:t>
            </a:r>
            <a:endParaRPr lang="en-US" sz="1200" dirty="0"/>
          </a:p>
        </p:txBody>
      </p:sp>
    </p:spTree>
  </p:cSld>
  <p:clrMapOvr>
    <a:masterClrMapping/>
  </p:clrMapOvr>
  <p:transition>
    <p:fade/>
    <p:spd val="med"/>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3" name="Shape 0"/>
          <p:cNvSpPr/>
          <p:nvPr/>
        </p:nvSpPr>
        <p:spPr>
          <a:xfrm>
            <a:off x="0" y="0"/>
            <a:ext cx="16256000" cy="50800"/>
          </a:xfrm>
          <a:prstGeom prst="rect">
            <a:avLst/>
          </a:prstGeom>
          <a:solidFill>
            <a:srgbClr val="0EA5E9"/>
          </a:solidFill>
          <a:ln/>
        </p:spPr>
      </p:sp>
      <p:sp>
        <p:nvSpPr>
          <p:cNvPr id="4" name="Text 1"/>
          <p:cNvSpPr/>
          <p:nvPr/>
        </p:nvSpPr>
        <p:spPr>
          <a:xfrm>
            <a:off x="762000" y="381000"/>
            <a:ext cx="7620000" cy="482600"/>
          </a:xfrm>
          <a:prstGeom prst="rect">
            <a:avLst/>
          </a:prstGeom>
          <a:noFill/>
          <a:ln/>
        </p:spPr>
        <p:txBody>
          <a:bodyPr wrap="none" lIns="0" tIns="0" rIns="0" bIns="0" rtlCol="0" anchor="ctr"/>
          <a:lstStyle/>
          <a:p>
            <a:pPr algn="l">
              <a:lnSpc>
                <a:spcPct val="120000"/>
              </a:lnSpc>
            </a:pPr>
            <a:r>
              <a:rPr lang="en-US" sz="2800" dirty="0">
                <a:solidFill>
                  <a:srgbClr val="0EA5E9"/>
                </a:solidFill>
                <a:latin typeface="Liter" pitchFamily="34" charset="0"/>
                <a:ea typeface="Liter" pitchFamily="34" charset="-122"/>
                <a:cs typeface="Liter" pitchFamily="34" charset="-120"/>
              </a:rPr>
              <a:t>Challenges &amp; Risks</a:t>
            </a:r>
            <a:endParaRPr lang="en-US" sz="2800" dirty="0"/>
          </a:p>
        </p:txBody>
      </p:sp>
      <p:sp>
        <p:nvSpPr>
          <p:cNvPr id="5" name="Shape 2"/>
          <p:cNvSpPr/>
          <p:nvPr/>
        </p:nvSpPr>
        <p:spPr>
          <a:xfrm>
            <a:off x="762000" y="939800"/>
            <a:ext cx="14732000" cy="12700"/>
          </a:xfrm>
          <a:prstGeom prst="rect">
            <a:avLst/>
          </a:prstGeom>
          <a:solidFill>
            <a:srgbClr val="475569"/>
          </a:solidFill>
          <a:ln/>
        </p:spPr>
      </p:sp>
      <p:sp>
        <p:nvSpPr>
          <p:cNvPr id="6" name="Shape 3"/>
          <p:cNvSpPr/>
          <p:nvPr/>
        </p:nvSpPr>
        <p:spPr>
          <a:xfrm>
            <a:off x="762000" y="1206500"/>
            <a:ext cx="7239000" cy="2222500"/>
          </a:xfrm>
          <a:prstGeom prst="rect">
            <a:avLst/>
          </a:prstGeom>
          <a:solidFill>
            <a:srgbClr val="1E293B"/>
          </a:solidFill>
          <a:ln/>
        </p:spPr>
      </p:sp>
      <p:sp>
        <p:nvSpPr>
          <p:cNvPr id="7" name="Shape 4"/>
          <p:cNvSpPr/>
          <p:nvPr/>
        </p:nvSpPr>
        <p:spPr>
          <a:xfrm>
            <a:off x="762000" y="1206500"/>
            <a:ext cx="50800" cy="2222500"/>
          </a:xfrm>
          <a:prstGeom prst="rect">
            <a:avLst/>
          </a:prstGeom>
          <a:solidFill>
            <a:srgbClr val="EF4444"/>
          </a:solidFill>
          <a:ln/>
        </p:spPr>
      </p:sp>
      <p:sp>
        <p:nvSpPr>
          <p:cNvPr id="8" name="Shape 5"/>
          <p:cNvSpPr/>
          <p:nvPr/>
        </p:nvSpPr>
        <p:spPr>
          <a:xfrm>
            <a:off x="1016000" y="1397000"/>
            <a:ext cx="330200" cy="330200"/>
          </a:xfrm>
          <a:custGeom>
            <a:avLst/>
            <a:gdLst/>
            <a:ahLst/>
            <a:cxnLst/>
            <a:rect l="l" t="t" r="r" b="b"/>
            <a:pathLst>
              <a:path w="330200" h="330200">
                <a:moveTo>
                  <a:pt x="23504" y="-16059"/>
                </a:moveTo>
                <a:cubicBezTo>
                  <a:pt x="18115" y="-22121"/>
                  <a:pt x="9402" y="-22121"/>
                  <a:pt x="4070" y="-16059"/>
                </a:cubicBezTo>
                <a:cubicBezTo>
                  <a:pt x="-1261" y="-9996"/>
                  <a:pt x="-1319" y="-193"/>
                  <a:pt x="4013" y="5869"/>
                </a:cubicBezTo>
                <a:lnTo>
                  <a:pt x="306696" y="346388"/>
                </a:lnTo>
                <a:cubicBezTo>
                  <a:pt x="312085" y="352450"/>
                  <a:pt x="320798" y="352450"/>
                  <a:pt x="326130" y="346388"/>
                </a:cubicBezTo>
                <a:cubicBezTo>
                  <a:pt x="331461" y="340325"/>
                  <a:pt x="331519" y="330522"/>
                  <a:pt x="326130" y="324525"/>
                </a:cubicBezTo>
                <a:lnTo>
                  <a:pt x="270867" y="262354"/>
                </a:lnTo>
                <a:cubicBezTo>
                  <a:pt x="272415" y="260806"/>
                  <a:pt x="273963" y="259259"/>
                  <a:pt x="275453" y="257711"/>
                </a:cubicBezTo>
                <a:cubicBezTo>
                  <a:pt x="302282" y="229657"/>
                  <a:pt x="320225" y="196185"/>
                  <a:pt x="328767" y="173162"/>
                </a:cubicBezTo>
                <a:cubicBezTo>
                  <a:pt x="330659" y="168067"/>
                  <a:pt x="330659" y="162391"/>
                  <a:pt x="328767" y="157296"/>
                </a:cubicBezTo>
                <a:cubicBezTo>
                  <a:pt x="320225" y="134273"/>
                  <a:pt x="302282" y="100737"/>
                  <a:pt x="275453" y="72747"/>
                </a:cubicBezTo>
                <a:cubicBezTo>
                  <a:pt x="248453" y="44564"/>
                  <a:pt x="211362" y="20766"/>
                  <a:pt x="165043" y="20766"/>
                </a:cubicBezTo>
                <a:cubicBezTo>
                  <a:pt x="132481" y="20766"/>
                  <a:pt x="104506" y="32504"/>
                  <a:pt x="81346" y="49272"/>
                </a:cubicBezTo>
                <a:lnTo>
                  <a:pt x="23504" y="-16059"/>
                </a:lnTo>
                <a:close/>
                <a:moveTo>
                  <a:pt x="117232" y="89451"/>
                </a:moveTo>
                <a:cubicBezTo>
                  <a:pt x="130704" y="78616"/>
                  <a:pt x="147271" y="72231"/>
                  <a:pt x="165100" y="72231"/>
                </a:cubicBezTo>
                <a:cubicBezTo>
                  <a:pt x="210674" y="72231"/>
                  <a:pt x="247650" y="113829"/>
                  <a:pt x="247650" y="165100"/>
                </a:cubicBezTo>
                <a:cubicBezTo>
                  <a:pt x="247650" y="185157"/>
                  <a:pt x="241975" y="203731"/>
                  <a:pt x="232344" y="218951"/>
                </a:cubicBezTo>
                <a:lnTo>
                  <a:pt x="212452" y="196572"/>
                </a:lnTo>
                <a:cubicBezTo>
                  <a:pt x="219732" y="182771"/>
                  <a:pt x="222197" y="165809"/>
                  <a:pt x="218242" y="149041"/>
                </a:cubicBezTo>
                <a:cubicBezTo>
                  <a:pt x="210388" y="116021"/>
                  <a:pt x="180177" y="96416"/>
                  <a:pt x="150826" y="105251"/>
                </a:cubicBezTo>
                <a:cubicBezTo>
                  <a:pt x="145896" y="106735"/>
                  <a:pt x="141252" y="108927"/>
                  <a:pt x="137067" y="111700"/>
                </a:cubicBezTo>
                <a:lnTo>
                  <a:pt x="117175" y="89322"/>
                </a:lnTo>
                <a:close/>
                <a:moveTo>
                  <a:pt x="186483" y="254809"/>
                </a:moveTo>
                <a:cubicBezTo>
                  <a:pt x="179661" y="256872"/>
                  <a:pt x="172495" y="257969"/>
                  <a:pt x="165100" y="257969"/>
                </a:cubicBezTo>
                <a:cubicBezTo>
                  <a:pt x="119526" y="257969"/>
                  <a:pt x="82550" y="216371"/>
                  <a:pt x="82550" y="165100"/>
                </a:cubicBezTo>
                <a:cubicBezTo>
                  <a:pt x="82550" y="156781"/>
                  <a:pt x="83525" y="148719"/>
                  <a:pt x="85359" y="141044"/>
                </a:cubicBezTo>
                <a:lnTo>
                  <a:pt x="39785" y="89773"/>
                </a:lnTo>
                <a:cubicBezTo>
                  <a:pt x="21096" y="113506"/>
                  <a:pt x="8255" y="138658"/>
                  <a:pt x="1433" y="157167"/>
                </a:cubicBezTo>
                <a:cubicBezTo>
                  <a:pt x="-459" y="162262"/>
                  <a:pt x="-459" y="167938"/>
                  <a:pt x="1433" y="173033"/>
                </a:cubicBezTo>
                <a:cubicBezTo>
                  <a:pt x="9975" y="196056"/>
                  <a:pt x="27918" y="229592"/>
                  <a:pt x="54747" y="257582"/>
                </a:cubicBezTo>
                <a:cubicBezTo>
                  <a:pt x="81747" y="285765"/>
                  <a:pt x="118838" y="309563"/>
                  <a:pt x="165157" y="309563"/>
                </a:cubicBezTo>
                <a:cubicBezTo>
                  <a:pt x="186540" y="309563"/>
                  <a:pt x="205974" y="304468"/>
                  <a:pt x="223344" y="296277"/>
                </a:cubicBezTo>
                <a:lnTo>
                  <a:pt x="186540" y="254873"/>
                </a:lnTo>
                <a:close/>
              </a:path>
            </a:pathLst>
          </a:custGeom>
          <a:solidFill>
            <a:srgbClr val="EF4444"/>
          </a:solidFill>
          <a:ln/>
        </p:spPr>
      </p:sp>
      <p:sp>
        <p:nvSpPr>
          <p:cNvPr id="9" name="Text 6"/>
          <p:cNvSpPr/>
          <p:nvPr/>
        </p:nvSpPr>
        <p:spPr>
          <a:xfrm>
            <a:off x="1447800" y="1397000"/>
            <a:ext cx="3810000" cy="3302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Explainability &amp; Transparency</a:t>
            </a:r>
            <a:endParaRPr lang="en-US" sz="1600" dirty="0"/>
          </a:p>
        </p:txBody>
      </p:sp>
      <p:sp>
        <p:nvSpPr>
          <p:cNvPr id="10" name="Text 7"/>
          <p:cNvSpPr/>
          <p:nvPr/>
        </p:nvSpPr>
        <p:spPr>
          <a:xfrm>
            <a:off x="1016000" y="1841500"/>
            <a:ext cx="6731000" cy="1397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SOC teams need visibility into how agents reach conclusions, what data was examined, and what was ruled out. Without this transparency, analysts cannot validate agent decisions, and </a:t>
            </a:r>
            <a:pPr algn="l">
              <a:lnSpc>
                <a:spcPct val="150000"/>
              </a:lnSpc>
            </a:pPr>
            <a:r>
              <a:rPr lang="en-US" sz="1400" b="1" dirty="0">
                <a:solidFill>
                  <a:srgbClr val="E2E8F0"/>
                </a:solidFill>
                <a:latin typeface="Quattrocento Sans" pitchFamily="34" charset="0"/>
                <a:ea typeface="Quattrocento Sans" pitchFamily="34" charset="-122"/>
                <a:cs typeface="Quattrocento Sans" pitchFamily="34" charset="-120"/>
              </a:rPr>
              <a:t>trust erodes quickly</a:t>
            </a:r>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 Explainable AI is not optional — it is a requirement for production deployment.</a:t>
            </a:r>
            <a:endParaRPr lang="en-US" sz="1400" dirty="0"/>
          </a:p>
        </p:txBody>
      </p:sp>
      <p:sp>
        <p:nvSpPr>
          <p:cNvPr id="11" name="Shape 8"/>
          <p:cNvSpPr/>
          <p:nvPr/>
        </p:nvSpPr>
        <p:spPr>
          <a:xfrm>
            <a:off x="8255000" y="1206500"/>
            <a:ext cx="7239000" cy="2222500"/>
          </a:xfrm>
          <a:prstGeom prst="rect">
            <a:avLst/>
          </a:prstGeom>
          <a:solidFill>
            <a:srgbClr val="1E293B"/>
          </a:solidFill>
          <a:ln/>
        </p:spPr>
      </p:sp>
      <p:sp>
        <p:nvSpPr>
          <p:cNvPr id="12" name="Shape 9"/>
          <p:cNvSpPr/>
          <p:nvPr/>
        </p:nvSpPr>
        <p:spPr>
          <a:xfrm>
            <a:off x="8255000" y="1206500"/>
            <a:ext cx="50800" cy="2222500"/>
          </a:xfrm>
          <a:prstGeom prst="rect">
            <a:avLst/>
          </a:prstGeom>
          <a:solidFill>
            <a:srgbClr val="F59E0B"/>
          </a:solidFill>
          <a:ln/>
        </p:spPr>
      </p:sp>
      <p:sp>
        <p:nvSpPr>
          <p:cNvPr id="13" name="Shape 10"/>
          <p:cNvSpPr/>
          <p:nvPr/>
        </p:nvSpPr>
        <p:spPr>
          <a:xfrm>
            <a:off x="8509000" y="1397000"/>
            <a:ext cx="330200" cy="330200"/>
          </a:xfrm>
          <a:custGeom>
            <a:avLst/>
            <a:gdLst/>
            <a:ahLst/>
            <a:cxnLst/>
            <a:rect l="l" t="t" r="r" b="b"/>
            <a:pathLst>
              <a:path w="330200" h="330200">
                <a:moveTo>
                  <a:pt x="283029" y="92869"/>
                </a:moveTo>
                <a:cubicBezTo>
                  <a:pt x="283029" y="41597"/>
                  <a:pt x="230256" y="0"/>
                  <a:pt x="165100" y="0"/>
                </a:cubicBezTo>
                <a:cubicBezTo>
                  <a:pt x="99944" y="0"/>
                  <a:pt x="47171" y="41597"/>
                  <a:pt x="47171" y="92869"/>
                </a:cubicBezTo>
                <a:cubicBezTo>
                  <a:pt x="47171" y="123245"/>
                  <a:pt x="65671" y="150202"/>
                  <a:pt x="94343" y="167164"/>
                </a:cubicBezTo>
                <a:lnTo>
                  <a:pt x="94343" y="185738"/>
                </a:lnTo>
                <a:cubicBezTo>
                  <a:pt x="94343" y="197153"/>
                  <a:pt x="104883" y="206375"/>
                  <a:pt x="117929" y="206375"/>
                </a:cubicBezTo>
                <a:lnTo>
                  <a:pt x="212271" y="206375"/>
                </a:lnTo>
                <a:cubicBezTo>
                  <a:pt x="225317" y="206375"/>
                  <a:pt x="235857" y="197153"/>
                  <a:pt x="235857" y="185738"/>
                </a:cubicBezTo>
                <a:lnTo>
                  <a:pt x="235857" y="167164"/>
                </a:lnTo>
                <a:cubicBezTo>
                  <a:pt x="264529" y="150202"/>
                  <a:pt x="283029" y="123245"/>
                  <a:pt x="283029" y="92869"/>
                </a:cubicBezTo>
                <a:close/>
                <a:moveTo>
                  <a:pt x="117929" y="82550"/>
                </a:moveTo>
                <a:cubicBezTo>
                  <a:pt x="130946" y="82550"/>
                  <a:pt x="141514" y="91797"/>
                  <a:pt x="141514" y="103188"/>
                </a:cubicBezTo>
                <a:cubicBezTo>
                  <a:pt x="141514" y="114578"/>
                  <a:pt x="130946" y="123825"/>
                  <a:pt x="117929" y="123825"/>
                </a:cubicBezTo>
                <a:cubicBezTo>
                  <a:pt x="104911" y="123825"/>
                  <a:pt x="94343" y="114578"/>
                  <a:pt x="94343" y="103188"/>
                </a:cubicBezTo>
                <a:cubicBezTo>
                  <a:pt x="94343" y="91797"/>
                  <a:pt x="104911" y="82550"/>
                  <a:pt x="117929" y="82550"/>
                </a:cubicBezTo>
                <a:close/>
                <a:moveTo>
                  <a:pt x="188686" y="103188"/>
                </a:moveTo>
                <a:cubicBezTo>
                  <a:pt x="188686" y="91797"/>
                  <a:pt x="199254" y="82550"/>
                  <a:pt x="212271" y="82550"/>
                </a:cubicBezTo>
                <a:cubicBezTo>
                  <a:pt x="225289" y="82550"/>
                  <a:pt x="235857" y="91797"/>
                  <a:pt x="235857" y="103188"/>
                </a:cubicBezTo>
                <a:cubicBezTo>
                  <a:pt x="235857" y="114578"/>
                  <a:pt x="225289" y="123825"/>
                  <a:pt x="212271" y="123825"/>
                </a:cubicBezTo>
                <a:cubicBezTo>
                  <a:pt x="199254" y="123825"/>
                  <a:pt x="188686" y="114578"/>
                  <a:pt x="188686" y="103188"/>
                </a:cubicBezTo>
                <a:close/>
                <a:moveTo>
                  <a:pt x="328357" y="219080"/>
                </a:moveTo>
                <a:cubicBezTo>
                  <a:pt x="323345" y="208568"/>
                  <a:pt x="309563" y="203602"/>
                  <a:pt x="297549" y="207987"/>
                </a:cubicBezTo>
                <a:lnTo>
                  <a:pt x="165100" y="256227"/>
                </a:lnTo>
                <a:lnTo>
                  <a:pt x="32651" y="207987"/>
                </a:lnTo>
                <a:cubicBezTo>
                  <a:pt x="20638" y="203602"/>
                  <a:pt x="6855" y="208568"/>
                  <a:pt x="1843" y="219080"/>
                </a:cubicBezTo>
                <a:cubicBezTo>
                  <a:pt x="-3169" y="229592"/>
                  <a:pt x="2506" y="241652"/>
                  <a:pt x="14520" y="246038"/>
                </a:cubicBezTo>
                <a:lnTo>
                  <a:pt x="103777" y="278606"/>
                </a:lnTo>
                <a:lnTo>
                  <a:pt x="14520" y="311175"/>
                </a:lnTo>
                <a:cubicBezTo>
                  <a:pt x="2506" y="315560"/>
                  <a:pt x="-3169" y="327620"/>
                  <a:pt x="1843" y="338133"/>
                </a:cubicBezTo>
                <a:cubicBezTo>
                  <a:pt x="6855" y="348645"/>
                  <a:pt x="20638" y="353611"/>
                  <a:pt x="32651" y="349225"/>
                </a:cubicBezTo>
                <a:lnTo>
                  <a:pt x="165100" y="300985"/>
                </a:lnTo>
                <a:lnTo>
                  <a:pt x="297549" y="349225"/>
                </a:lnTo>
                <a:cubicBezTo>
                  <a:pt x="309563" y="353611"/>
                  <a:pt x="323345" y="348645"/>
                  <a:pt x="328357" y="338133"/>
                </a:cubicBezTo>
                <a:cubicBezTo>
                  <a:pt x="333369" y="327620"/>
                  <a:pt x="327694" y="315560"/>
                  <a:pt x="315680" y="311175"/>
                </a:cubicBezTo>
                <a:lnTo>
                  <a:pt x="226423" y="278606"/>
                </a:lnTo>
                <a:lnTo>
                  <a:pt x="315680" y="246038"/>
                </a:lnTo>
                <a:cubicBezTo>
                  <a:pt x="327694" y="241652"/>
                  <a:pt x="333369" y="229592"/>
                  <a:pt x="328357" y="219080"/>
                </a:cubicBezTo>
                <a:close/>
              </a:path>
            </a:pathLst>
          </a:custGeom>
          <a:solidFill>
            <a:srgbClr val="F59E0B"/>
          </a:solidFill>
          <a:ln/>
        </p:spPr>
      </p:sp>
      <p:sp>
        <p:nvSpPr>
          <p:cNvPr id="14" name="Text 11"/>
          <p:cNvSpPr/>
          <p:nvPr/>
        </p:nvSpPr>
        <p:spPr>
          <a:xfrm>
            <a:off x="8940800" y="1397000"/>
            <a:ext cx="4445000" cy="3302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Adversarial Robustness</a:t>
            </a:r>
            <a:endParaRPr lang="en-US" sz="1600" dirty="0"/>
          </a:p>
        </p:txBody>
      </p:sp>
      <p:sp>
        <p:nvSpPr>
          <p:cNvPr id="15" name="Text 12"/>
          <p:cNvSpPr/>
          <p:nvPr/>
        </p:nvSpPr>
        <p:spPr>
          <a:xfrm>
            <a:off x="8509000" y="1841500"/>
            <a:ext cx="6731000" cy="1397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Prompt injection ranked </a:t>
            </a:r>
            <a:pPr algn="l">
              <a:lnSpc>
                <a:spcPct val="150000"/>
              </a:lnSpc>
            </a:pPr>
            <a:r>
              <a:rPr lang="en-US" sz="1400" b="1" dirty="0">
                <a:solidFill>
                  <a:srgbClr val="E2E8F0"/>
                </a:solidFill>
                <a:latin typeface="Quattrocento Sans" pitchFamily="34" charset="0"/>
                <a:ea typeface="Quattrocento Sans" pitchFamily="34" charset="-122"/>
                <a:cs typeface="Quattrocento Sans" pitchFamily="34" charset="-120"/>
              </a:rPr>
              <a:t>#1 on OWASP Top 10 for LLM Apps 2025</a:t>
            </a:r>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 with </a:t>
            </a:r>
            <a:pPr algn="l">
              <a:lnSpc>
                <a:spcPct val="150000"/>
              </a:lnSpc>
            </a:pPr>
            <a:r>
              <a:rPr lang="en-US" sz="1400" b="1" dirty="0">
                <a:solidFill>
                  <a:srgbClr val="E2E8F0"/>
                </a:solidFill>
                <a:latin typeface="Quattrocento Sans" pitchFamily="34" charset="0"/>
                <a:ea typeface="Quattrocento Sans" pitchFamily="34" charset="-122"/>
                <a:cs typeface="Quattrocento Sans" pitchFamily="34" charset="-120"/>
              </a:rPr>
              <a:t>84% attack success rates</a:t>
            </a:r>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 in agentic systems. Required defenses: input validation, context isolation, output verification, least-privilege tool permissions.</a:t>
            </a:r>
            <a:endParaRPr lang="en-US" sz="1400" dirty="0"/>
          </a:p>
        </p:txBody>
      </p:sp>
      <p:sp>
        <p:nvSpPr>
          <p:cNvPr id="16" name="Shape 13"/>
          <p:cNvSpPr/>
          <p:nvPr/>
        </p:nvSpPr>
        <p:spPr>
          <a:xfrm>
            <a:off x="762000" y="3683000"/>
            <a:ext cx="7239000" cy="2222500"/>
          </a:xfrm>
          <a:prstGeom prst="rect">
            <a:avLst/>
          </a:prstGeom>
          <a:solidFill>
            <a:srgbClr val="1E293B"/>
          </a:solidFill>
          <a:ln/>
        </p:spPr>
      </p:sp>
      <p:sp>
        <p:nvSpPr>
          <p:cNvPr id="17" name="Shape 14"/>
          <p:cNvSpPr/>
          <p:nvPr/>
        </p:nvSpPr>
        <p:spPr>
          <a:xfrm>
            <a:off x="762000" y="3683000"/>
            <a:ext cx="50800" cy="2222500"/>
          </a:xfrm>
          <a:prstGeom prst="rect">
            <a:avLst/>
          </a:prstGeom>
          <a:solidFill>
            <a:srgbClr val="0EA5E9"/>
          </a:solidFill>
          <a:ln/>
        </p:spPr>
      </p:sp>
      <p:sp>
        <p:nvSpPr>
          <p:cNvPr id="18" name="Shape 15"/>
          <p:cNvSpPr/>
          <p:nvPr/>
        </p:nvSpPr>
        <p:spPr>
          <a:xfrm>
            <a:off x="1016000" y="3873500"/>
            <a:ext cx="330200" cy="330200"/>
          </a:xfrm>
          <a:custGeom>
            <a:avLst/>
            <a:gdLst/>
            <a:ahLst/>
            <a:cxnLst/>
            <a:rect l="l" t="t" r="r" b="b"/>
            <a:pathLst>
              <a:path w="330200" h="330200">
                <a:moveTo>
                  <a:pt x="97226" y="98931"/>
                </a:moveTo>
                <a:lnTo>
                  <a:pt x="86506" y="86871"/>
                </a:lnTo>
                <a:cubicBezTo>
                  <a:pt x="79340" y="78809"/>
                  <a:pt x="79340" y="65718"/>
                  <a:pt x="86506" y="57656"/>
                </a:cubicBezTo>
                <a:lnTo>
                  <a:pt x="152259" y="-16381"/>
                </a:lnTo>
                <a:cubicBezTo>
                  <a:pt x="159425" y="-24443"/>
                  <a:pt x="171062" y="-24443"/>
                  <a:pt x="178228" y="-16381"/>
                </a:cubicBezTo>
                <a:lnTo>
                  <a:pt x="188948" y="-4256"/>
                </a:lnTo>
                <a:cubicBezTo>
                  <a:pt x="196114" y="3805"/>
                  <a:pt x="196114" y="16897"/>
                  <a:pt x="188948" y="24958"/>
                </a:cubicBezTo>
                <a:lnTo>
                  <a:pt x="123194" y="98931"/>
                </a:lnTo>
                <a:cubicBezTo>
                  <a:pt x="116029" y="106993"/>
                  <a:pt x="104391" y="106993"/>
                  <a:pt x="97226" y="98931"/>
                </a:cubicBezTo>
                <a:close/>
                <a:moveTo>
                  <a:pt x="158221" y="136530"/>
                </a:moveTo>
                <a:lnTo>
                  <a:pt x="140220" y="116279"/>
                </a:lnTo>
                <a:lnTo>
                  <a:pt x="204426" y="44048"/>
                </a:lnTo>
                <a:lnTo>
                  <a:pt x="272874" y="121052"/>
                </a:lnTo>
                <a:lnTo>
                  <a:pt x="208668" y="193283"/>
                </a:lnTo>
                <a:lnTo>
                  <a:pt x="190668" y="173033"/>
                </a:lnTo>
                <a:lnTo>
                  <a:pt x="57670" y="322654"/>
                </a:lnTo>
                <a:cubicBezTo>
                  <a:pt x="48727" y="332715"/>
                  <a:pt x="34224" y="332715"/>
                  <a:pt x="25224" y="322654"/>
                </a:cubicBezTo>
                <a:cubicBezTo>
                  <a:pt x="16223" y="312594"/>
                  <a:pt x="16281" y="296277"/>
                  <a:pt x="25224" y="286152"/>
                </a:cubicBezTo>
                <a:lnTo>
                  <a:pt x="158221" y="136530"/>
                </a:lnTo>
                <a:close/>
                <a:moveTo>
                  <a:pt x="224089" y="241588"/>
                </a:moveTo>
                <a:cubicBezTo>
                  <a:pt x="216923" y="233526"/>
                  <a:pt x="216923" y="220434"/>
                  <a:pt x="224089" y="212373"/>
                </a:cubicBezTo>
                <a:lnTo>
                  <a:pt x="289842" y="138400"/>
                </a:lnTo>
                <a:cubicBezTo>
                  <a:pt x="297008" y="130339"/>
                  <a:pt x="308645" y="130339"/>
                  <a:pt x="315811" y="138400"/>
                </a:cubicBezTo>
                <a:lnTo>
                  <a:pt x="326531" y="150460"/>
                </a:lnTo>
                <a:cubicBezTo>
                  <a:pt x="333697" y="158522"/>
                  <a:pt x="333697" y="171614"/>
                  <a:pt x="326531" y="179675"/>
                </a:cubicBezTo>
                <a:lnTo>
                  <a:pt x="260778" y="253712"/>
                </a:lnTo>
                <a:cubicBezTo>
                  <a:pt x="253612" y="261774"/>
                  <a:pt x="241975" y="261774"/>
                  <a:pt x="234809" y="253712"/>
                </a:cubicBezTo>
                <a:lnTo>
                  <a:pt x="224089" y="241652"/>
                </a:lnTo>
                <a:close/>
              </a:path>
            </a:pathLst>
          </a:custGeom>
          <a:solidFill>
            <a:srgbClr val="0EA5E9"/>
          </a:solidFill>
          <a:ln/>
        </p:spPr>
      </p:sp>
      <p:sp>
        <p:nvSpPr>
          <p:cNvPr id="19" name="Text 16"/>
          <p:cNvSpPr/>
          <p:nvPr/>
        </p:nvSpPr>
        <p:spPr>
          <a:xfrm>
            <a:off x="1447800" y="3873500"/>
            <a:ext cx="3810000" cy="3302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Regulatory Compliance</a:t>
            </a:r>
            <a:endParaRPr lang="en-US" sz="1600" dirty="0"/>
          </a:p>
        </p:txBody>
      </p:sp>
      <p:sp>
        <p:nvSpPr>
          <p:cNvPr id="20" name="Text 17"/>
          <p:cNvSpPr/>
          <p:nvPr/>
        </p:nvSpPr>
        <p:spPr>
          <a:xfrm>
            <a:off x="1016000" y="4318000"/>
            <a:ext cx="6731000" cy="1397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Audit logging of every agent action, tool call, and reasoning step is mandatory. Rollback mechanisms must be defined for reversible vs. irreversible actions. Governance guardrails required for financial and regulated industries.</a:t>
            </a:r>
            <a:endParaRPr lang="en-US" sz="1400" dirty="0"/>
          </a:p>
        </p:txBody>
      </p:sp>
      <p:sp>
        <p:nvSpPr>
          <p:cNvPr id="21" name="Shape 18"/>
          <p:cNvSpPr/>
          <p:nvPr/>
        </p:nvSpPr>
        <p:spPr>
          <a:xfrm>
            <a:off x="8255000" y="3683000"/>
            <a:ext cx="7239000" cy="2222500"/>
          </a:xfrm>
          <a:prstGeom prst="rect">
            <a:avLst/>
          </a:prstGeom>
          <a:solidFill>
            <a:srgbClr val="1E293B"/>
          </a:solidFill>
          <a:ln/>
        </p:spPr>
      </p:sp>
      <p:sp>
        <p:nvSpPr>
          <p:cNvPr id="22" name="Shape 19"/>
          <p:cNvSpPr/>
          <p:nvPr/>
        </p:nvSpPr>
        <p:spPr>
          <a:xfrm>
            <a:off x="8255000" y="3683000"/>
            <a:ext cx="50800" cy="2222500"/>
          </a:xfrm>
          <a:prstGeom prst="rect">
            <a:avLst/>
          </a:prstGeom>
          <a:solidFill>
            <a:srgbClr val="A855F7"/>
          </a:solidFill>
          <a:ln/>
        </p:spPr>
      </p:sp>
      <p:sp>
        <p:nvSpPr>
          <p:cNvPr id="23" name="Shape 20"/>
          <p:cNvSpPr/>
          <p:nvPr/>
        </p:nvSpPr>
        <p:spPr>
          <a:xfrm>
            <a:off x="8509000" y="3873500"/>
            <a:ext cx="330200" cy="330200"/>
          </a:xfrm>
          <a:custGeom>
            <a:avLst/>
            <a:gdLst/>
            <a:ahLst/>
            <a:cxnLst/>
            <a:rect l="l" t="t" r="r" b="b"/>
            <a:pathLst>
              <a:path w="330200" h="330200">
                <a:moveTo>
                  <a:pt x="144463" y="0"/>
                </a:moveTo>
                <a:cubicBezTo>
                  <a:pt x="167228" y="0"/>
                  <a:pt x="185738" y="13866"/>
                  <a:pt x="185738" y="30956"/>
                </a:cubicBezTo>
                <a:cubicBezTo>
                  <a:pt x="185738" y="37663"/>
                  <a:pt x="182900" y="43855"/>
                  <a:pt x="177998" y="48950"/>
                </a:cubicBezTo>
                <a:cubicBezTo>
                  <a:pt x="173742" y="53400"/>
                  <a:pt x="170259" y="58817"/>
                  <a:pt x="170259" y="65008"/>
                </a:cubicBezTo>
                <a:cubicBezTo>
                  <a:pt x="170259" y="74682"/>
                  <a:pt x="178127" y="82550"/>
                  <a:pt x="187801" y="82550"/>
                </a:cubicBezTo>
                <a:lnTo>
                  <a:pt x="216694" y="82550"/>
                </a:lnTo>
                <a:cubicBezTo>
                  <a:pt x="233784" y="82550"/>
                  <a:pt x="247650" y="96416"/>
                  <a:pt x="247650" y="113506"/>
                </a:cubicBezTo>
                <a:lnTo>
                  <a:pt x="247650" y="142399"/>
                </a:lnTo>
                <a:cubicBezTo>
                  <a:pt x="247650" y="152073"/>
                  <a:pt x="255518" y="159941"/>
                  <a:pt x="265192" y="159941"/>
                </a:cubicBezTo>
                <a:cubicBezTo>
                  <a:pt x="271319" y="159941"/>
                  <a:pt x="276800" y="156458"/>
                  <a:pt x="281250" y="152202"/>
                </a:cubicBezTo>
                <a:cubicBezTo>
                  <a:pt x="286345" y="147365"/>
                  <a:pt x="292537" y="144463"/>
                  <a:pt x="299244" y="144463"/>
                </a:cubicBezTo>
                <a:cubicBezTo>
                  <a:pt x="316334" y="144463"/>
                  <a:pt x="330200" y="162972"/>
                  <a:pt x="330200" y="185738"/>
                </a:cubicBezTo>
                <a:cubicBezTo>
                  <a:pt x="330200" y="208503"/>
                  <a:pt x="316334" y="227013"/>
                  <a:pt x="299244" y="227013"/>
                </a:cubicBezTo>
                <a:cubicBezTo>
                  <a:pt x="292537" y="227013"/>
                  <a:pt x="286281" y="224175"/>
                  <a:pt x="281250" y="219273"/>
                </a:cubicBezTo>
                <a:cubicBezTo>
                  <a:pt x="276800" y="215017"/>
                  <a:pt x="271383" y="211534"/>
                  <a:pt x="265192" y="211534"/>
                </a:cubicBezTo>
                <a:cubicBezTo>
                  <a:pt x="255518" y="211534"/>
                  <a:pt x="247650" y="219402"/>
                  <a:pt x="247650" y="229076"/>
                </a:cubicBezTo>
                <a:lnTo>
                  <a:pt x="247650" y="299244"/>
                </a:lnTo>
                <a:cubicBezTo>
                  <a:pt x="247650" y="316334"/>
                  <a:pt x="233784" y="330200"/>
                  <a:pt x="216694" y="330200"/>
                </a:cubicBezTo>
                <a:lnTo>
                  <a:pt x="180062" y="330200"/>
                </a:lnTo>
                <a:cubicBezTo>
                  <a:pt x="171807" y="330200"/>
                  <a:pt x="165100" y="323493"/>
                  <a:pt x="165100" y="315238"/>
                </a:cubicBezTo>
                <a:cubicBezTo>
                  <a:pt x="165100" y="309305"/>
                  <a:pt x="168841" y="304081"/>
                  <a:pt x="173613" y="300534"/>
                </a:cubicBezTo>
                <a:cubicBezTo>
                  <a:pt x="181094" y="294923"/>
                  <a:pt x="185738" y="287184"/>
                  <a:pt x="185738" y="278606"/>
                </a:cubicBezTo>
                <a:cubicBezTo>
                  <a:pt x="185738" y="261516"/>
                  <a:pt x="167228" y="247650"/>
                  <a:pt x="144463" y="247650"/>
                </a:cubicBezTo>
                <a:cubicBezTo>
                  <a:pt x="121697" y="247650"/>
                  <a:pt x="103188" y="261516"/>
                  <a:pt x="103188" y="278606"/>
                </a:cubicBezTo>
                <a:cubicBezTo>
                  <a:pt x="103188" y="287184"/>
                  <a:pt x="107831" y="294923"/>
                  <a:pt x="115312" y="300534"/>
                </a:cubicBezTo>
                <a:cubicBezTo>
                  <a:pt x="120084" y="304081"/>
                  <a:pt x="123825" y="309240"/>
                  <a:pt x="123825" y="315238"/>
                </a:cubicBezTo>
                <a:cubicBezTo>
                  <a:pt x="123825" y="323493"/>
                  <a:pt x="117118" y="330200"/>
                  <a:pt x="108863" y="330200"/>
                </a:cubicBezTo>
                <a:lnTo>
                  <a:pt x="30956" y="330200"/>
                </a:lnTo>
                <a:cubicBezTo>
                  <a:pt x="13866" y="330200"/>
                  <a:pt x="0" y="316334"/>
                  <a:pt x="0" y="299244"/>
                </a:cubicBezTo>
                <a:lnTo>
                  <a:pt x="0" y="221337"/>
                </a:lnTo>
                <a:cubicBezTo>
                  <a:pt x="0" y="213082"/>
                  <a:pt x="6707" y="206375"/>
                  <a:pt x="14962" y="206375"/>
                </a:cubicBezTo>
                <a:cubicBezTo>
                  <a:pt x="20895" y="206375"/>
                  <a:pt x="26119" y="210116"/>
                  <a:pt x="29666" y="214888"/>
                </a:cubicBezTo>
                <a:cubicBezTo>
                  <a:pt x="35277" y="222369"/>
                  <a:pt x="43016" y="227013"/>
                  <a:pt x="51594" y="227013"/>
                </a:cubicBezTo>
                <a:cubicBezTo>
                  <a:pt x="68684" y="227013"/>
                  <a:pt x="82550" y="208503"/>
                  <a:pt x="82550" y="185738"/>
                </a:cubicBezTo>
                <a:cubicBezTo>
                  <a:pt x="82550" y="162972"/>
                  <a:pt x="68684" y="144463"/>
                  <a:pt x="51594" y="144463"/>
                </a:cubicBezTo>
                <a:cubicBezTo>
                  <a:pt x="43016" y="144463"/>
                  <a:pt x="35277" y="149106"/>
                  <a:pt x="29666" y="156587"/>
                </a:cubicBezTo>
                <a:cubicBezTo>
                  <a:pt x="26119" y="161359"/>
                  <a:pt x="20960" y="165100"/>
                  <a:pt x="14962" y="165100"/>
                </a:cubicBezTo>
                <a:cubicBezTo>
                  <a:pt x="6707" y="165100"/>
                  <a:pt x="0" y="158393"/>
                  <a:pt x="0" y="150138"/>
                </a:cubicBezTo>
                <a:lnTo>
                  <a:pt x="0" y="113506"/>
                </a:lnTo>
                <a:cubicBezTo>
                  <a:pt x="0" y="96416"/>
                  <a:pt x="13866" y="82550"/>
                  <a:pt x="30956" y="82550"/>
                </a:cubicBezTo>
                <a:lnTo>
                  <a:pt x="101124" y="82550"/>
                </a:lnTo>
                <a:cubicBezTo>
                  <a:pt x="110798" y="82550"/>
                  <a:pt x="118666" y="74682"/>
                  <a:pt x="118666" y="65008"/>
                </a:cubicBezTo>
                <a:cubicBezTo>
                  <a:pt x="118666" y="58881"/>
                  <a:pt x="115183" y="53400"/>
                  <a:pt x="110927" y="48950"/>
                </a:cubicBezTo>
                <a:cubicBezTo>
                  <a:pt x="106090" y="43855"/>
                  <a:pt x="103188" y="37663"/>
                  <a:pt x="103188" y="30956"/>
                </a:cubicBezTo>
                <a:cubicBezTo>
                  <a:pt x="103188" y="13866"/>
                  <a:pt x="121697" y="0"/>
                  <a:pt x="144463" y="0"/>
                </a:cubicBezTo>
                <a:close/>
              </a:path>
            </a:pathLst>
          </a:custGeom>
          <a:solidFill>
            <a:srgbClr val="A855F7"/>
          </a:solidFill>
          <a:ln/>
        </p:spPr>
      </p:sp>
      <p:sp>
        <p:nvSpPr>
          <p:cNvPr id="24" name="Text 21"/>
          <p:cNvSpPr/>
          <p:nvPr/>
        </p:nvSpPr>
        <p:spPr>
          <a:xfrm>
            <a:off x="8940800" y="3873500"/>
            <a:ext cx="4445000" cy="3302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Integration Complexity</a:t>
            </a:r>
            <a:endParaRPr lang="en-US" sz="1600" dirty="0"/>
          </a:p>
        </p:txBody>
      </p:sp>
      <p:sp>
        <p:nvSpPr>
          <p:cNvPr id="25" name="Text 22"/>
          <p:cNvSpPr/>
          <p:nvPr/>
        </p:nvSpPr>
        <p:spPr>
          <a:xfrm>
            <a:off x="8509000" y="4318000"/>
            <a:ext cx="6731000" cy="13970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SOCs manage </a:t>
            </a:r>
            <a:pPr algn="l">
              <a:lnSpc>
                <a:spcPct val="150000"/>
              </a:lnSpc>
            </a:pPr>
            <a:r>
              <a:rPr lang="en-US" sz="1400" b="1" dirty="0">
                <a:solidFill>
                  <a:srgbClr val="E2E8F0"/>
                </a:solidFill>
                <a:latin typeface="Quattrocento Sans" pitchFamily="34" charset="0"/>
                <a:ea typeface="Quattrocento Sans" pitchFamily="34" charset="-122"/>
                <a:cs typeface="Quattrocento Sans" pitchFamily="34" charset="-120"/>
              </a:rPr>
              <a:t>20+ disparate tools</a:t>
            </a:r>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 with limited integration. Agents must orchestrate across SIEM, EDR, XDR, SOAR, cloud security, and identity platforms — requiring significant engineering investment.</a:t>
            </a:r>
            <a:endParaRPr lang="en-US" sz="1400" dirty="0"/>
          </a:p>
        </p:txBody>
      </p:sp>
      <p:sp>
        <p:nvSpPr>
          <p:cNvPr id="26" name="Shape 23"/>
          <p:cNvSpPr/>
          <p:nvPr/>
        </p:nvSpPr>
        <p:spPr>
          <a:xfrm>
            <a:off x="762000" y="6159500"/>
            <a:ext cx="7239000" cy="1143000"/>
          </a:xfrm>
          <a:prstGeom prst="rect">
            <a:avLst/>
          </a:prstGeom>
          <a:solidFill>
            <a:srgbClr val="1E293B"/>
          </a:solidFill>
          <a:ln/>
        </p:spPr>
      </p:sp>
      <p:sp>
        <p:nvSpPr>
          <p:cNvPr id="27" name="Shape 24"/>
          <p:cNvSpPr/>
          <p:nvPr/>
        </p:nvSpPr>
        <p:spPr>
          <a:xfrm>
            <a:off x="762000" y="6159500"/>
            <a:ext cx="50800" cy="1143000"/>
          </a:xfrm>
          <a:prstGeom prst="rect">
            <a:avLst/>
          </a:prstGeom>
          <a:solidFill>
            <a:srgbClr val="10B981"/>
          </a:solidFill>
          <a:ln/>
        </p:spPr>
      </p:sp>
      <p:sp>
        <p:nvSpPr>
          <p:cNvPr id="28" name="Shape 25"/>
          <p:cNvSpPr/>
          <p:nvPr/>
        </p:nvSpPr>
        <p:spPr>
          <a:xfrm>
            <a:off x="1016000" y="6350000"/>
            <a:ext cx="330200" cy="330200"/>
          </a:xfrm>
          <a:custGeom>
            <a:avLst/>
            <a:gdLst/>
            <a:ahLst/>
            <a:cxnLst/>
            <a:rect l="l" t="t" r="r" b="b"/>
            <a:pathLst>
              <a:path w="330200" h="330200">
                <a:moveTo>
                  <a:pt x="177851" y="-8384"/>
                </a:moveTo>
                <a:cubicBezTo>
                  <a:pt x="169449" y="-9867"/>
                  <a:pt x="160825" y="-9867"/>
                  <a:pt x="152423" y="-8384"/>
                </a:cubicBezTo>
                <a:lnTo>
                  <a:pt x="14225" y="15801"/>
                </a:lnTo>
                <a:cubicBezTo>
                  <a:pt x="5970" y="17219"/>
                  <a:pt x="0" y="23604"/>
                  <a:pt x="0" y="30956"/>
                </a:cubicBezTo>
                <a:cubicBezTo>
                  <a:pt x="0" y="37599"/>
                  <a:pt x="4791" y="43403"/>
                  <a:pt x="11793" y="45531"/>
                </a:cubicBezTo>
                <a:lnTo>
                  <a:pt x="11793" y="92869"/>
                </a:lnTo>
                <a:lnTo>
                  <a:pt x="221" y="143560"/>
                </a:lnTo>
                <a:cubicBezTo>
                  <a:pt x="74" y="144140"/>
                  <a:pt x="0" y="144785"/>
                  <a:pt x="0" y="145430"/>
                </a:cubicBezTo>
                <a:cubicBezTo>
                  <a:pt x="0" y="150589"/>
                  <a:pt x="4791" y="154846"/>
                  <a:pt x="10761" y="154846"/>
                </a:cubicBezTo>
                <a:lnTo>
                  <a:pt x="36484" y="154846"/>
                </a:lnTo>
                <a:cubicBezTo>
                  <a:pt x="42381" y="154846"/>
                  <a:pt x="47245" y="150654"/>
                  <a:pt x="47245" y="145430"/>
                </a:cubicBezTo>
                <a:cubicBezTo>
                  <a:pt x="47245" y="144785"/>
                  <a:pt x="47171" y="144205"/>
                  <a:pt x="47024" y="143560"/>
                </a:cubicBezTo>
                <a:lnTo>
                  <a:pt x="35379" y="92869"/>
                </a:lnTo>
                <a:lnTo>
                  <a:pt x="35379" y="49852"/>
                </a:lnTo>
                <a:lnTo>
                  <a:pt x="70757" y="56044"/>
                </a:lnTo>
                <a:lnTo>
                  <a:pt x="70757" y="92869"/>
                </a:lnTo>
                <a:cubicBezTo>
                  <a:pt x="70757" y="138465"/>
                  <a:pt x="112990" y="175419"/>
                  <a:pt x="165100" y="175419"/>
                </a:cubicBezTo>
                <a:cubicBezTo>
                  <a:pt x="217210" y="175419"/>
                  <a:pt x="259443" y="138465"/>
                  <a:pt x="259443" y="92869"/>
                </a:cubicBezTo>
                <a:lnTo>
                  <a:pt x="259443" y="56044"/>
                </a:lnTo>
                <a:lnTo>
                  <a:pt x="315975" y="46176"/>
                </a:lnTo>
                <a:cubicBezTo>
                  <a:pt x="324230" y="44693"/>
                  <a:pt x="330200" y="38308"/>
                  <a:pt x="330200" y="30956"/>
                </a:cubicBezTo>
                <a:cubicBezTo>
                  <a:pt x="330200" y="23604"/>
                  <a:pt x="324230" y="17219"/>
                  <a:pt x="315975" y="15801"/>
                </a:cubicBezTo>
                <a:lnTo>
                  <a:pt x="177851" y="-8384"/>
                </a:lnTo>
                <a:close/>
                <a:moveTo>
                  <a:pt x="165100" y="144463"/>
                </a:moveTo>
                <a:cubicBezTo>
                  <a:pt x="132522" y="144463"/>
                  <a:pt x="106136" y="121374"/>
                  <a:pt x="106136" y="92869"/>
                </a:cubicBezTo>
                <a:lnTo>
                  <a:pt x="224064" y="92869"/>
                </a:lnTo>
                <a:cubicBezTo>
                  <a:pt x="224064" y="121374"/>
                  <a:pt x="197678" y="144463"/>
                  <a:pt x="165100" y="144463"/>
                </a:cubicBezTo>
                <a:close/>
                <a:moveTo>
                  <a:pt x="88520" y="206439"/>
                </a:moveTo>
                <a:cubicBezTo>
                  <a:pt x="43265" y="224626"/>
                  <a:pt x="11793" y="264611"/>
                  <a:pt x="11793" y="311046"/>
                </a:cubicBezTo>
                <a:cubicBezTo>
                  <a:pt x="11793" y="321623"/>
                  <a:pt x="21596" y="330200"/>
                  <a:pt x="33683" y="330200"/>
                </a:cubicBezTo>
                <a:lnTo>
                  <a:pt x="147411" y="330200"/>
                </a:lnTo>
                <a:lnTo>
                  <a:pt x="147411" y="236041"/>
                </a:lnTo>
                <a:lnTo>
                  <a:pt x="105104" y="208310"/>
                </a:lnTo>
                <a:cubicBezTo>
                  <a:pt x="100313" y="205150"/>
                  <a:pt x="93901" y="204311"/>
                  <a:pt x="88446" y="206504"/>
                </a:cubicBezTo>
                <a:close/>
                <a:moveTo>
                  <a:pt x="182789" y="330200"/>
                </a:moveTo>
                <a:lnTo>
                  <a:pt x="296517" y="330200"/>
                </a:lnTo>
                <a:cubicBezTo>
                  <a:pt x="308604" y="330200"/>
                  <a:pt x="318407" y="321623"/>
                  <a:pt x="318407" y="311046"/>
                </a:cubicBezTo>
                <a:cubicBezTo>
                  <a:pt x="318407" y="264611"/>
                  <a:pt x="286935" y="224626"/>
                  <a:pt x="241680" y="206504"/>
                </a:cubicBezTo>
                <a:cubicBezTo>
                  <a:pt x="236226" y="204311"/>
                  <a:pt x="229813" y="205150"/>
                  <a:pt x="225022" y="208310"/>
                </a:cubicBezTo>
                <a:lnTo>
                  <a:pt x="182716" y="236041"/>
                </a:lnTo>
                <a:lnTo>
                  <a:pt x="182716" y="330200"/>
                </a:lnTo>
                <a:close/>
              </a:path>
            </a:pathLst>
          </a:custGeom>
          <a:solidFill>
            <a:srgbClr val="10B981"/>
          </a:solidFill>
          <a:ln/>
        </p:spPr>
      </p:sp>
      <p:sp>
        <p:nvSpPr>
          <p:cNvPr id="29" name="Text 26"/>
          <p:cNvSpPr/>
          <p:nvPr/>
        </p:nvSpPr>
        <p:spPr>
          <a:xfrm>
            <a:off x="1447800" y="6350000"/>
            <a:ext cx="3810000" cy="3302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Skill Gap</a:t>
            </a:r>
            <a:endParaRPr lang="en-US" sz="1600" dirty="0"/>
          </a:p>
        </p:txBody>
      </p:sp>
      <p:sp>
        <p:nvSpPr>
          <p:cNvPr id="30" name="Text 27"/>
          <p:cNvSpPr/>
          <p:nvPr/>
        </p:nvSpPr>
        <p:spPr>
          <a:xfrm>
            <a:off x="1016000" y="6731000"/>
            <a:ext cx="6731000" cy="444500"/>
          </a:xfrm>
          <a:prstGeom prst="rect">
            <a:avLst/>
          </a:prstGeom>
          <a:noFill/>
          <a:ln/>
        </p:spPr>
        <p:txBody>
          <a:bodyPr wrap="square" lIns="0" tIns="0" rIns="0" bIns="0" rtlCol="0" anchor="t"/>
          <a:lstStyle/>
          <a:p>
            <a:pPr algn="l">
              <a:lnSpc>
                <a:spcPct val="140000"/>
              </a:lnSpc>
            </a:pPr>
            <a:r>
              <a:rPr lang="en-US" sz="1400" dirty="0">
                <a:solidFill>
                  <a:srgbClr val="E2E8F0"/>
                </a:solidFill>
                <a:latin typeface="Quattrocento Sans" pitchFamily="34" charset="0"/>
                <a:ea typeface="Quattrocento Sans" pitchFamily="34" charset="-122"/>
                <a:cs typeface="Quattrocento Sans" pitchFamily="34" charset="-120"/>
              </a:rPr>
              <a:t>Shortage of professionals who understand both AI and cybersecurity deeply.</a:t>
            </a:r>
            <a:endParaRPr lang="en-US" sz="1400" dirty="0"/>
          </a:p>
        </p:txBody>
      </p:sp>
      <p:sp>
        <p:nvSpPr>
          <p:cNvPr id="31" name="Shape 28"/>
          <p:cNvSpPr/>
          <p:nvPr/>
        </p:nvSpPr>
        <p:spPr>
          <a:xfrm>
            <a:off x="8255000" y="6159500"/>
            <a:ext cx="7239000" cy="1143000"/>
          </a:xfrm>
          <a:prstGeom prst="rect">
            <a:avLst/>
          </a:prstGeom>
          <a:solidFill>
            <a:srgbClr val="1E293B"/>
          </a:solidFill>
          <a:ln/>
        </p:spPr>
      </p:sp>
      <p:sp>
        <p:nvSpPr>
          <p:cNvPr id="32" name="Shape 29"/>
          <p:cNvSpPr/>
          <p:nvPr/>
        </p:nvSpPr>
        <p:spPr>
          <a:xfrm>
            <a:off x="8255000" y="6159500"/>
            <a:ext cx="50800" cy="1143000"/>
          </a:xfrm>
          <a:prstGeom prst="rect">
            <a:avLst/>
          </a:prstGeom>
          <a:solidFill>
            <a:srgbClr val="475569"/>
          </a:solidFill>
          <a:ln/>
        </p:spPr>
      </p:sp>
      <p:sp>
        <p:nvSpPr>
          <p:cNvPr id="33" name="Shape 30"/>
          <p:cNvSpPr/>
          <p:nvPr/>
        </p:nvSpPr>
        <p:spPr>
          <a:xfrm>
            <a:off x="8509000" y="6350000"/>
            <a:ext cx="330200" cy="330200"/>
          </a:xfrm>
          <a:custGeom>
            <a:avLst/>
            <a:gdLst/>
            <a:ahLst/>
            <a:cxnLst/>
            <a:rect l="l" t="t" r="r" b="b"/>
            <a:pathLst>
              <a:path w="330200" h="330200">
                <a:moveTo>
                  <a:pt x="165100" y="0"/>
                </a:moveTo>
                <a:cubicBezTo>
                  <a:pt x="174580" y="0"/>
                  <a:pt x="183287" y="5224"/>
                  <a:pt x="187801" y="13543"/>
                </a:cubicBezTo>
                <a:lnTo>
                  <a:pt x="327104" y="271512"/>
                </a:lnTo>
                <a:cubicBezTo>
                  <a:pt x="331425" y="279509"/>
                  <a:pt x="331232" y="289183"/>
                  <a:pt x="326588" y="296987"/>
                </a:cubicBezTo>
                <a:cubicBezTo>
                  <a:pt x="321945" y="304790"/>
                  <a:pt x="313497" y="309563"/>
                  <a:pt x="304403" y="309563"/>
                </a:cubicBezTo>
                <a:lnTo>
                  <a:pt x="25797" y="309563"/>
                </a:lnTo>
                <a:cubicBezTo>
                  <a:pt x="16703" y="309563"/>
                  <a:pt x="8319" y="304790"/>
                  <a:pt x="3612" y="296987"/>
                </a:cubicBezTo>
                <a:cubicBezTo>
                  <a:pt x="-1096" y="289183"/>
                  <a:pt x="-1225" y="279509"/>
                  <a:pt x="3096" y="271512"/>
                </a:cubicBezTo>
                <a:lnTo>
                  <a:pt x="142399" y="13543"/>
                </a:lnTo>
                <a:cubicBezTo>
                  <a:pt x="146913" y="5224"/>
                  <a:pt x="155620" y="0"/>
                  <a:pt x="165100" y="0"/>
                </a:cubicBezTo>
                <a:close/>
                <a:moveTo>
                  <a:pt x="165100" y="108347"/>
                </a:moveTo>
                <a:cubicBezTo>
                  <a:pt x="156523" y="108347"/>
                  <a:pt x="149622" y="115248"/>
                  <a:pt x="149622" y="123825"/>
                </a:cubicBezTo>
                <a:lnTo>
                  <a:pt x="149622" y="196056"/>
                </a:lnTo>
                <a:cubicBezTo>
                  <a:pt x="149622" y="204634"/>
                  <a:pt x="156523" y="211534"/>
                  <a:pt x="165100" y="211534"/>
                </a:cubicBezTo>
                <a:cubicBezTo>
                  <a:pt x="173677" y="211534"/>
                  <a:pt x="180578" y="204634"/>
                  <a:pt x="180578" y="196056"/>
                </a:cubicBezTo>
                <a:lnTo>
                  <a:pt x="180578" y="123825"/>
                </a:lnTo>
                <a:cubicBezTo>
                  <a:pt x="180578" y="115248"/>
                  <a:pt x="173677" y="108347"/>
                  <a:pt x="165100" y="108347"/>
                </a:cubicBezTo>
                <a:close/>
                <a:moveTo>
                  <a:pt x="182319" y="247650"/>
                </a:moveTo>
                <a:cubicBezTo>
                  <a:pt x="182711" y="241258"/>
                  <a:pt x="179524" y="235177"/>
                  <a:pt x="174044" y="231863"/>
                </a:cubicBezTo>
                <a:cubicBezTo>
                  <a:pt x="168565" y="228549"/>
                  <a:pt x="161699" y="228549"/>
                  <a:pt x="156220" y="231863"/>
                </a:cubicBezTo>
                <a:cubicBezTo>
                  <a:pt x="150741" y="235177"/>
                  <a:pt x="147553" y="241258"/>
                  <a:pt x="147945" y="247650"/>
                </a:cubicBezTo>
                <a:cubicBezTo>
                  <a:pt x="147553" y="254042"/>
                  <a:pt x="150741" y="260123"/>
                  <a:pt x="156220" y="263437"/>
                </a:cubicBezTo>
                <a:cubicBezTo>
                  <a:pt x="161699" y="266751"/>
                  <a:pt x="168565" y="266751"/>
                  <a:pt x="174044" y="263437"/>
                </a:cubicBezTo>
                <a:cubicBezTo>
                  <a:pt x="179524" y="260123"/>
                  <a:pt x="182711" y="254042"/>
                  <a:pt x="182319" y="247650"/>
                </a:cubicBezTo>
                <a:close/>
              </a:path>
            </a:pathLst>
          </a:custGeom>
          <a:solidFill>
            <a:srgbClr val="475569"/>
          </a:solidFill>
          <a:ln/>
        </p:spPr>
      </p:sp>
      <p:sp>
        <p:nvSpPr>
          <p:cNvPr id="34" name="Text 31"/>
          <p:cNvSpPr/>
          <p:nvPr/>
        </p:nvSpPr>
        <p:spPr>
          <a:xfrm>
            <a:off x="8940800" y="6350000"/>
            <a:ext cx="4445000" cy="330200"/>
          </a:xfrm>
          <a:prstGeom prst="rect">
            <a:avLst/>
          </a:prstGeom>
          <a:noFill/>
          <a:ln/>
        </p:spPr>
        <p:txBody>
          <a:bodyPr wrap="none" lIns="0" tIns="0" rIns="0" bIns="0" rtlCol="0" anchor="ctr"/>
          <a:lstStyle/>
          <a:p>
            <a:pPr algn="l">
              <a:lnSpc>
                <a:spcPct val="120000"/>
              </a:lnSpc>
            </a:pPr>
            <a:r>
              <a:rPr lang="en-US" sz="1600" dirty="0">
                <a:solidFill>
                  <a:srgbClr val="FFFFFF"/>
                </a:solidFill>
                <a:latin typeface="Liter" pitchFamily="34" charset="0"/>
                <a:ea typeface="Liter" pitchFamily="34" charset="-122"/>
                <a:cs typeface="Liter" pitchFamily="34" charset="-120"/>
              </a:rPr>
              <a:t>Over-Reliance Risk</a:t>
            </a:r>
            <a:endParaRPr lang="en-US" sz="1600" dirty="0"/>
          </a:p>
        </p:txBody>
      </p:sp>
      <p:sp>
        <p:nvSpPr>
          <p:cNvPr id="35" name="Text 32"/>
          <p:cNvSpPr/>
          <p:nvPr/>
        </p:nvSpPr>
        <p:spPr>
          <a:xfrm>
            <a:off x="8509000" y="6731000"/>
            <a:ext cx="6731000" cy="444500"/>
          </a:xfrm>
          <a:prstGeom prst="rect">
            <a:avLst/>
          </a:prstGeom>
          <a:noFill/>
          <a:ln/>
        </p:spPr>
        <p:txBody>
          <a:bodyPr wrap="square" lIns="0" tIns="0" rIns="0" bIns="0" rtlCol="0" anchor="t"/>
          <a:lstStyle/>
          <a:p>
            <a:pPr algn="l">
              <a:lnSpc>
                <a:spcPct val="140000"/>
              </a:lnSpc>
            </a:pPr>
            <a:r>
              <a:rPr lang="en-US" sz="1400" dirty="0">
                <a:solidFill>
                  <a:srgbClr val="E2E8F0"/>
                </a:solidFill>
                <a:latin typeface="Quattrocento Sans" pitchFamily="34" charset="0"/>
                <a:ea typeface="Quattrocento Sans" pitchFamily="34" charset="-122"/>
                <a:cs typeface="Quattrocento Sans" pitchFamily="34" charset="-120"/>
              </a:rPr>
              <a:t>Excessive trust in autonomous systems may degrade human analyst skills over time.</a:t>
            </a:r>
            <a:endParaRPr lang="en-US" sz="1400" dirty="0"/>
          </a:p>
        </p:txBody>
      </p:sp>
      <p:sp>
        <p:nvSpPr>
          <p:cNvPr id="36" name="Text 33"/>
          <p:cNvSpPr/>
          <p:nvPr/>
        </p:nvSpPr>
        <p:spPr>
          <a:xfrm>
            <a:off x="762000" y="8763000"/>
            <a:ext cx="8890000" cy="254000"/>
          </a:xfrm>
          <a:prstGeom prst="rect">
            <a:avLst/>
          </a:prstGeom>
          <a:noFill/>
          <a:ln/>
        </p:spPr>
        <p:txBody>
          <a:bodyPr wrap="none" lIns="0" tIns="0" rIns="0" bIns="0" rtlCol="0" anchor="ctr"/>
          <a:lstStyle/>
          <a:p>
            <a:pPr algn="l">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Sources: NextAgile 2026; Prophet Security 2026; OWASP LLM Top 10 2025</a:t>
            </a:r>
            <a:endParaRPr lang="en-US" sz="1200" dirty="0"/>
          </a:p>
        </p:txBody>
      </p:sp>
      <p:sp>
        <p:nvSpPr>
          <p:cNvPr id="37" name="Text 34"/>
          <p:cNvSpPr/>
          <p:nvPr/>
        </p:nvSpPr>
        <p:spPr>
          <a:xfrm>
            <a:off x="14986000" y="8763000"/>
            <a:ext cx="762000" cy="254000"/>
          </a:xfrm>
          <a:prstGeom prst="rect">
            <a:avLst/>
          </a:prstGeom>
          <a:noFill/>
          <a:ln/>
        </p:spPr>
        <p:txBody>
          <a:bodyPr wrap="none" lIns="0" tIns="0" rIns="0" bIns="0" rtlCol="0" anchor="ctr"/>
          <a:lstStyle/>
          <a:p>
            <a:pPr algn="r">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11</a:t>
            </a:r>
            <a:endParaRPr lang="en-US" sz="1200" dirty="0"/>
          </a:p>
        </p:txBody>
      </p:sp>
    </p:spTree>
  </p:cSld>
  <p:clrMapOvr>
    <a:masterClrMapping/>
  </p:clrMapOvr>
  <p:transition>
    <p:fade/>
    <p:spd val="med"/>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2A"/>
        </a:solidFill>
      </p:bgPr>
    </p:bg>
    <p:spTree>
      <p:nvGrpSpPr>
        <p:cNvPr id="1" name=""/>
        <p:cNvGrpSpPr/>
        <p:nvPr/>
      </p:nvGrpSpPr>
      <p:grpSpPr>
        <a:xfrm>
          <a:off x="0" y="0"/>
          <a:ext cx="0" cy="0"/>
          <a:chOff x="0" y="0"/>
          <a:chExt cx="0" cy="0"/>
        </a:xfrm>
      </p:grpSpPr>
      <p:sp>
        <p:nvSpPr>
          <p:cNvPr id="3" name="Shape 0"/>
          <p:cNvSpPr/>
          <p:nvPr/>
        </p:nvSpPr>
        <p:spPr>
          <a:xfrm>
            <a:off x="0" y="0"/>
            <a:ext cx="16256000" cy="50800"/>
          </a:xfrm>
          <a:prstGeom prst="rect">
            <a:avLst/>
          </a:prstGeom>
          <a:solidFill>
            <a:srgbClr val="0EA5E9"/>
          </a:solidFill>
          <a:ln/>
        </p:spPr>
      </p:sp>
      <p:sp>
        <p:nvSpPr>
          <p:cNvPr id="4" name="Text 1"/>
          <p:cNvSpPr/>
          <p:nvPr/>
        </p:nvSpPr>
        <p:spPr>
          <a:xfrm>
            <a:off x="762000" y="381000"/>
            <a:ext cx="7620000" cy="482600"/>
          </a:xfrm>
          <a:prstGeom prst="rect">
            <a:avLst/>
          </a:prstGeom>
          <a:noFill/>
          <a:ln/>
        </p:spPr>
        <p:txBody>
          <a:bodyPr wrap="none" lIns="0" tIns="0" rIns="0" bIns="0" rtlCol="0" anchor="ctr"/>
          <a:lstStyle/>
          <a:p>
            <a:pPr algn="l">
              <a:lnSpc>
                <a:spcPct val="120000"/>
              </a:lnSpc>
            </a:pPr>
            <a:r>
              <a:rPr lang="en-US" sz="2800" dirty="0">
                <a:solidFill>
                  <a:srgbClr val="0EA5E9"/>
                </a:solidFill>
                <a:latin typeface="Liter" pitchFamily="34" charset="0"/>
                <a:ea typeface="Liter" pitchFamily="34" charset="-122"/>
                <a:cs typeface="Liter" pitchFamily="34" charset="-120"/>
              </a:rPr>
              <a:t>Future Scope</a:t>
            </a:r>
            <a:endParaRPr lang="en-US" sz="2800" dirty="0"/>
          </a:p>
        </p:txBody>
      </p:sp>
      <p:sp>
        <p:nvSpPr>
          <p:cNvPr id="5" name="Shape 2"/>
          <p:cNvSpPr/>
          <p:nvPr/>
        </p:nvSpPr>
        <p:spPr>
          <a:xfrm>
            <a:off x="762000" y="939800"/>
            <a:ext cx="14732000" cy="12700"/>
          </a:xfrm>
          <a:prstGeom prst="rect">
            <a:avLst/>
          </a:prstGeom>
          <a:solidFill>
            <a:srgbClr val="475569"/>
          </a:solidFill>
          <a:ln/>
        </p:spPr>
      </p:sp>
      <p:sp>
        <p:nvSpPr>
          <p:cNvPr id="6" name="Text 3"/>
          <p:cNvSpPr/>
          <p:nvPr/>
        </p:nvSpPr>
        <p:spPr>
          <a:xfrm>
            <a:off x="762000" y="1117600"/>
            <a:ext cx="6350000" cy="279400"/>
          </a:xfrm>
          <a:prstGeom prst="rect">
            <a:avLst/>
          </a:prstGeom>
          <a:noFill/>
          <a:ln/>
        </p:spPr>
        <p:txBody>
          <a:bodyPr wrap="none" lIns="0" tIns="0" rIns="0" bIns="0" rtlCol="0" anchor="ctr"/>
          <a:lstStyle/>
          <a:p>
            <a:pPr algn="l">
              <a:lnSpc>
                <a:spcPct val="120000"/>
              </a:lnSpc>
            </a:pPr>
            <a:r>
              <a:rPr lang="en-US" sz="1400" spc="200" kern="0" dirty="0">
                <a:solidFill>
                  <a:srgbClr val="22D3EE"/>
                </a:solidFill>
                <a:latin typeface="Liter" pitchFamily="34" charset="0"/>
                <a:ea typeface="Liter" pitchFamily="34" charset="-122"/>
                <a:cs typeface="Liter" pitchFamily="34" charset="-120"/>
              </a:rPr>
              <a:t>AUTONOMY GRADUATION MODEL</a:t>
            </a:r>
            <a:endParaRPr lang="en-US" sz="1400" dirty="0"/>
          </a:p>
        </p:txBody>
      </p:sp>
      <p:sp>
        <p:nvSpPr>
          <p:cNvPr id="7" name="Shape 4"/>
          <p:cNvSpPr/>
          <p:nvPr/>
        </p:nvSpPr>
        <p:spPr>
          <a:xfrm>
            <a:off x="762000" y="1498600"/>
            <a:ext cx="2286000" cy="1270000"/>
          </a:xfrm>
          <a:prstGeom prst="rect">
            <a:avLst/>
          </a:prstGeom>
          <a:solidFill>
            <a:srgbClr val="1E293B"/>
          </a:solidFill>
          <a:ln w="12700">
            <a:solidFill>
              <a:srgbClr val="475569"/>
            </a:solidFill>
            <a:prstDash val="solid"/>
          </a:ln>
        </p:spPr>
      </p:sp>
      <p:sp>
        <p:nvSpPr>
          <p:cNvPr id="8" name="Text 5"/>
          <p:cNvSpPr/>
          <p:nvPr/>
        </p:nvSpPr>
        <p:spPr>
          <a:xfrm>
            <a:off x="762000" y="1549400"/>
            <a:ext cx="2286000" cy="381000"/>
          </a:xfrm>
          <a:prstGeom prst="rect">
            <a:avLst/>
          </a:prstGeom>
          <a:noFill/>
          <a:ln/>
        </p:spPr>
        <p:txBody>
          <a:bodyPr wrap="none" lIns="0" tIns="0" rIns="0" bIns="0" rtlCol="0" anchor="ctr"/>
          <a:lstStyle/>
          <a:p>
            <a:pPr algn="ctr">
              <a:lnSpc>
                <a:spcPct val="120000"/>
              </a:lnSpc>
            </a:pPr>
            <a:r>
              <a:rPr lang="en-US" sz="2000" dirty="0">
                <a:solidFill>
                  <a:srgbClr val="475569"/>
                </a:solidFill>
                <a:latin typeface="Liter" pitchFamily="34" charset="0"/>
                <a:ea typeface="Liter" pitchFamily="34" charset="-122"/>
                <a:cs typeface="Liter" pitchFamily="34" charset="-120"/>
              </a:rPr>
              <a:t>L0</a:t>
            </a:r>
            <a:endParaRPr lang="en-US" sz="2000" dirty="0"/>
          </a:p>
        </p:txBody>
      </p:sp>
      <p:sp>
        <p:nvSpPr>
          <p:cNvPr id="9" name="Text 6"/>
          <p:cNvSpPr/>
          <p:nvPr/>
        </p:nvSpPr>
        <p:spPr>
          <a:xfrm>
            <a:off x="825500" y="1968500"/>
            <a:ext cx="2159000" cy="698500"/>
          </a:xfrm>
          <a:prstGeom prst="rect">
            <a:avLst/>
          </a:prstGeom>
          <a:noFill/>
          <a:ln/>
        </p:spPr>
        <p:txBody>
          <a:bodyPr wrap="square" lIns="0" tIns="0" rIns="0" bIns="0" rtlCol="0" anchor="t"/>
          <a:lstStyle/>
          <a:p>
            <a:pPr algn="ctr">
              <a:lnSpc>
                <a:spcPct val="140000"/>
              </a:lnSpc>
            </a:pPr>
            <a:r>
              <a:rPr lang="en-US" sz="1200" dirty="0">
                <a:solidFill>
                  <a:srgbClr val="E2E8F0"/>
                </a:solidFill>
                <a:latin typeface="Quattrocento Sans" pitchFamily="34" charset="0"/>
                <a:ea typeface="Quattrocento Sans" pitchFamily="34" charset="-122"/>
                <a:cs typeface="Quattrocento Sans" pitchFamily="34" charset="-120"/>
              </a:rPr>
              <a:t>Human does everything; agent suggests only</a:t>
            </a:r>
            <a:endParaRPr lang="en-US" sz="1200" dirty="0"/>
          </a:p>
        </p:txBody>
      </p:sp>
      <p:sp>
        <p:nvSpPr>
          <p:cNvPr id="10" name="Shape 7"/>
          <p:cNvSpPr/>
          <p:nvPr/>
        </p:nvSpPr>
        <p:spPr>
          <a:xfrm>
            <a:off x="3111500" y="2032000"/>
            <a:ext cx="228600" cy="0"/>
          </a:xfrm>
          <a:prstGeom prst="straightConnector1">
            <a:avLst/>
          </a:prstGeom>
          <a:noFill/>
          <a:ln w="25400">
            <a:solidFill>
              <a:srgbClr val="475569"/>
            </a:solidFill>
            <a:prstDash val="solid"/>
            <a:headEnd type="none"/>
            <a:tailEnd type="arrow"/>
          </a:ln>
        </p:spPr>
      </p:sp>
      <p:sp>
        <p:nvSpPr>
          <p:cNvPr id="11" name="Shape 8"/>
          <p:cNvSpPr/>
          <p:nvPr/>
        </p:nvSpPr>
        <p:spPr>
          <a:xfrm>
            <a:off x="3403600" y="1498600"/>
            <a:ext cx="2286000" cy="1270000"/>
          </a:xfrm>
          <a:prstGeom prst="rect">
            <a:avLst/>
          </a:prstGeom>
          <a:solidFill>
            <a:srgbClr val="1E293B"/>
          </a:solidFill>
          <a:ln w="12700">
            <a:solidFill>
              <a:srgbClr val="0EA5E9"/>
            </a:solidFill>
            <a:prstDash val="solid"/>
          </a:ln>
        </p:spPr>
      </p:sp>
      <p:sp>
        <p:nvSpPr>
          <p:cNvPr id="12" name="Text 9"/>
          <p:cNvSpPr/>
          <p:nvPr/>
        </p:nvSpPr>
        <p:spPr>
          <a:xfrm>
            <a:off x="3403600" y="1549400"/>
            <a:ext cx="2286000" cy="381000"/>
          </a:xfrm>
          <a:prstGeom prst="rect">
            <a:avLst/>
          </a:prstGeom>
          <a:noFill/>
          <a:ln/>
        </p:spPr>
        <p:txBody>
          <a:bodyPr wrap="none" lIns="0" tIns="0" rIns="0" bIns="0" rtlCol="0" anchor="ctr"/>
          <a:lstStyle/>
          <a:p>
            <a:pPr algn="ctr">
              <a:lnSpc>
                <a:spcPct val="120000"/>
              </a:lnSpc>
            </a:pPr>
            <a:r>
              <a:rPr lang="en-US" sz="2000" dirty="0">
                <a:solidFill>
                  <a:srgbClr val="0EA5E9"/>
                </a:solidFill>
                <a:latin typeface="Liter" pitchFamily="34" charset="0"/>
                <a:ea typeface="Liter" pitchFamily="34" charset="-122"/>
                <a:cs typeface="Liter" pitchFamily="34" charset="-120"/>
              </a:rPr>
              <a:t>L1</a:t>
            </a:r>
            <a:endParaRPr lang="en-US" sz="2000" dirty="0"/>
          </a:p>
        </p:txBody>
      </p:sp>
      <p:sp>
        <p:nvSpPr>
          <p:cNvPr id="13" name="Text 10"/>
          <p:cNvSpPr/>
          <p:nvPr/>
        </p:nvSpPr>
        <p:spPr>
          <a:xfrm>
            <a:off x="3467100" y="1968500"/>
            <a:ext cx="2159000" cy="698500"/>
          </a:xfrm>
          <a:prstGeom prst="rect">
            <a:avLst/>
          </a:prstGeom>
          <a:noFill/>
          <a:ln/>
        </p:spPr>
        <p:txBody>
          <a:bodyPr wrap="square" lIns="0" tIns="0" rIns="0" bIns="0" rtlCol="0" anchor="t"/>
          <a:lstStyle/>
          <a:p>
            <a:pPr algn="ctr">
              <a:lnSpc>
                <a:spcPct val="140000"/>
              </a:lnSpc>
            </a:pPr>
            <a:r>
              <a:rPr lang="en-US" sz="1200" dirty="0">
                <a:solidFill>
                  <a:srgbClr val="E2E8F0"/>
                </a:solidFill>
                <a:latin typeface="Quattrocento Sans" pitchFamily="34" charset="0"/>
                <a:ea typeface="Quattrocento Sans" pitchFamily="34" charset="-122"/>
                <a:cs typeface="Quattrocento Sans" pitchFamily="34" charset="-120"/>
              </a:rPr>
              <a:t>Agent acts; human approves before execution</a:t>
            </a:r>
            <a:endParaRPr lang="en-US" sz="1200" dirty="0"/>
          </a:p>
        </p:txBody>
      </p:sp>
      <p:sp>
        <p:nvSpPr>
          <p:cNvPr id="14" name="Text 11"/>
          <p:cNvSpPr/>
          <p:nvPr/>
        </p:nvSpPr>
        <p:spPr>
          <a:xfrm>
            <a:off x="3403600" y="2794000"/>
            <a:ext cx="2286000" cy="228600"/>
          </a:xfrm>
          <a:prstGeom prst="rect">
            <a:avLst/>
          </a:prstGeom>
          <a:noFill/>
          <a:ln/>
        </p:spPr>
        <p:txBody>
          <a:bodyPr wrap="none" lIns="0" tIns="0" rIns="0" bIns="0" rtlCol="0" anchor="ctr"/>
          <a:lstStyle/>
          <a:p>
            <a:pPr algn="ctr">
              <a:lnSpc>
                <a:spcPct val="120000"/>
              </a:lnSpc>
            </a:pPr>
            <a:r>
              <a:rPr lang="en-US" sz="1000" spc="100" kern="0" dirty="0">
                <a:solidFill>
                  <a:srgbClr val="0EA5E9"/>
                </a:solidFill>
                <a:latin typeface="Liter" pitchFamily="34" charset="0"/>
                <a:ea typeface="Liter" pitchFamily="34" charset="-122"/>
                <a:cs typeface="Liter" pitchFamily="34" charset="-120"/>
              </a:rPr>
              <a:t>MOST ENTERPRISES 2026</a:t>
            </a:r>
            <a:endParaRPr lang="en-US" sz="1000" dirty="0"/>
          </a:p>
        </p:txBody>
      </p:sp>
      <p:sp>
        <p:nvSpPr>
          <p:cNvPr id="15" name="Shape 12"/>
          <p:cNvSpPr/>
          <p:nvPr/>
        </p:nvSpPr>
        <p:spPr>
          <a:xfrm>
            <a:off x="5753100" y="2032000"/>
            <a:ext cx="228600" cy="0"/>
          </a:xfrm>
          <a:prstGeom prst="straightConnector1">
            <a:avLst/>
          </a:prstGeom>
          <a:noFill/>
          <a:ln w="25400">
            <a:solidFill>
              <a:srgbClr val="475569"/>
            </a:solidFill>
            <a:prstDash val="solid"/>
            <a:headEnd type="none"/>
            <a:tailEnd type="arrow"/>
          </a:ln>
        </p:spPr>
      </p:sp>
      <p:sp>
        <p:nvSpPr>
          <p:cNvPr id="16" name="Shape 13"/>
          <p:cNvSpPr/>
          <p:nvPr/>
        </p:nvSpPr>
        <p:spPr>
          <a:xfrm>
            <a:off x="6045200" y="1498600"/>
            <a:ext cx="2286000" cy="1270000"/>
          </a:xfrm>
          <a:prstGeom prst="rect">
            <a:avLst/>
          </a:prstGeom>
          <a:solidFill>
            <a:srgbClr val="1E293B"/>
          </a:solidFill>
          <a:ln w="12700">
            <a:solidFill>
              <a:srgbClr val="0EA5E9"/>
            </a:solidFill>
            <a:prstDash val="solid"/>
          </a:ln>
        </p:spPr>
      </p:sp>
      <p:sp>
        <p:nvSpPr>
          <p:cNvPr id="17" name="Text 14"/>
          <p:cNvSpPr/>
          <p:nvPr/>
        </p:nvSpPr>
        <p:spPr>
          <a:xfrm>
            <a:off x="6045200" y="1549400"/>
            <a:ext cx="2286000" cy="381000"/>
          </a:xfrm>
          <a:prstGeom prst="rect">
            <a:avLst/>
          </a:prstGeom>
          <a:noFill/>
          <a:ln/>
        </p:spPr>
        <p:txBody>
          <a:bodyPr wrap="none" lIns="0" tIns="0" rIns="0" bIns="0" rtlCol="0" anchor="ctr"/>
          <a:lstStyle/>
          <a:p>
            <a:pPr algn="ctr">
              <a:lnSpc>
                <a:spcPct val="120000"/>
              </a:lnSpc>
            </a:pPr>
            <a:r>
              <a:rPr lang="en-US" sz="2000" dirty="0">
                <a:solidFill>
                  <a:srgbClr val="0EA5E9"/>
                </a:solidFill>
                <a:latin typeface="Liter" pitchFamily="34" charset="0"/>
                <a:ea typeface="Liter" pitchFamily="34" charset="-122"/>
                <a:cs typeface="Liter" pitchFamily="34" charset="-120"/>
              </a:rPr>
              <a:t>L2</a:t>
            </a:r>
            <a:endParaRPr lang="en-US" sz="2000" dirty="0"/>
          </a:p>
        </p:txBody>
      </p:sp>
      <p:sp>
        <p:nvSpPr>
          <p:cNvPr id="18" name="Text 15"/>
          <p:cNvSpPr/>
          <p:nvPr/>
        </p:nvSpPr>
        <p:spPr>
          <a:xfrm>
            <a:off x="6108700" y="1968500"/>
            <a:ext cx="2159000" cy="698500"/>
          </a:xfrm>
          <a:prstGeom prst="rect">
            <a:avLst/>
          </a:prstGeom>
          <a:noFill/>
          <a:ln/>
        </p:spPr>
        <p:txBody>
          <a:bodyPr wrap="square" lIns="0" tIns="0" rIns="0" bIns="0" rtlCol="0" anchor="t"/>
          <a:lstStyle/>
          <a:p>
            <a:pPr algn="ctr">
              <a:lnSpc>
                <a:spcPct val="140000"/>
              </a:lnSpc>
            </a:pPr>
            <a:r>
              <a:rPr lang="en-US" sz="1200" dirty="0">
                <a:solidFill>
                  <a:srgbClr val="E2E8F0"/>
                </a:solidFill>
                <a:latin typeface="Quattrocento Sans" pitchFamily="34" charset="0"/>
                <a:ea typeface="Quattrocento Sans" pitchFamily="34" charset="-122"/>
                <a:cs typeface="Quattrocento Sans" pitchFamily="34" charset="-120"/>
              </a:rPr>
              <a:t>Agent acts; human reviews within 1 hour</a:t>
            </a:r>
            <a:endParaRPr lang="en-US" sz="1200" dirty="0"/>
          </a:p>
        </p:txBody>
      </p:sp>
      <p:sp>
        <p:nvSpPr>
          <p:cNvPr id="19" name="Text 16"/>
          <p:cNvSpPr/>
          <p:nvPr/>
        </p:nvSpPr>
        <p:spPr>
          <a:xfrm>
            <a:off x="6045200" y="2794000"/>
            <a:ext cx="2286000" cy="228600"/>
          </a:xfrm>
          <a:prstGeom prst="rect">
            <a:avLst/>
          </a:prstGeom>
          <a:noFill/>
          <a:ln/>
        </p:spPr>
        <p:txBody>
          <a:bodyPr wrap="none" lIns="0" tIns="0" rIns="0" bIns="0" rtlCol="0" anchor="ctr"/>
          <a:lstStyle/>
          <a:p>
            <a:pPr algn="ctr">
              <a:lnSpc>
                <a:spcPct val="120000"/>
              </a:lnSpc>
            </a:pPr>
            <a:r>
              <a:rPr lang="en-US" sz="1000" spc="100" kern="0" dirty="0">
                <a:solidFill>
                  <a:srgbClr val="0EA5E9"/>
                </a:solidFill>
                <a:latin typeface="Liter" pitchFamily="34" charset="0"/>
                <a:ea typeface="Liter" pitchFamily="34" charset="-122"/>
                <a:cs typeface="Liter" pitchFamily="34" charset="-120"/>
              </a:rPr>
              <a:t>MOST ENTERPRISES 2026</a:t>
            </a:r>
            <a:endParaRPr lang="en-US" sz="1000" dirty="0"/>
          </a:p>
        </p:txBody>
      </p:sp>
      <p:sp>
        <p:nvSpPr>
          <p:cNvPr id="20" name="Shape 17"/>
          <p:cNvSpPr/>
          <p:nvPr/>
        </p:nvSpPr>
        <p:spPr>
          <a:xfrm>
            <a:off x="8394700" y="2032000"/>
            <a:ext cx="228600" cy="0"/>
          </a:xfrm>
          <a:prstGeom prst="straightConnector1">
            <a:avLst/>
          </a:prstGeom>
          <a:noFill/>
          <a:ln w="25400">
            <a:solidFill>
              <a:srgbClr val="475569"/>
            </a:solidFill>
            <a:prstDash val="solid"/>
            <a:headEnd type="none"/>
            <a:tailEnd type="arrow"/>
          </a:ln>
        </p:spPr>
      </p:sp>
      <p:sp>
        <p:nvSpPr>
          <p:cNvPr id="21" name="Shape 18"/>
          <p:cNvSpPr/>
          <p:nvPr/>
        </p:nvSpPr>
        <p:spPr>
          <a:xfrm>
            <a:off x="8686800" y="1498600"/>
            <a:ext cx="2286000" cy="1270000"/>
          </a:xfrm>
          <a:prstGeom prst="rect">
            <a:avLst/>
          </a:prstGeom>
          <a:solidFill>
            <a:srgbClr val="1E293B"/>
          </a:solidFill>
          <a:ln w="12700">
            <a:solidFill>
              <a:srgbClr val="475569"/>
            </a:solidFill>
            <a:prstDash val="solid"/>
          </a:ln>
        </p:spPr>
      </p:sp>
      <p:sp>
        <p:nvSpPr>
          <p:cNvPr id="22" name="Text 19"/>
          <p:cNvSpPr/>
          <p:nvPr/>
        </p:nvSpPr>
        <p:spPr>
          <a:xfrm>
            <a:off x="8686800" y="1549400"/>
            <a:ext cx="2286000" cy="381000"/>
          </a:xfrm>
          <a:prstGeom prst="rect">
            <a:avLst/>
          </a:prstGeom>
          <a:noFill/>
          <a:ln/>
        </p:spPr>
        <p:txBody>
          <a:bodyPr wrap="none" lIns="0" tIns="0" rIns="0" bIns="0" rtlCol="0" anchor="ctr"/>
          <a:lstStyle/>
          <a:p>
            <a:pPr algn="ctr">
              <a:lnSpc>
                <a:spcPct val="120000"/>
              </a:lnSpc>
            </a:pPr>
            <a:r>
              <a:rPr lang="en-US" sz="2000" dirty="0">
                <a:solidFill>
                  <a:srgbClr val="475569"/>
                </a:solidFill>
                <a:latin typeface="Liter" pitchFamily="34" charset="0"/>
                <a:ea typeface="Liter" pitchFamily="34" charset="-122"/>
                <a:cs typeface="Liter" pitchFamily="34" charset="-120"/>
              </a:rPr>
              <a:t>L3</a:t>
            </a:r>
            <a:endParaRPr lang="en-US" sz="2000" dirty="0"/>
          </a:p>
        </p:txBody>
      </p:sp>
      <p:sp>
        <p:nvSpPr>
          <p:cNvPr id="23" name="Text 20"/>
          <p:cNvSpPr/>
          <p:nvPr/>
        </p:nvSpPr>
        <p:spPr>
          <a:xfrm>
            <a:off x="8750300" y="1968500"/>
            <a:ext cx="2159000" cy="698500"/>
          </a:xfrm>
          <a:prstGeom prst="rect">
            <a:avLst/>
          </a:prstGeom>
          <a:noFill/>
          <a:ln/>
        </p:spPr>
        <p:txBody>
          <a:bodyPr wrap="square" lIns="0" tIns="0" rIns="0" bIns="0" rtlCol="0" anchor="t"/>
          <a:lstStyle/>
          <a:p>
            <a:pPr algn="ctr">
              <a:lnSpc>
                <a:spcPct val="140000"/>
              </a:lnSpc>
            </a:pPr>
            <a:r>
              <a:rPr lang="en-US" sz="1200" dirty="0">
                <a:solidFill>
                  <a:srgbClr val="E2E8F0"/>
                </a:solidFill>
                <a:latin typeface="Quattrocento Sans" pitchFamily="34" charset="0"/>
                <a:ea typeface="Quattrocento Sans" pitchFamily="34" charset="-122"/>
                <a:cs typeface="Quattrocento Sans" pitchFamily="34" charset="-120"/>
              </a:rPr>
              <a:t>Agent acts; human reviews in daily batches</a:t>
            </a:r>
            <a:endParaRPr lang="en-US" sz="1200" dirty="0"/>
          </a:p>
        </p:txBody>
      </p:sp>
      <p:sp>
        <p:nvSpPr>
          <p:cNvPr id="24" name="Shape 21"/>
          <p:cNvSpPr/>
          <p:nvPr/>
        </p:nvSpPr>
        <p:spPr>
          <a:xfrm>
            <a:off x="11036300" y="2032000"/>
            <a:ext cx="228600" cy="0"/>
          </a:xfrm>
          <a:prstGeom prst="straightConnector1">
            <a:avLst/>
          </a:prstGeom>
          <a:noFill/>
          <a:ln w="25400">
            <a:solidFill>
              <a:srgbClr val="475569"/>
            </a:solidFill>
            <a:prstDash val="solid"/>
            <a:headEnd type="none"/>
            <a:tailEnd type="arrow"/>
          </a:ln>
        </p:spPr>
      </p:sp>
      <p:sp>
        <p:nvSpPr>
          <p:cNvPr id="25" name="Shape 22"/>
          <p:cNvSpPr/>
          <p:nvPr/>
        </p:nvSpPr>
        <p:spPr>
          <a:xfrm>
            <a:off x="11328400" y="1498600"/>
            <a:ext cx="2286000" cy="1270000"/>
          </a:xfrm>
          <a:prstGeom prst="rect">
            <a:avLst/>
          </a:prstGeom>
          <a:solidFill>
            <a:srgbClr val="1E293B"/>
          </a:solidFill>
          <a:ln w="12700">
            <a:solidFill>
              <a:srgbClr val="475569"/>
            </a:solidFill>
            <a:prstDash val="solid"/>
          </a:ln>
        </p:spPr>
      </p:sp>
      <p:sp>
        <p:nvSpPr>
          <p:cNvPr id="26" name="Text 23"/>
          <p:cNvSpPr/>
          <p:nvPr/>
        </p:nvSpPr>
        <p:spPr>
          <a:xfrm>
            <a:off x="11328400" y="1549400"/>
            <a:ext cx="2286000" cy="381000"/>
          </a:xfrm>
          <a:prstGeom prst="rect">
            <a:avLst/>
          </a:prstGeom>
          <a:noFill/>
          <a:ln/>
        </p:spPr>
        <p:txBody>
          <a:bodyPr wrap="none" lIns="0" tIns="0" rIns="0" bIns="0" rtlCol="0" anchor="ctr"/>
          <a:lstStyle/>
          <a:p>
            <a:pPr algn="ctr">
              <a:lnSpc>
                <a:spcPct val="120000"/>
              </a:lnSpc>
            </a:pPr>
            <a:r>
              <a:rPr lang="en-US" sz="2000" dirty="0">
                <a:solidFill>
                  <a:srgbClr val="475569"/>
                </a:solidFill>
                <a:latin typeface="Liter" pitchFamily="34" charset="0"/>
                <a:ea typeface="Liter" pitchFamily="34" charset="-122"/>
                <a:cs typeface="Liter" pitchFamily="34" charset="-120"/>
              </a:rPr>
              <a:t>L4</a:t>
            </a:r>
            <a:endParaRPr lang="en-US" sz="2000" dirty="0"/>
          </a:p>
        </p:txBody>
      </p:sp>
      <p:sp>
        <p:nvSpPr>
          <p:cNvPr id="27" name="Text 24"/>
          <p:cNvSpPr/>
          <p:nvPr/>
        </p:nvSpPr>
        <p:spPr>
          <a:xfrm>
            <a:off x="11391900" y="1968500"/>
            <a:ext cx="2159000" cy="698500"/>
          </a:xfrm>
          <a:prstGeom prst="rect">
            <a:avLst/>
          </a:prstGeom>
          <a:noFill/>
          <a:ln/>
        </p:spPr>
        <p:txBody>
          <a:bodyPr wrap="square" lIns="0" tIns="0" rIns="0" bIns="0" rtlCol="0" anchor="t"/>
          <a:lstStyle/>
          <a:p>
            <a:pPr algn="ctr">
              <a:lnSpc>
                <a:spcPct val="140000"/>
              </a:lnSpc>
            </a:pPr>
            <a:r>
              <a:rPr lang="en-US" sz="1200" dirty="0">
                <a:solidFill>
                  <a:srgbClr val="E2E8F0"/>
                </a:solidFill>
                <a:latin typeface="Quattrocento Sans" pitchFamily="34" charset="0"/>
                <a:ea typeface="Quattrocento Sans" pitchFamily="34" charset="-122"/>
                <a:cs typeface="Quattrocento Sans" pitchFamily="34" charset="-120"/>
              </a:rPr>
              <a:t>Anomaly detection triggers human review</a:t>
            </a:r>
            <a:endParaRPr lang="en-US" sz="1200" dirty="0"/>
          </a:p>
        </p:txBody>
      </p:sp>
      <p:sp>
        <p:nvSpPr>
          <p:cNvPr id="28" name="Shape 25"/>
          <p:cNvSpPr/>
          <p:nvPr/>
        </p:nvSpPr>
        <p:spPr>
          <a:xfrm>
            <a:off x="13677900" y="2032000"/>
            <a:ext cx="228600" cy="0"/>
          </a:xfrm>
          <a:prstGeom prst="straightConnector1">
            <a:avLst/>
          </a:prstGeom>
          <a:noFill/>
          <a:ln w="25400">
            <a:solidFill>
              <a:srgbClr val="475569"/>
            </a:solidFill>
            <a:prstDash val="solid"/>
            <a:headEnd type="none"/>
            <a:tailEnd type="arrow"/>
          </a:ln>
        </p:spPr>
      </p:sp>
      <p:sp>
        <p:nvSpPr>
          <p:cNvPr id="29" name="Shape 26"/>
          <p:cNvSpPr/>
          <p:nvPr/>
        </p:nvSpPr>
        <p:spPr>
          <a:xfrm>
            <a:off x="13970000" y="1498600"/>
            <a:ext cx="1524000" cy="1270000"/>
          </a:xfrm>
          <a:prstGeom prst="rect">
            <a:avLst/>
          </a:prstGeom>
          <a:solidFill>
            <a:srgbClr val="0EA5E9">
              <a:alpha val="18824"/>
            </a:srgbClr>
          </a:solidFill>
          <a:ln w="12700">
            <a:solidFill>
              <a:srgbClr val="22D3EE"/>
            </a:solidFill>
            <a:prstDash val="solid"/>
          </a:ln>
        </p:spPr>
      </p:sp>
      <p:sp>
        <p:nvSpPr>
          <p:cNvPr id="30" name="Text 27"/>
          <p:cNvSpPr/>
          <p:nvPr/>
        </p:nvSpPr>
        <p:spPr>
          <a:xfrm>
            <a:off x="13970000" y="1549400"/>
            <a:ext cx="1524000" cy="381000"/>
          </a:xfrm>
          <a:prstGeom prst="rect">
            <a:avLst/>
          </a:prstGeom>
          <a:noFill/>
          <a:ln/>
        </p:spPr>
        <p:txBody>
          <a:bodyPr wrap="none" lIns="0" tIns="0" rIns="0" bIns="0" rtlCol="0" anchor="ctr"/>
          <a:lstStyle/>
          <a:p>
            <a:pPr algn="ctr">
              <a:lnSpc>
                <a:spcPct val="120000"/>
              </a:lnSpc>
            </a:pPr>
            <a:r>
              <a:rPr lang="en-US" sz="2000" dirty="0">
                <a:solidFill>
                  <a:srgbClr val="22D3EE"/>
                </a:solidFill>
                <a:latin typeface="Liter" pitchFamily="34" charset="0"/>
                <a:ea typeface="Liter" pitchFamily="34" charset="-122"/>
                <a:cs typeface="Liter" pitchFamily="34" charset="-120"/>
              </a:rPr>
              <a:t>L5</a:t>
            </a:r>
            <a:endParaRPr lang="en-US" sz="2000" dirty="0"/>
          </a:p>
        </p:txBody>
      </p:sp>
      <p:sp>
        <p:nvSpPr>
          <p:cNvPr id="31" name="Text 28"/>
          <p:cNvSpPr/>
          <p:nvPr/>
        </p:nvSpPr>
        <p:spPr>
          <a:xfrm>
            <a:off x="14033500" y="1968500"/>
            <a:ext cx="1397000" cy="762000"/>
          </a:xfrm>
          <a:prstGeom prst="rect">
            <a:avLst/>
          </a:prstGeom>
          <a:noFill/>
          <a:ln/>
        </p:spPr>
        <p:txBody>
          <a:bodyPr wrap="square" lIns="0" tIns="0" rIns="0" bIns="0" rtlCol="0" anchor="t"/>
          <a:lstStyle/>
          <a:p>
            <a:pPr algn="ctr">
              <a:lnSpc>
                <a:spcPct val="130000"/>
              </a:lnSpc>
            </a:pPr>
            <a:r>
              <a:rPr lang="en-US" sz="1100" dirty="0">
                <a:solidFill>
                  <a:srgbClr val="E2E8F0"/>
                </a:solidFill>
                <a:latin typeface="Quattrocento Sans" pitchFamily="34" charset="0"/>
                <a:ea typeface="Quattrocento Sans" pitchFamily="34" charset="-122"/>
                <a:cs typeface="Quattrocento Sans" pitchFamily="34" charset="-120"/>
              </a:rPr>
              <a:t>Full autonomy with governance only</a:t>
            </a:r>
            <a:endParaRPr lang="en-US" sz="1100" dirty="0"/>
          </a:p>
        </p:txBody>
      </p:sp>
      <p:sp>
        <p:nvSpPr>
          <p:cNvPr id="32" name="Text 29"/>
          <p:cNvSpPr/>
          <p:nvPr/>
        </p:nvSpPr>
        <p:spPr>
          <a:xfrm>
            <a:off x="762000" y="3302000"/>
            <a:ext cx="6350000" cy="279400"/>
          </a:xfrm>
          <a:prstGeom prst="rect">
            <a:avLst/>
          </a:prstGeom>
          <a:noFill/>
          <a:ln/>
        </p:spPr>
        <p:txBody>
          <a:bodyPr wrap="none" lIns="0" tIns="0" rIns="0" bIns="0" rtlCol="0" anchor="ctr"/>
          <a:lstStyle/>
          <a:p>
            <a:pPr algn="l">
              <a:lnSpc>
                <a:spcPct val="120000"/>
              </a:lnSpc>
            </a:pPr>
            <a:r>
              <a:rPr lang="en-US" sz="1400" spc="200" kern="0" dirty="0">
                <a:solidFill>
                  <a:srgbClr val="22D3EE"/>
                </a:solidFill>
                <a:latin typeface="Liter" pitchFamily="34" charset="0"/>
                <a:ea typeface="Liter" pitchFamily="34" charset="-122"/>
                <a:cs typeface="Liter" pitchFamily="34" charset="-120"/>
              </a:rPr>
              <a:t>EMERGING TRENDS</a:t>
            </a:r>
            <a:endParaRPr lang="en-US" sz="1400" dirty="0"/>
          </a:p>
        </p:txBody>
      </p:sp>
      <p:sp>
        <p:nvSpPr>
          <p:cNvPr id="33" name="Shape 30"/>
          <p:cNvSpPr/>
          <p:nvPr/>
        </p:nvSpPr>
        <p:spPr>
          <a:xfrm>
            <a:off x="762000" y="3708400"/>
            <a:ext cx="7239000" cy="1524000"/>
          </a:xfrm>
          <a:prstGeom prst="rect">
            <a:avLst/>
          </a:prstGeom>
          <a:solidFill>
            <a:srgbClr val="1E293B"/>
          </a:solidFill>
          <a:ln/>
        </p:spPr>
      </p:sp>
      <p:sp>
        <p:nvSpPr>
          <p:cNvPr id="34" name="Shape 31"/>
          <p:cNvSpPr/>
          <p:nvPr/>
        </p:nvSpPr>
        <p:spPr>
          <a:xfrm>
            <a:off x="1016000" y="3911600"/>
            <a:ext cx="355600" cy="355600"/>
          </a:xfrm>
          <a:custGeom>
            <a:avLst/>
            <a:gdLst/>
            <a:ahLst/>
            <a:cxnLst/>
            <a:rect l="l" t="t" r="r" b="b"/>
            <a:pathLst>
              <a:path w="355600" h="355600">
                <a:moveTo>
                  <a:pt x="177800" y="155575"/>
                </a:moveTo>
                <a:cubicBezTo>
                  <a:pt x="209692" y="155575"/>
                  <a:pt x="235585" y="123209"/>
                  <a:pt x="235585" y="83344"/>
                </a:cubicBezTo>
                <a:cubicBezTo>
                  <a:pt x="235585" y="43478"/>
                  <a:pt x="209692" y="11112"/>
                  <a:pt x="177800" y="11112"/>
                </a:cubicBezTo>
                <a:cubicBezTo>
                  <a:pt x="145908" y="11112"/>
                  <a:pt x="120015" y="43478"/>
                  <a:pt x="120015" y="83344"/>
                </a:cubicBezTo>
                <a:cubicBezTo>
                  <a:pt x="120015" y="123209"/>
                  <a:pt x="145908" y="155575"/>
                  <a:pt x="177800" y="155575"/>
                </a:cubicBezTo>
                <a:close/>
                <a:moveTo>
                  <a:pt x="53340" y="161131"/>
                </a:moveTo>
                <a:cubicBezTo>
                  <a:pt x="75419" y="161131"/>
                  <a:pt x="93345" y="138724"/>
                  <a:pt x="93345" y="111125"/>
                </a:cubicBezTo>
                <a:cubicBezTo>
                  <a:pt x="93345" y="83526"/>
                  <a:pt x="75419" y="61119"/>
                  <a:pt x="53340" y="61119"/>
                </a:cubicBezTo>
                <a:cubicBezTo>
                  <a:pt x="31261" y="61119"/>
                  <a:pt x="13335" y="83526"/>
                  <a:pt x="13335" y="111125"/>
                </a:cubicBezTo>
                <a:cubicBezTo>
                  <a:pt x="13335" y="138724"/>
                  <a:pt x="31261" y="161131"/>
                  <a:pt x="53340" y="161131"/>
                </a:cubicBezTo>
                <a:close/>
                <a:moveTo>
                  <a:pt x="0" y="288925"/>
                </a:moveTo>
                <a:lnTo>
                  <a:pt x="0" y="311150"/>
                </a:lnTo>
                <a:cubicBezTo>
                  <a:pt x="0" y="323443"/>
                  <a:pt x="7945" y="333375"/>
                  <a:pt x="17780" y="333375"/>
                </a:cubicBezTo>
                <a:lnTo>
                  <a:pt x="65953" y="333375"/>
                </a:lnTo>
                <a:cubicBezTo>
                  <a:pt x="63564" y="326569"/>
                  <a:pt x="62230" y="319068"/>
                  <a:pt x="62230" y="311150"/>
                </a:cubicBezTo>
                <a:lnTo>
                  <a:pt x="62230" y="300038"/>
                </a:lnTo>
                <a:cubicBezTo>
                  <a:pt x="62230" y="263088"/>
                  <a:pt x="73343" y="229334"/>
                  <a:pt x="91623" y="203775"/>
                </a:cubicBezTo>
                <a:cubicBezTo>
                  <a:pt x="85122" y="201345"/>
                  <a:pt x="78232" y="200025"/>
                  <a:pt x="71120" y="200025"/>
                </a:cubicBezTo>
                <a:cubicBezTo>
                  <a:pt x="31837" y="200025"/>
                  <a:pt x="0" y="239822"/>
                  <a:pt x="0" y="288925"/>
                </a:cubicBezTo>
                <a:close/>
                <a:moveTo>
                  <a:pt x="342265" y="111125"/>
                </a:moveTo>
                <a:cubicBezTo>
                  <a:pt x="342265" y="83526"/>
                  <a:pt x="324339" y="61119"/>
                  <a:pt x="302260" y="61119"/>
                </a:cubicBezTo>
                <a:cubicBezTo>
                  <a:pt x="280181" y="61119"/>
                  <a:pt x="262255" y="83526"/>
                  <a:pt x="262255" y="111125"/>
                </a:cubicBezTo>
                <a:cubicBezTo>
                  <a:pt x="262255" y="138724"/>
                  <a:pt x="280181" y="161131"/>
                  <a:pt x="302260" y="161131"/>
                </a:cubicBezTo>
                <a:cubicBezTo>
                  <a:pt x="324339" y="161131"/>
                  <a:pt x="342265" y="138724"/>
                  <a:pt x="342265" y="111125"/>
                </a:cubicBezTo>
                <a:close/>
                <a:moveTo>
                  <a:pt x="88900" y="300038"/>
                </a:moveTo>
                <a:lnTo>
                  <a:pt x="88900" y="311150"/>
                </a:lnTo>
                <a:cubicBezTo>
                  <a:pt x="88900" y="323443"/>
                  <a:pt x="96845" y="333375"/>
                  <a:pt x="106680" y="333375"/>
                </a:cubicBezTo>
                <a:lnTo>
                  <a:pt x="193802" y="333375"/>
                </a:lnTo>
                <a:cubicBezTo>
                  <a:pt x="189857" y="318373"/>
                  <a:pt x="190302" y="302538"/>
                  <a:pt x="199747" y="288925"/>
                </a:cubicBezTo>
                <a:cubicBezTo>
                  <a:pt x="191968" y="277674"/>
                  <a:pt x="188357" y="261352"/>
                  <a:pt x="193413" y="244961"/>
                </a:cubicBezTo>
                <a:cubicBezTo>
                  <a:pt x="197080" y="233085"/>
                  <a:pt x="202247" y="221972"/>
                  <a:pt x="208637" y="212110"/>
                </a:cubicBezTo>
                <a:cubicBezTo>
                  <a:pt x="211638" y="207526"/>
                  <a:pt x="215082" y="203984"/>
                  <a:pt x="218805" y="201414"/>
                </a:cubicBezTo>
                <a:cubicBezTo>
                  <a:pt x="206526" y="193427"/>
                  <a:pt x="192580" y="188913"/>
                  <a:pt x="177800" y="188913"/>
                </a:cubicBezTo>
                <a:cubicBezTo>
                  <a:pt x="128683" y="188913"/>
                  <a:pt x="88900" y="238641"/>
                  <a:pt x="88900" y="300038"/>
                </a:cubicBezTo>
                <a:close/>
                <a:moveTo>
                  <a:pt x="347043" y="269409"/>
                </a:moveTo>
                <a:cubicBezTo>
                  <a:pt x="350544" y="266908"/>
                  <a:pt x="352322" y="261699"/>
                  <a:pt x="350822" y="256907"/>
                </a:cubicBezTo>
                <a:cubicBezTo>
                  <a:pt x="348155" y="248295"/>
                  <a:pt x="344432" y="240169"/>
                  <a:pt x="339765" y="233015"/>
                </a:cubicBezTo>
                <a:cubicBezTo>
                  <a:pt x="337209" y="229056"/>
                  <a:pt x="332708" y="228362"/>
                  <a:pt x="329208" y="230932"/>
                </a:cubicBezTo>
                <a:cubicBezTo>
                  <a:pt x="317095" y="239683"/>
                  <a:pt x="302204" y="228987"/>
                  <a:pt x="302204" y="211415"/>
                </a:cubicBezTo>
                <a:cubicBezTo>
                  <a:pt x="302204" y="206345"/>
                  <a:pt x="299482" y="201831"/>
                  <a:pt x="295481" y="201067"/>
                </a:cubicBezTo>
                <a:cubicBezTo>
                  <a:pt x="288314" y="199678"/>
                  <a:pt x="280591" y="199678"/>
                  <a:pt x="273423" y="201067"/>
                </a:cubicBezTo>
                <a:cubicBezTo>
                  <a:pt x="269423" y="201831"/>
                  <a:pt x="266700" y="206345"/>
                  <a:pt x="266700" y="211415"/>
                </a:cubicBezTo>
                <a:cubicBezTo>
                  <a:pt x="266700" y="228918"/>
                  <a:pt x="251809" y="239683"/>
                  <a:pt x="239697" y="230932"/>
                </a:cubicBezTo>
                <a:cubicBezTo>
                  <a:pt x="236196" y="228431"/>
                  <a:pt x="231696" y="229126"/>
                  <a:pt x="229140" y="233015"/>
                </a:cubicBezTo>
                <a:cubicBezTo>
                  <a:pt x="224472" y="240169"/>
                  <a:pt x="220750" y="248295"/>
                  <a:pt x="218083" y="256907"/>
                </a:cubicBezTo>
                <a:cubicBezTo>
                  <a:pt x="216638" y="261630"/>
                  <a:pt x="218361" y="266839"/>
                  <a:pt x="221861" y="269339"/>
                </a:cubicBezTo>
                <a:cubicBezTo>
                  <a:pt x="234029" y="278090"/>
                  <a:pt x="234029" y="299551"/>
                  <a:pt x="221861" y="308372"/>
                </a:cubicBezTo>
                <a:cubicBezTo>
                  <a:pt x="218361" y="310872"/>
                  <a:pt x="216583" y="316081"/>
                  <a:pt x="218083" y="320804"/>
                </a:cubicBezTo>
                <a:cubicBezTo>
                  <a:pt x="220750" y="329416"/>
                  <a:pt x="224472" y="337542"/>
                  <a:pt x="229140" y="344696"/>
                </a:cubicBezTo>
                <a:cubicBezTo>
                  <a:pt x="231696" y="348655"/>
                  <a:pt x="236196" y="349349"/>
                  <a:pt x="239697" y="346779"/>
                </a:cubicBezTo>
                <a:cubicBezTo>
                  <a:pt x="251809" y="338028"/>
                  <a:pt x="266700" y="348794"/>
                  <a:pt x="266700" y="366296"/>
                </a:cubicBezTo>
                <a:cubicBezTo>
                  <a:pt x="266700" y="371366"/>
                  <a:pt x="269423" y="375880"/>
                  <a:pt x="273423" y="376644"/>
                </a:cubicBezTo>
                <a:cubicBezTo>
                  <a:pt x="280591" y="378033"/>
                  <a:pt x="288314" y="378033"/>
                  <a:pt x="295481" y="376644"/>
                </a:cubicBezTo>
                <a:cubicBezTo>
                  <a:pt x="299482" y="375880"/>
                  <a:pt x="302204" y="371366"/>
                  <a:pt x="302204" y="366296"/>
                </a:cubicBezTo>
                <a:cubicBezTo>
                  <a:pt x="302204" y="348794"/>
                  <a:pt x="317095" y="338028"/>
                  <a:pt x="329208" y="346779"/>
                </a:cubicBezTo>
                <a:cubicBezTo>
                  <a:pt x="332708" y="349280"/>
                  <a:pt x="337209" y="348585"/>
                  <a:pt x="339765" y="344696"/>
                </a:cubicBezTo>
                <a:cubicBezTo>
                  <a:pt x="344432" y="337542"/>
                  <a:pt x="348155" y="329416"/>
                  <a:pt x="350822" y="320804"/>
                </a:cubicBezTo>
                <a:cubicBezTo>
                  <a:pt x="352266" y="316081"/>
                  <a:pt x="350544" y="310872"/>
                  <a:pt x="347043" y="308372"/>
                </a:cubicBezTo>
                <a:cubicBezTo>
                  <a:pt x="334875" y="299621"/>
                  <a:pt x="334875" y="278160"/>
                  <a:pt x="347043" y="269339"/>
                </a:cubicBezTo>
                <a:close/>
                <a:moveTo>
                  <a:pt x="262255" y="288925"/>
                </a:moveTo>
                <a:cubicBezTo>
                  <a:pt x="262255" y="273592"/>
                  <a:pt x="272214" y="261144"/>
                  <a:pt x="284480" y="261144"/>
                </a:cubicBezTo>
                <a:cubicBezTo>
                  <a:pt x="296746" y="261144"/>
                  <a:pt x="306705" y="273592"/>
                  <a:pt x="306705" y="288925"/>
                </a:cubicBezTo>
                <a:cubicBezTo>
                  <a:pt x="306705" y="304258"/>
                  <a:pt x="296746" y="316706"/>
                  <a:pt x="284480" y="316706"/>
                </a:cubicBezTo>
                <a:cubicBezTo>
                  <a:pt x="272214" y="316706"/>
                  <a:pt x="262255" y="304258"/>
                  <a:pt x="262255" y="288925"/>
                </a:cubicBezTo>
                <a:close/>
              </a:path>
            </a:pathLst>
          </a:custGeom>
          <a:solidFill>
            <a:srgbClr val="0EA5E9"/>
          </a:solidFill>
          <a:ln/>
        </p:spPr>
      </p:sp>
      <p:sp>
        <p:nvSpPr>
          <p:cNvPr id="35" name="Text 32"/>
          <p:cNvSpPr/>
          <p:nvPr/>
        </p:nvSpPr>
        <p:spPr>
          <a:xfrm>
            <a:off x="1498600" y="3911600"/>
            <a:ext cx="3810000" cy="330200"/>
          </a:xfrm>
          <a:prstGeom prst="rect">
            <a:avLst/>
          </a:prstGeom>
          <a:noFill/>
          <a:ln/>
        </p:spPr>
        <p:txBody>
          <a:bodyPr wrap="none" lIns="0" tIns="0" rIns="0" bIns="0" rtlCol="0" anchor="ctr"/>
          <a:lstStyle/>
          <a:p>
            <a:pPr algn="l">
              <a:lnSpc>
                <a:spcPct val="120000"/>
              </a:lnSpc>
            </a:pPr>
            <a:r>
              <a:rPr lang="en-US" sz="1500" dirty="0">
                <a:solidFill>
                  <a:srgbClr val="FFFFFF"/>
                </a:solidFill>
                <a:latin typeface="Liter" pitchFamily="34" charset="0"/>
                <a:ea typeface="Liter" pitchFamily="34" charset="-122"/>
                <a:cs typeface="Liter" pitchFamily="34" charset="-120"/>
              </a:rPr>
              <a:t>Multi-Agent Collaboration</a:t>
            </a:r>
            <a:endParaRPr lang="en-US" sz="1500" dirty="0"/>
          </a:p>
        </p:txBody>
      </p:sp>
      <p:sp>
        <p:nvSpPr>
          <p:cNvPr id="36" name="Text 33"/>
          <p:cNvSpPr/>
          <p:nvPr/>
        </p:nvSpPr>
        <p:spPr>
          <a:xfrm>
            <a:off x="1016000" y="4343400"/>
            <a:ext cx="6731000" cy="6985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Specialized agents collaborating across detection, investigation, and response functions with shared context and coordinated actions.</a:t>
            </a:r>
            <a:endParaRPr lang="en-US" sz="1400" dirty="0"/>
          </a:p>
        </p:txBody>
      </p:sp>
      <p:sp>
        <p:nvSpPr>
          <p:cNvPr id="37" name="Shape 34"/>
          <p:cNvSpPr/>
          <p:nvPr/>
        </p:nvSpPr>
        <p:spPr>
          <a:xfrm>
            <a:off x="8255000" y="3708400"/>
            <a:ext cx="7239000" cy="1524000"/>
          </a:xfrm>
          <a:prstGeom prst="rect">
            <a:avLst/>
          </a:prstGeom>
          <a:solidFill>
            <a:srgbClr val="1E293B"/>
          </a:solidFill>
          <a:ln/>
        </p:spPr>
      </p:sp>
      <p:sp>
        <p:nvSpPr>
          <p:cNvPr id="38" name="Shape 35"/>
          <p:cNvSpPr/>
          <p:nvPr/>
        </p:nvSpPr>
        <p:spPr>
          <a:xfrm>
            <a:off x="8509000" y="3911600"/>
            <a:ext cx="355600" cy="355600"/>
          </a:xfrm>
          <a:custGeom>
            <a:avLst/>
            <a:gdLst/>
            <a:ahLst/>
            <a:cxnLst/>
            <a:rect l="l" t="t" r="r" b="b"/>
            <a:pathLst>
              <a:path w="355600" h="355600">
                <a:moveTo>
                  <a:pt x="195580" y="0"/>
                </a:moveTo>
                <a:cubicBezTo>
                  <a:pt x="195580" y="-12293"/>
                  <a:pt x="187635" y="-22225"/>
                  <a:pt x="177800" y="-22225"/>
                </a:cubicBezTo>
                <a:cubicBezTo>
                  <a:pt x="167965" y="-22225"/>
                  <a:pt x="160020" y="-12293"/>
                  <a:pt x="160020" y="0"/>
                </a:cubicBezTo>
                <a:lnTo>
                  <a:pt x="160020" y="44450"/>
                </a:lnTo>
                <a:lnTo>
                  <a:pt x="106680" y="44450"/>
                </a:lnTo>
                <a:cubicBezTo>
                  <a:pt x="77232" y="44450"/>
                  <a:pt x="53340" y="74315"/>
                  <a:pt x="53340" y="111125"/>
                </a:cubicBezTo>
                <a:lnTo>
                  <a:pt x="53340" y="266700"/>
                </a:lnTo>
                <a:cubicBezTo>
                  <a:pt x="53340" y="303510"/>
                  <a:pt x="77232" y="333375"/>
                  <a:pt x="106680" y="333375"/>
                </a:cubicBezTo>
                <a:lnTo>
                  <a:pt x="248920" y="333375"/>
                </a:lnTo>
                <a:cubicBezTo>
                  <a:pt x="278368" y="333375"/>
                  <a:pt x="302260" y="303510"/>
                  <a:pt x="302260" y="266700"/>
                </a:cubicBezTo>
                <a:lnTo>
                  <a:pt x="302260" y="111125"/>
                </a:lnTo>
                <a:cubicBezTo>
                  <a:pt x="302260" y="74315"/>
                  <a:pt x="278368" y="44450"/>
                  <a:pt x="248920" y="44450"/>
                </a:cubicBezTo>
                <a:lnTo>
                  <a:pt x="195580" y="44450"/>
                </a:lnTo>
                <a:lnTo>
                  <a:pt x="195580" y="0"/>
                </a:lnTo>
                <a:close/>
                <a:moveTo>
                  <a:pt x="88900" y="255587"/>
                </a:moveTo>
                <a:cubicBezTo>
                  <a:pt x="88900" y="246350"/>
                  <a:pt x="94845" y="238919"/>
                  <a:pt x="102235" y="238919"/>
                </a:cubicBezTo>
                <a:lnTo>
                  <a:pt x="120015" y="238919"/>
                </a:lnTo>
                <a:cubicBezTo>
                  <a:pt x="127405" y="238919"/>
                  <a:pt x="133350" y="246350"/>
                  <a:pt x="133350" y="255587"/>
                </a:cubicBezTo>
                <a:cubicBezTo>
                  <a:pt x="133350" y="264825"/>
                  <a:pt x="127405" y="272256"/>
                  <a:pt x="120015" y="272256"/>
                </a:cubicBezTo>
                <a:lnTo>
                  <a:pt x="102235" y="272256"/>
                </a:lnTo>
                <a:cubicBezTo>
                  <a:pt x="94845" y="272256"/>
                  <a:pt x="88900" y="264825"/>
                  <a:pt x="88900" y="255587"/>
                </a:cubicBezTo>
                <a:close/>
                <a:moveTo>
                  <a:pt x="155575" y="255587"/>
                </a:moveTo>
                <a:cubicBezTo>
                  <a:pt x="155575" y="246350"/>
                  <a:pt x="161520" y="238919"/>
                  <a:pt x="168910" y="238919"/>
                </a:cubicBezTo>
                <a:lnTo>
                  <a:pt x="186690" y="238919"/>
                </a:lnTo>
                <a:cubicBezTo>
                  <a:pt x="194080" y="238919"/>
                  <a:pt x="200025" y="246350"/>
                  <a:pt x="200025" y="255587"/>
                </a:cubicBezTo>
                <a:cubicBezTo>
                  <a:pt x="200025" y="264825"/>
                  <a:pt x="194080" y="272256"/>
                  <a:pt x="186690" y="272256"/>
                </a:cubicBezTo>
                <a:lnTo>
                  <a:pt x="168910" y="272256"/>
                </a:lnTo>
                <a:cubicBezTo>
                  <a:pt x="161520" y="272256"/>
                  <a:pt x="155575" y="264825"/>
                  <a:pt x="155575" y="255587"/>
                </a:cubicBezTo>
                <a:close/>
                <a:moveTo>
                  <a:pt x="222250" y="255587"/>
                </a:moveTo>
                <a:cubicBezTo>
                  <a:pt x="222250" y="246350"/>
                  <a:pt x="228195" y="238919"/>
                  <a:pt x="235585" y="238919"/>
                </a:cubicBezTo>
                <a:lnTo>
                  <a:pt x="253365" y="238919"/>
                </a:lnTo>
                <a:cubicBezTo>
                  <a:pt x="260755" y="238919"/>
                  <a:pt x="266700" y="246350"/>
                  <a:pt x="266700" y="255587"/>
                </a:cubicBezTo>
                <a:cubicBezTo>
                  <a:pt x="266700" y="264825"/>
                  <a:pt x="260755" y="272256"/>
                  <a:pt x="253365" y="272256"/>
                </a:cubicBezTo>
                <a:lnTo>
                  <a:pt x="235585" y="272256"/>
                </a:lnTo>
                <a:cubicBezTo>
                  <a:pt x="228195" y="272256"/>
                  <a:pt x="222250" y="264825"/>
                  <a:pt x="222250" y="255587"/>
                </a:cubicBezTo>
                <a:close/>
                <a:moveTo>
                  <a:pt x="124460" y="122238"/>
                </a:moveTo>
                <a:cubicBezTo>
                  <a:pt x="139180" y="122238"/>
                  <a:pt x="151130" y="137176"/>
                  <a:pt x="151130" y="155575"/>
                </a:cubicBezTo>
                <a:cubicBezTo>
                  <a:pt x="151130" y="173974"/>
                  <a:pt x="139180" y="188913"/>
                  <a:pt x="124460" y="188913"/>
                </a:cubicBezTo>
                <a:cubicBezTo>
                  <a:pt x="109740" y="188913"/>
                  <a:pt x="97790" y="173974"/>
                  <a:pt x="97790" y="155575"/>
                </a:cubicBezTo>
                <a:cubicBezTo>
                  <a:pt x="97790" y="137176"/>
                  <a:pt x="109740" y="122238"/>
                  <a:pt x="124460" y="122238"/>
                </a:cubicBezTo>
                <a:close/>
                <a:moveTo>
                  <a:pt x="204470" y="155575"/>
                </a:moveTo>
                <a:cubicBezTo>
                  <a:pt x="204470" y="137176"/>
                  <a:pt x="216420" y="122238"/>
                  <a:pt x="231140" y="122238"/>
                </a:cubicBezTo>
                <a:cubicBezTo>
                  <a:pt x="245860" y="122238"/>
                  <a:pt x="257810" y="137176"/>
                  <a:pt x="257810" y="155575"/>
                </a:cubicBezTo>
                <a:cubicBezTo>
                  <a:pt x="257810" y="173974"/>
                  <a:pt x="245860" y="188913"/>
                  <a:pt x="231140" y="188913"/>
                </a:cubicBezTo>
                <a:cubicBezTo>
                  <a:pt x="216420" y="188913"/>
                  <a:pt x="204470" y="173974"/>
                  <a:pt x="204470" y="155575"/>
                </a:cubicBezTo>
                <a:close/>
                <a:moveTo>
                  <a:pt x="35560" y="155575"/>
                </a:moveTo>
                <a:cubicBezTo>
                  <a:pt x="35560" y="143282"/>
                  <a:pt x="27615" y="133350"/>
                  <a:pt x="17780" y="133350"/>
                </a:cubicBezTo>
                <a:cubicBezTo>
                  <a:pt x="7945" y="133350"/>
                  <a:pt x="0" y="143282"/>
                  <a:pt x="0" y="155575"/>
                </a:cubicBezTo>
                <a:lnTo>
                  <a:pt x="0" y="222250"/>
                </a:lnTo>
                <a:cubicBezTo>
                  <a:pt x="0" y="234543"/>
                  <a:pt x="7945" y="244475"/>
                  <a:pt x="17780" y="244475"/>
                </a:cubicBezTo>
                <a:cubicBezTo>
                  <a:pt x="27615" y="244475"/>
                  <a:pt x="35560" y="234543"/>
                  <a:pt x="35560" y="222250"/>
                </a:cubicBezTo>
                <a:lnTo>
                  <a:pt x="35560" y="155575"/>
                </a:lnTo>
                <a:close/>
                <a:moveTo>
                  <a:pt x="337820" y="133350"/>
                </a:moveTo>
                <a:cubicBezTo>
                  <a:pt x="327985" y="133350"/>
                  <a:pt x="320040" y="143282"/>
                  <a:pt x="320040" y="155575"/>
                </a:cubicBezTo>
                <a:lnTo>
                  <a:pt x="320040" y="222250"/>
                </a:lnTo>
                <a:cubicBezTo>
                  <a:pt x="320040" y="234543"/>
                  <a:pt x="327985" y="244475"/>
                  <a:pt x="337820" y="244475"/>
                </a:cubicBezTo>
                <a:cubicBezTo>
                  <a:pt x="347655" y="244475"/>
                  <a:pt x="355600" y="234543"/>
                  <a:pt x="355600" y="222250"/>
                </a:cubicBezTo>
                <a:lnTo>
                  <a:pt x="355600" y="155575"/>
                </a:lnTo>
                <a:cubicBezTo>
                  <a:pt x="355600" y="143282"/>
                  <a:pt x="347655" y="133350"/>
                  <a:pt x="337820" y="133350"/>
                </a:cubicBezTo>
                <a:close/>
              </a:path>
            </a:pathLst>
          </a:custGeom>
          <a:solidFill>
            <a:srgbClr val="22D3EE"/>
          </a:solidFill>
          <a:ln/>
        </p:spPr>
      </p:sp>
      <p:sp>
        <p:nvSpPr>
          <p:cNvPr id="39" name="Text 36"/>
          <p:cNvSpPr/>
          <p:nvPr/>
        </p:nvSpPr>
        <p:spPr>
          <a:xfrm>
            <a:off x="8991600" y="3911600"/>
            <a:ext cx="4445000" cy="330200"/>
          </a:xfrm>
          <a:prstGeom prst="rect">
            <a:avLst/>
          </a:prstGeom>
          <a:noFill/>
          <a:ln/>
        </p:spPr>
        <p:txBody>
          <a:bodyPr wrap="none" lIns="0" tIns="0" rIns="0" bIns="0" rtlCol="0" anchor="ctr"/>
          <a:lstStyle/>
          <a:p>
            <a:pPr algn="l">
              <a:lnSpc>
                <a:spcPct val="120000"/>
              </a:lnSpc>
            </a:pPr>
            <a:r>
              <a:rPr lang="en-US" sz="1500" dirty="0">
                <a:solidFill>
                  <a:srgbClr val="FFFFFF"/>
                </a:solidFill>
                <a:latin typeface="Liter" pitchFamily="34" charset="0"/>
                <a:ea typeface="Liter" pitchFamily="34" charset="-122"/>
                <a:cs typeface="Liter" pitchFamily="34" charset="-120"/>
              </a:rPr>
              <a:t>RL-Based Adaptive Defense</a:t>
            </a:r>
            <a:endParaRPr lang="en-US" sz="1500" dirty="0"/>
          </a:p>
        </p:txBody>
      </p:sp>
      <p:sp>
        <p:nvSpPr>
          <p:cNvPr id="40" name="Text 37"/>
          <p:cNvSpPr/>
          <p:nvPr/>
        </p:nvSpPr>
        <p:spPr>
          <a:xfrm>
            <a:off x="8509000" y="4343400"/>
            <a:ext cx="6731000" cy="6985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Reinforcement learning agents modeling attacker-defender interactions to iteratively improve defense policies in real-time.</a:t>
            </a:r>
            <a:endParaRPr lang="en-US" sz="1400" dirty="0"/>
          </a:p>
        </p:txBody>
      </p:sp>
      <p:sp>
        <p:nvSpPr>
          <p:cNvPr id="41" name="Shape 38"/>
          <p:cNvSpPr/>
          <p:nvPr/>
        </p:nvSpPr>
        <p:spPr>
          <a:xfrm>
            <a:off x="762000" y="5422900"/>
            <a:ext cx="7239000" cy="1524000"/>
          </a:xfrm>
          <a:prstGeom prst="rect">
            <a:avLst/>
          </a:prstGeom>
          <a:solidFill>
            <a:srgbClr val="1E293B"/>
          </a:solidFill>
          <a:ln/>
        </p:spPr>
      </p:sp>
      <p:sp>
        <p:nvSpPr>
          <p:cNvPr id="42" name="Shape 39"/>
          <p:cNvSpPr/>
          <p:nvPr/>
        </p:nvSpPr>
        <p:spPr>
          <a:xfrm>
            <a:off x="1016000" y="5626100"/>
            <a:ext cx="355600" cy="355600"/>
          </a:xfrm>
          <a:custGeom>
            <a:avLst/>
            <a:gdLst/>
            <a:ahLst/>
            <a:cxnLst/>
            <a:rect l="l" t="t" r="r" b="b"/>
            <a:pathLst>
              <a:path w="355600" h="355600">
                <a:moveTo>
                  <a:pt x="266700" y="133350"/>
                </a:moveTo>
                <a:cubicBezTo>
                  <a:pt x="303510" y="133350"/>
                  <a:pt x="333375" y="103485"/>
                  <a:pt x="333375" y="66675"/>
                </a:cubicBezTo>
                <a:cubicBezTo>
                  <a:pt x="333375" y="29865"/>
                  <a:pt x="303510" y="0"/>
                  <a:pt x="266700" y="0"/>
                </a:cubicBezTo>
                <a:cubicBezTo>
                  <a:pt x="229890" y="0"/>
                  <a:pt x="200025" y="29865"/>
                  <a:pt x="200025" y="66675"/>
                </a:cubicBezTo>
                <a:cubicBezTo>
                  <a:pt x="200025" y="70425"/>
                  <a:pt x="200372" y="74176"/>
                  <a:pt x="200928" y="77788"/>
                </a:cubicBezTo>
                <a:lnTo>
                  <a:pt x="110847" y="127863"/>
                </a:lnTo>
                <a:cubicBezTo>
                  <a:pt x="99110" y="117445"/>
                  <a:pt x="83622" y="111125"/>
                  <a:pt x="66675" y="111125"/>
                </a:cubicBezTo>
                <a:cubicBezTo>
                  <a:pt x="29865" y="111125"/>
                  <a:pt x="0" y="140990"/>
                  <a:pt x="0" y="177800"/>
                </a:cubicBezTo>
                <a:cubicBezTo>
                  <a:pt x="0" y="214610"/>
                  <a:pt x="29865" y="244475"/>
                  <a:pt x="66675" y="244475"/>
                </a:cubicBezTo>
                <a:cubicBezTo>
                  <a:pt x="83622" y="244475"/>
                  <a:pt x="99040" y="238155"/>
                  <a:pt x="110847" y="227737"/>
                </a:cubicBezTo>
                <a:lnTo>
                  <a:pt x="200928" y="277813"/>
                </a:lnTo>
                <a:cubicBezTo>
                  <a:pt x="200303" y="281424"/>
                  <a:pt x="200025" y="285105"/>
                  <a:pt x="200025" y="288925"/>
                </a:cubicBezTo>
                <a:cubicBezTo>
                  <a:pt x="200025" y="325735"/>
                  <a:pt x="229890" y="355600"/>
                  <a:pt x="266700" y="355600"/>
                </a:cubicBezTo>
                <a:cubicBezTo>
                  <a:pt x="303510" y="355600"/>
                  <a:pt x="333375" y="325735"/>
                  <a:pt x="333375" y="288925"/>
                </a:cubicBezTo>
                <a:cubicBezTo>
                  <a:pt x="333375" y="252115"/>
                  <a:pt x="303510" y="222250"/>
                  <a:pt x="266700" y="222250"/>
                </a:cubicBezTo>
                <a:cubicBezTo>
                  <a:pt x="249753" y="222250"/>
                  <a:pt x="234335" y="228570"/>
                  <a:pt x="222528" y="238988"/>
                </a:cubicBezTo>
                <a:lnTo>
                  <a:pt x="132447" y="188913"/>
                </a:lnTo>
                <a:cubicBezTo>
                  <a:pt x="133072" y="185301"/>
                  <a:pt x="133350" y="181620"/>
                  <a:pt x="133350" y="177800"/>
                </a:cubicBezTo>
                <a:cubicBezTo>
                  <a:pt x="133350" y="173980"/>
                  <a:pt x="133003" y="170299"/>
                  <a:pt x="132447" y="166688"/>
                </a:cubicBezTo>
                <a:lnTo>
                  <a:pt x="222528" y="116612"/>
                </a:lnTo>
                <a:cubicBezTo>
                  <a:pt x="234265" y="127030"/>
                  <a:pt x="249753" y="133350"/>
                  <a:pt x="266700" y="133350"/>
                </a:cubicBezTo>
                <a:close/>
              </a:path>
            </a:pathLst>
          </a:custGeom>
          <a:solidFill>
            <a:srgbClr val="A855F7"/>
          </a:solidFill>
          <a:ln/>
        </p:spPr>
      </p:sp>
      <p:sp>
        <p:nvSpPr>
          <p:cNvPr id="43" name="Text 40"/>
          <p:cNvSpPr/>
          <p:nvPr/>
        </p:nvSpPr>
        <p:spPr>
          <a:xfrm>
            <a:off x="1498600" y="5626100"/>
            <a:ext cx="4445000" cy="330200"/>
          </a:xfrm>
          <a:prstGeom prst="rect">
            <a:avLst/>
          </a:prstGeom>
          <a:noFill/>
          <a:ln/>
        </p:spPr>
        <p:txBody>
          <a:bodyPr wrap="none" lIns="0" tIns="0" rIns="0" bIns="0" rtlCol="0" anchor="ctr"/>
          <a:lstStyle/>
          <a:p>
            <a:pPr algn="l">
              <a:lnSpc>
                <a:spcPct val="120000"/>
              </a:lnSpc>
            </a:pPr>
            <a:r>
              <a:rPr lang="en-US" sz="1500" dirty="0">
                <a:solidFill>
                  <a:srgbClr val="FFFFFF"/>
                </a:solidFill>
                <a:latin typeface="Liter" pitchFamily="34" charset="0"/>
                <a:ea typeface="Liter" pitchFamily="34" charset="-122"/>
                <a:cs typeface="Liter" pitchFamily="34" charset="-120"/>
              </a:rPr>
              <a:t>Cross-Org Intelligence Sharing</a:t>
            </a:r>
            <a:endParaRPr lang="en-US" sz="1500" dirty="0"/>
          </a:p>
        </p:txBody>
      </p:sp>
      <p:sp>
        <p:nvSpPr>
          <p:cNvPr id="44" name="Text 41"/>
          <p:cNvSpPr/>
          <p:nvPr/>
        </p:nvSpPr>
        <p:spPr>
          <a:xfrm>
            <a:off x="1016000" y="6057900"/>
            <a:ext cx="6731000" cy="6985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Autonomous agents sharing anonymized threat intelligence across organizational boundaries via ISACs and vendor networks.</a:t>
            </a:r>
            <a:endParaRPr lang="en-US" sz="1400" dirty="0"/>
          </a:p>
        </p:txBody>
      </p:sp>
      <p:sp>
        <p:nvSpPr>
          <p:cNvPr id="45" name="Shape 42"/>
          <p:cNvSpPr/>
          <p:nvPr/>
        </p:nvSpPr>
        <p:spPr>
          <a:xfrm>
            <a:off x="8255000" y="5422900"/>
            <a:ext cx="7239000" cy="1524000"/>
          </a:xfrm>
          <a:prstGeom prst="rect">
            <a:avLst/>
          </a:prstGeom>
          <a:solidFill>
            <a:srgbClr val="1E293B"/>
          </a:solidFill>
          <a:ln/>
        </p:spPr>
      </p:sp>
      <p:sp>
        <p:nvSpPr>
          <p:cNvPr id="46" name="Shape 43"/>
          <p:cNvSpPr/>
          <p:nvPr/>
        </p:nvSpPr>
        <p:spPr>
          <a:xfrm>
            <a:off x="8509000" y="5626100"/>
            <a:ext cx="355600" cy="355600"/>
          </a:xfrm>
          <a:custGeom>
            <a:avLst/>
            <a:gdLst/>
            <a:ahLst/>
            <a:cxnLst/>
            <a:rect l="l" t="t" r="r" b="b"/>
            <a:pathLst>
              <a:path w="355600" h="355600">
                <a:moveTo>
                  <a:pt x="228600" y="0"/>
                </a:moveTo>
                <a:lnTo>
                  <a:pt x="101600" y="0"/>
                </a:lnTo>
                <a:cubicBezTo>
                  <a:pt x="87551" y="0"/>
                  <a:pt x="76200" y="9932"/>
                  <a:pt x="76200" y="22225"/>
                </a:cubicBezTo>
                <a:cubicBezTo>
                  <a:pt x="76200" y="34518"/>
                  <a:pt x="87551" y="44450"/>
                  <a:pt x="101600" y="44450"/>
                </a:cubicBezTo>
                <a:lnTo>
                  <a:pt x="101600" y="149671"/>
                </a:lnTo>
                <a:lnTo>
                  <a:pt x="5953" y="296079"/>
                </a:lnTo>
                <a:cubicBezTo>
                  <a:pt x="2064" y="302121"/>
                  <a:pt x="0" y="308858"/>
                  <a:pt x="0" y="315803"/>
                </a:cubicBezTo>
                <a:cubicBezTo>
                  <a:pt x="0" y="337820"/>
                  <a:pt x="20320" y="355600"/>
                  <a:pt x="45482" y="355600"/>
                </a:cubicBezTo>
                <a:lnTo>
                  <a:pt x="310118" y="355600"/>
                </a:lnTo>
                <a:cubicBezTo>
                  <a:pt x="335201" y="355600"/>
                  <a:pt x="355600" y="337820"/>
                  <a:pt x="355600" y="315803"/>
                </a:cubicBezTo>
                <a:cubicBezTo>
                  <a:pt x="355600" y="308858"/>
                  <a:pt x="353536" y="302052"/>
                  <a:pt x="349647" y="296079"/>
                </a:cubicBezTo>
                <a:lnTo>
                  <a:pt x="254000" y="149671"/>
                </a:lnTo>
                <a:lnTo>
                  <a:pt x="254000" y="44450"/>
                </a:lnTo>
                <a:cubicBezTo>
                  <a:pt x="268049" y="44450"/>
                  <a:pt x="279400" y="34518"/>
                  <a:pt x="279400" y="22225"/>
                </a:cubicBezTo>
                <a:cubicBezTo>
                  <a:pt x="279400" y="9932"/>
                  <a:pt x="268049" y="0"/>
                  <a:pt x="254000" y="0"/>
                </a:cubicBezTo>
                <a:lnTo>
                  <a:pt x="228600" y="0"/>
                </a:lnTo>
                <a:close/>
                <a:moveTo>
                  <a:pt x="152400" y="149671"/>
                </a:moveTo>
                <a:lnTo>
                  <a:pt x="152400" y="44450"/>
                </a:lnTo>
                <a:lnTo>
                  <a:pt x="203200" y="44450"/>
                </a:lnTo>
                <a:lnTo>
                  <a:pt x="203200" y="149671"/>
                </a:lnTo>
                <a:cubicBezTo>
                  <a:pt x="203200" y="157381"/>
                  <a:pt x="205502" y="165021"/>
                  <a:pt x="209868" y="171758"/>
                </a:cubicBezTo>
                <a:lnTo>
                  <a:pt x="242888" y="222250"/>
                </a:lnTo>
                <a:lnTo>
                  <a:pt x="112713" y="222250"/>
                </a:lnTo>
                <a:lnTo>
                  <a:pt x="145733" y="171758"/>
                </a:lnTo>
                <a:cubicBezTo>
                  <a:pt x="150098" y="165021"/>
                  <a:pt x="152400" y="157450"/>
                  <a:pt x="152400" y="149671"/>
                </a:cubicBezTo>
                <a:close/>
              </a:path>
            </a:pathLst>
          </a:custGeom>
          <a:solidFill>
            <a:srgbClr val="F59E0B"/>
          </a:solidFill>
          <a:ln/>
        </p:spPr>
      </p:sp>
      <p:sp>
        <p:nvSpPr>
          <p:cNvPr id="47" name="Text 44"/>
          <p:cNvSpPr/>
          <p:nvPr/>
        </p:nvSpPr>
        <p:spPr>
          <a:xfrm>
            <a:off x="8991600" y="5626100"/>
            <a:ext cx="4445000" cy="330200"/>
          </a:xfrm>
          <a:prstGeom prst="rect">
            <a:avLst/>
          </a:prstGeom>
          <a:noFill/>
          <a:ln/>
        </p:spPr>
        <p:txBody>
          <a:bodyPr wrap="none" lIns="0" tIns="0" rIns="0" bIns="0" rtlCol="0" anchor="ctr"/>
          <a:lstStyle/>
          <a:p>
            <a:pPr algn="l">
              <a:lnSpc>
                <a:spcPct val="120000"/>
              </a:lnSpc>
            </a:pPr>
            <a:r>
              <a:rPr lang="en-US" sz="1500" dirty="0">
                <a:solidFill>
                  <a:srgbClr val="FFFFFF"/>
                </a:solidFill>
                <a:latin typeface="Liter" pitchFamily="34" charset="0"/>
                <a:ea typeface="Liter" pitchFamily="34" charset="-122"/>
                <a:cs typeface="Liter" pitchFamily="34" charset="-120"/>
              </a:rPr>
              <a:t>AI-Driven Red Teaming</a:t>
            </a:r>
            <a:endParaRPr lang="en-US" sz="1500" dirty="0"/>
          </a:p>
        </p:txBody>
      </p:sp>
      <p:sp>
        <p:nvSpPr>
          <p:cNvPr id="48" name="Text 45"/>
          <p:cNvSpPr/>
          <p:nvPr/>
        </p:nvSpPr>
        <p:spPr>
          <a:xfrm>
            <a:off x="8509000" y="6057900"/>
            <a:ext cx="6731000" cy="698500"/>
          </a:xfrm>
          <a:prstGeom prst="rect">
            <a:avLst/>
          </a:prstGeom>
          <a:noFill/>
          <a:ln/>
        </p:spPr>
        <p:txBody>
          <a:bodyPr wrap="square" lIns="0" tIns="0" rIns="0" bIns="0" rtlCol="0" anchor="t"/>
          <a:lstStyle/>
          <a:p>
            <a:pPr algn="l">
              <a:lnSpc>
                <a:spcPct val="150000"/>
              </a:lnSpc>
            </a:pPr>
            <a:r>
              <a:rPr lang="en-US" sz="1400" dirty="0">
                <a:solidFill>
                  <a:srgbClr val="E2E8F0"/>
                </a:solidFill>
                <a:latin typeface="Quattrocento Sans" pitchFamily="34" charset="0"/>
                <a:ea typeface="Quattrocento Sans" pitchFamily="34" charset="-122"/>
                <a:cs typeface="Quattrocento Sans" pitchFamily="34" charset="-120"/>
              </a:rPr>
              <a:t>Real-time adversarial simulation by AI agents to continuously test and harden defenses against emerging attack techniques.</a:t>
            </a:r>
            <a:endParaRPr lang="en-US" sz="1400" dirty="0"/>
          </a:p>
        </p:txBody>
      </p:sp>
      <p:sp>
        <p:nvSpPr>
          <p:cNvPr id="49" name="Shape 46"/>
          <p:cNvSpPr/>
          <p:nvPr/>
        </p:nvSpPr>
        <p:spPr>
          <a:xfrm>
            <a:off x="762000" y="7302500"/>
            <a:ext cx="14732000" cy="635000"/>
          </a:xfrm>
          <a:prstGeom prst="rect">
            <a:avLst/>
          </a:prstGeom>
          <a:solidFill>
            <a:srgbClr val="0EA5E9">
              <a:alpha val="12549"/>
            </a:srgbClr>
          </a:solidFill>
          <a:ln w="12700">
            <a:solidFill>
              <a:srgbClr val="0EA5E9"/>
            </a:solidFill>
            <a:prstDash val="solid"/>
          </a:ln>
        </p:spPr>
      </p:sp>
      <p:sp>
        <p:nvSpPr>
          <p:cNvPr id="50" name="Text 47"/>
          <p:cNvSpPr/>
          <p:nvPr/>
        </p:nvSpPr>
        <p:spPr>
          <a:xfrm>
            <a:off x="1016000" y="7302500"/>
            <a:ext cx="14224000" cy="635000"/>
          </a:xfrm>
          <a:prstGeom prst="rect">
            <a:avLst/>
          </a:prstGeom>
          <a:noFill/>
          <a:ln/>
        </p:spPr>
        <p:txBody>
          <a:bodyPr wrap="square" lIns="0" tIns="0" rIns="0" bIns="0" rtlCol="0" anchor="ctr"/>
          <a:lstStyle/>
          <a:p>
            <a:pPr algn="l">
              <a:lnSpc>
                <a:spcPct val="120000"/>
              </a:lnSpc>
            </a:pPr>
            <a:r>
              <a:rPr lang="en-US" sz="1500" b="1" dirty="0">
                <a:solidFill>
                  <a:srgbClr val="E2E8F0"/>
                </a:solidFill>
                <a:latin typeface="Quattrocento Sans" pitchFamily="34" charset="0"/>
                <a:ea typeface="Quattrocento Sans" pitchFamily="34" charset="-122"/>
                <a:cs typeface="Quattrocento Sans" pitchFamily="34" charset="-120"/>
              </a:rPr>
              <a:t>Market Signal:</a:t>
            </a:r>
            <a:pPr algn="l">
              <a:lnSpc>
                <a:spcPct val="120000"/>
              </a:lnSpc>
            </a:pPr>
            <a:r>
              <a:rPr lang="en-US" sz="1500" dirty="0">
                <a:solidFill>
                  <a:srgbClr val="E2E8F0"/>
                </a:solidFill>
                <a:latin typeface="Quattrocento Sans" pitchFamily="34" charset="0"/>
                <a:ea typeface="Quattrocento Sans" pitchFamily="34" charset="-122"/>
                <a:cs typeface="Quattrocento Sans" pitchFamily="34" charset="-120"/>
              </a:rPr>
              <a:t> Gartner is already publishing evaluation frameworks for AI SOC agents with seven evaluation categories — signaling market maturation beyond the concept stage.</a:t>
            </a:r>
            <a:endParaRPr lang="en-US" sz="1500" dirty="0"/>
          </a:p>
        </p:txBody>
      </p:sp>
      <p:sp>
        <p:nvSpPr>
          <p:cNvPr id="51" name="Text 48"/>
          <p:cNvSpPr/>
          <p:nvPr/>
        </p:nvSpPr>
        <p:spPr>
          <a:xfrm>
            <a:off x="762000" y="8763000"/>
            <a:ext cx="8890000" cy="254000"/>
          </a:xfrm>
          <a:prstGeom prst="rect">
            <a:avLst/>
          </a:prstGeom>
          <a:noFill/>
          <a:ln/>
        </p:spPr>
        <p:txBody>
          <a:bodyPr wrap="none" lIns="0" tIns="0" rIns="0" bIns="0" rtlCol="0" anchor="ctr"/>
          <a:lstStyle/>
          <a:p>
            <a:pPr algn="l">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Sources: NextAgile 2026; Prophet Security 2026; Gartner 2025</a:t>
            </a:r>
            <a:endParaRPr lang="en-US" sz="1200" dirty="0"/>
          </a:p>
        </p:txBody>
      </p:sp>
      <p:sp>
        <p:nvSpPr>
          <p:cNvPr id="52" name="Text 49"/>
          <p:cNvSpPr/>
          <p:nvPr/>
        </p:nvSpPr>
        <p:spPr>
          <a:xfrm>
            <a:off x="14986000" y="8763000"/>
            <a:ext cx="762000" cy="254000"/>
          </a:xfrm>
          <a:prstGeom prst="rect">
            <a:avLst/>
          </a:prstGeom>
          <a:noFill/>
          <a:ln/>
        </p:spPr>
        <p:txBody>
          <a:bodyPr wrap="none" lIns="0" tIns="0" rIns="0" bIns="0" rtlCol="0" anchor="ctr"/>
          <a:lstStyle/>
          <a:p>
            <a:pPr algn="r">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12</a:t>
            </a:r>
            <a:endParaRPr lang="en-US" sz="1200" dirty="0"/>
          </a:p>
        </p:txBody>
      </p:sp>
    </p:spTree>
  </p:cSld>
  <p:clrMapOvr>
    <a:masterClrMapping/>
  </p:clrMapOvr>
  <p:transition>
    <p:fade/>
    <p:spd val="med"/>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2A"/>
        </a:solidFill>
      </p:bgPr>
    </p:bg>
    <p:spTree>
      <p:nvGrpSpPr>
        <p:cNvPr id="1" name=""/>
        <p:cNvGrpSpPr/>
        <p:nvPr/>
      </p:nvGrpSpPr>
      <p:grpSpPr>
        <a:xfrm>
          <a:off x="0" y="0"/>
          <a:ext cx="0" cy="0"/>
          <a:chOff x="0" y="0"/>
          <a:chExt cx="0" cy="0"/>
        </a:xfrm>
      </p:grpSpPr>
      <p:sp>
        <p:nvSpPr>
          <p:cNvPr id="3" name="Shape 0"/>
          <p:cNvSpPr/>
          <p:nvPr/>
        </p:nvSpPr>
        <p:spPr>
          <a:xfrm>
            <a:off x="0" y="0"/>
            <a:ext cx="16256000" cy="50800"/>
          </a:xfrm>
          <a:prstGeom prst="rect">
            <a:avLst/>
          </a:prstGeom>
          <a:solidFill>
            <a:srgbClr val="0EA5E9"/>
          </a:solidFill>
          <a:ln/>
        </p:spPr>
      </p:sp>
      <p:sp>
        <p:nvSpPr>
          <p:cNvPr id="4" name="Text 1"/>
          <p:cNvSpPr/>
          <p:nvPr/>
        </p:nvSpPr>
        <p:spPr>
          <a:xfrm>
            <a:off x="762000" y="381000"/>
            <a:ext cx="7620000" cy="482600"/>
          </a:xfrm>
          <a:prstGeom prst="rect">
            <a:avLst/>
          </a:prstGeom>
          <a:noFill/>
          <a:ln/>
        </p:spPr>
        <p:txBody>
          <a:bodyPr wrap="none" lIns="0" tIns="0" rIns="0" bIns="0" rtlCol="0" anchor="ctr"/>
          <a:lstStyle/>
          <a:p>
            <a:pPr algn="l">
              <a:lnSpc>
                <a:spcPct val="120000"/>
              </a:lnSpc>
            </a:pPr>
            <a:r>
              <a:rPr lang="en-US" sz="2800" dirty="0">
                <a:solidFill>
                  <a:srgbClr val="0EA5E9"/>
                </a:solidFill>
                <a:latin typeface="Liter" pitchFamily="34" charset="0"/>
                <a:ea typeface="Liter" pitchFamily="34" charset="-122"/>
                <a:cs typeface="Liter" pitchFamily="34" charset="-120"/>
              </a:rPr>
              <a:t>Industry Landscape</a:t>
            </a:r>
            <a:endParaRPr lang="en-US" sz="2800" dirty="0"/>
          </a:p>
        </p:txBody>
      </p:sp>
      <p:sp>
        <p:nvSpPr>
          <p:cNvPr id="5" name="Shape 2"/>
          <p:cNvSpPr/>
          <p:nvPr/>
        </p:nvSpPr>
        <p:spPr>
          <a:xfrm>
            <a:off x="762000" y="939800"/>
            <a:ext cx="14732000" cy="12700"/>
          </a:xfrm>
          <a:prstGeom prst="rect">
            <a:avLst/>
          </a:prstGeom>
          <a:solidFill>
            <a:srgbClr val="475569"/>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62000" y="1206500"/>
          <a:ext cx="14732000" cy="6604000"/>
        </p:xfrm>
        <a:graphic>
          <a:graphicData uri="http://schemas.openxmlformats.org/drawingml/2006/table">
            <a:tbl>
              <a:tblPr/>
              <a:tblGrid>
                <a:gridCol w="2651760"/>
                <a:gridCol w="5156200"/>
                <a:gridCol w="6924040"/>
              </a:tblGrid>
              <a:tr h="660400">
                <a:tc>
                  <a:txBody>
                    <a:bodyPr/>
                    <a:lstStyle/>
                    <a:p>
                      <a:pPr algn="ctr"/>
                      <a:r>
                        <a:rPr lang="en-US" sz="1300" b="1" dirty="0">
                          <a:solidFill>
                            <a:srgbClr val="FFFFFF"/>
                          </a:solidFill>
                          <a:latin typeface="Quattrocento Sans" pitchFamily="34" charset="0"/>
                          <a:ea typeface="Quattrocento Sans" pitchFamily="34" charset="-122"/>
                          <a:cs typeface="Quattrocento Sans" pitchFamily="34" charset="-120"/>
                        </a:rPr>
                        <a:t>Vendor</a:t>
                      </a:r>
                      <a:endParaRPr lang="en-US" sz="13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EA5E9"/>
                    </a:solidFill>
                  </a:tcPr>
                </a:tc>
                <a:tc>
                  <a:txBody>
                    <a:bodyPr/>
                    <a:lstStyle/>
                    <a:p>
                      <a:pPr algn="ctr"/>
                      <a:r>
                        <a:rPr lang="en-US" sz="1300" b="1" dirty="0">
                          <a:solidFill>
                            <a:srgbClr val="FFFFFF"/>
                          </a:solidFill>
                          <a:latin typeface="Quattrocento Sans" pitchFamily="34" charset="0"/>
                          <a:ea typeface="Quattrocento Sans" pitchFamily="34" charset="-122"/>
                          <a:cs typeface="Quattrocento Sans" pitchFamily="34" charset="-120"/>
                        </a:rPr>
                        <a:t>Platform / Product</a:t>
                      </a:r>
                      <a:endParaRPr lang="en-US" sz="13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EA5E9"/>
                    </a:solidFill>
                  </a:tcPr>
                </a:tc>
                <a:tc>
                  <a:txBody>
                    <a:bodyPr/>
                    <a:lstStyle/>
                    <a:p>
                      <a:pPr algn="ctr"/>
                      <a:r>
                        <a:rPr lang="en-US" sz="1300" b="1" dirty="0">
                          <a:solidFill>
                            <a:srgbClr val="FFFFFF"/>
                          </a:solidFill>
                          <a:latin typeface="Quattrocento Sans" pitchFamily="34" charset="0"/>
                          <a:ea typeface="Quattrocento Sans" pitchFamily="34" charset="-122"/>
                          <a:cs typeface="Quattrocento Sans" pitchFamily="34" charset="-120"/>
                        </a:rPr>
                        <a:t>Key Capabilities</a:t>
                      </a:r>
                      <a:endParaRPr lang="en-US" sz="13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EA5E9"/>
                    </a:solidFill>
                  </a:tcPr>
                </a:tc>
              </a:tr>
              <a:tr h="742950">
                <a:tc>
                  <a:txBody>
                    <a:bodyPr/>
                    <a:lstStyle/>
                    <a:p>
                      <a:pPr algn="ctr"/>
                      <a:r>
                        <a:rPr lang="en-US" sz="1200" dirty="0">
                          <a:solidFill>
                            <a:srgbClr val="E2E8F0"/>
                          </a:solidFill>
                          <a:latin typeface="Quattrocento Sans" pitchFamily="34" charset="0"/>
                          <a:ea typeface="Quattrocento Sans" pitchFamily="34" charset="-122"/>
                          <a:cs typeface="Quattrocento Sans" pitchFamily="34" charset="-120"/>
                        </a:rPr>
                        <a:t>Microsoft</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c>
                  <a:txBody>
                    <a:bodyPr/>
                    <a:lstStyle/>
                    <a:p>
                      <a:pPr algn="ctr"/>
                      <a:r>
                        <a:rPr lang="en-US" sz="1200" dirty="0">
                          <a:solidFill>
                            <a:srgbClr val="E2E8F0"/>
                          </a:solidFill>
                          <a:latin typeface="Quattrocento Sans" pitchFamily="34" charset="0"/>
                          <a:ea typeface="Quattrocento Sans" pitchFamily="34" charset="-122"/>
                          <a:cs typeface="Quattrocento Sans" pitchFamily="34" charset="-120"/>
                        </a:rPr>
                        <a:t>Security Copilot + Sentinel</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c>
                  <a:txBody>
                    <a:bodyPr/>
                    <a:lstStyle/>
                    <a:p>
                      <a:pPr algn="l"/>
                      <a:r>
                        <a:rPr lang="en-US" sz="1200" dirty="0">
                          <a:solidFill>
                            <a:srgbClr val="E2E8F0"/>
                          </a:solidFill>
                          <a:latin typeface="Quattrocento Sans" pitchFamily="34" charset="0"/>
                          <a:ea typeface="Quattrocento Sans" pitchFamily="34" charset="-122"/>
                          <a:cs typeface="Quattrocento Sans" pitchFamily="34" charset="-120"/>
                        </a:rPr>
                        <a:t>LLM-assisted triage, natural language queries, UEBA, MITRE mapping</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r>
              <a:tr h="742950">
                <a:tc>
                  <a:txBody>
                    <a:bodyPr/>
                    <a:lstStyle/>
                    <a:p>
                      <a:pPr algn="ctr"/>
                      <a:r>
                        <a:rPr lang="en-US" sz="1200" dirty="0">
                          <a:solidFill>
                            <a:srgbClr val="E2E8F0"/>
                          </a:solidFill>
                          <a:latin typeface="Quattrocento Sans" pitchFamily="34" charset="0"/>
                          <a:ea typeface="Quattrocento Sans" pitchFamily="34" charset="-122"/>
                          <a:cs typeface="Quattrocento Sans" pitchFamily="34" charset="-120"/>
                        </a:rPr>
                        <a:t>Palo Alto Networks</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c>
                  <a:txBody>
                    <a:bodyPr/>
                    <a:lstStyle/>
                    <a:p>
                      <a:pPr algn="ctr"/>
                      <a:r>
                        <a:rPr lang="en-US" sz="1200" dirty="0">
                          <a:solidFill>
                            <a:srgbClr val="E2E8F0"/>
                          </a:solidFill>
                          <a:latin typeface="Quattrocento Sans" pitchFamily="34" charset="0"/>
                          <a:ea typeface="Quattrocento Sans" pitchFamily="34" charset="-122"/>
                          <a:cs typeface="Quattrocento Sans" pitchFamily="34" charset="-120"/>
                        </a:rPr>
                        <a:t>Cortex XSIAM</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c>
                  <a:txBody>
                    <a:bodyPr/>
                    <a:lstStyle/>
                    <a:p>
                      <a:pPr algn="l"/>
                      <a:r>
                        <a:rPr lang="en-US" sz="1200" dirty="0">
                          <a:solidFill>
                            <a:srgbClr val="E2E8F0"/>
                          </a:solidFill>
                          <a:latin typeface="Quattrocento Sans" pitchFamily="34" charset="0"/>
                          <a:ea typeface="Quattrocento Sans" pitchFamily="34" charset="-122"/>
                          <a:cs typeface="Quattrocento Sans" pitchFamily="34" charset="-120"/>
                        </a:rPr>
                        <a:t>Signal fusion across endpoint/network/identity, RL-based autonomous response</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r>
              <a:tr h="742950">
                <a:tc>
                  <a:txBody>
                    <a:bodyPr/>
                    <a:lstStyle/>
                    <a:p>
                      <a:pPr algn="ctr"/>
                      <a:r>
                        <a:rPr lang="en-US" sz="1200" dirty="0">
                          <a:solidFill>
                            <a:srgbClr val="E2E8F0"/>
                          </a:solidFill>
                          <a:latin typeface="Quattrocento Sans" pitchFamily="34" charset="0"/>
                          <a:ea typeface="Quattrocento Sans" pitchFamily="34" charset="-122"/>
                          <a:cs typeface="Quattrocento Sans" pitchFamily="34" charset="-120"/>
                        </a:rPr>
                        <a:t>SentinelOne</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c>
                  <a:txBody>
                    <a:bodyPr/>
                    <a:lstStyle/>
                    <a:p>
                      <a:pPr algn="ctr"/>
                      <a:r>
                        <a:rPr lang="en-US" sz="1200" dirty="0">
                          <a:solidFill>
                            <a:srgbClr val="E2E8F0"/>
                          </a:solidFill>
                          <a:latin typeface="Quattrocento Sans" pitchFamily="34" charset="0"/>
                          <a:ea typeface="Quattrocento Sans" pitchFamily="34" charset="-122"/>
                          <a:cs typeface="Quattrocento Sans" pitchFamily="34" charset="-120"/>
                        </a:rPr>
                        <a:t>Purple AI</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c>
                  <a:txBody>
                    <a:bodyPr/>
                    <a:lstStyle/>
                    <a:p>
                      <a:pPr algn="l"/>
                      <a:r>
                        <a:rPr lang="en-US" sz="1200" dirty="0">
                          <a:solidFill>
                            <a:srgbClr val="E2E8F0"/>
                          </a:solidFill>
                          <a:latin typeface="Quattrocento Sans" pitchFamily="34" charset="0"/>
                          <a:ea typeface="Quattrocento Sans" pitchFamily="34" charset="-122"/>
                          <a:cs typeface="Quattrocento Sans" pitchFamily="34" charset="-120"/>
                        </a:rPr>
                        <a:t>Autonomous remediation, incident assessment, containment, rollback</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r>
              <a:tr h="742950">
                <a:tc>
                  <a:txBody>
                    <a:bodyPr/>
                    <a:lstStyle/>
                    <a:p>
                      <a:pPr algn="ctr"/>
                      <a:r>
                        <a:rPr lang="en-US" sz="1200" dirty="0">
                          <a:solidFill>
                            <a:srgbClr val="E2E8F0"/>
                          </a:solidFill>
                          <a:latin typeface="Quattrocento Sans" pitchFamily="34" charset="0"/>
                          <a:ea typeface="Quattrocento Sans" pitchFamily="34" charset="-122"/>
                          <a:cs typeface="Quattrocento Sans" pitchFamily="34" charset="-120"/>
                        </a:rPr>
                        <a:t>Google / Mandiant</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c>
                  <a:txBody>
                    <a:bodyPr/>
                    <a:lstStyle/>
                    <a:p>
                      <a:pPr algn="ctr"/>
                      <a:r>
                        <a:rPr lang="en-US" sz="1200" dirty="0">
                          <a:solidFill>
                            <a:srgbClr val="E2E8F0"/>
                          </a:solidFill>
                          <a:latin typeface="Quattrocento Sans" pitchFamily="34" charset="0"/>
                          <a:ea typeface="Quattrocento Sans" pitchFamily="34" charset="-122"/>
                          <a:cs typeface="Quattrocento Sans" pitchFamily="34" charset="-120"/>
                        </a:rPr>
                        <a:t>Sec-PaLM + Chronicle</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c>
                  <a:txBody>
                    <a:bodyPr/>
                    <a:lstStyle/>
                    <a:p>
                      <a:pPr algn="l"/>
                      <a:r>
                        <a:rPr lang="en-US" sz="1200" dirty="0">
                          <a:solidFill>
                            <a:srgbClr val="E2E8F0"/>
                          </a:solidFill>
                          <a:latin typeface="Quattrocento Sans" pitchFamily="34" charset="0"/>
                          <a:ea typeface="Quattrocento Sans" pitchFamily="34" charset="-122"/>
                          <a:cs typeface="Quattrocento Sans" pitchFamily="34" charset="-120"/>
                        </a:rPr>
                        <a:t>Threat intelligence analysis, alert clustering, evidence correlation</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r>
              <a:tr h="742950">
                <a:tc>
                  <a:txBody>
                    <a:bodyPr/>
                    <a:lstStyle/>
                    <a:p>
                      <a:pPr algn="ctr"/>
                      <a:r>
                        <a:rPr lang="en-US" sz="1200" dirty="0">
                          <a:solidFill>
                            <a:srgbClr val="E2E8F0"/>
                          </a:solidFill>
                          <a:latin typeface="Quattrocento Sans" pitchFamily="34" charset="0"/>
                          <a:ea typeface="Quattrocento Sans" pitchFamily="34" charset="-122"/>
                          <a:cs typeface="Quattrocento Sans" pitchFamily="34" charset="-120"/>
                        </a:rPr>
                        <a:t>Elastic</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c>
                  <a:txBody>
                    <a:bodyPr/>
                    <a:lstStyle/>
                    <a:p>
                      <a:pPr algn="ctr"/>
                      <a:r>
                        <a:rPr lang="en-US" sz="1200" dirty="0">
                          <a:solidFill>
                            <a:srgbClr val="E2E8F0"/>
                          </a:solidFill>
                          <a:latin typeface="Quattrocento Sans" pitchFamily="34" charset="0"/>
                          <a:ea typeface="Quattrocento Sans" pitchFamily="34" charset="-122"/>
                          <a:cs typeface="Quattrocento Sans" pitchFamily="34" charset="-120"/>
                        </a:rPr>
                        <a:t>Elastic AI Assistant</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c>
                  <a:txBody>
                    <a:bodyPr/>
                    <a:lstStyle/>
                    <a:p>
                      <a:pPr algn="l"/>
                      <a:r>
                        <a:rPr lang="en-US" sz="1200" dirty="0">
                          <a:solidFill>
                            <a:srgbClr val="E2E8F0"/>
                          </a:solidFill>
                          <a:latin typeface="Quattrocento Sans" pitchFamily="34" charset="0"/>
                          <a:ea typeface="Quattrocento Sans" pitchFamily="34" charset="-122"/>
                          <a:cs typeface="Quattrocento Sans" pitchFamily="34" charset="-120"/>
                        </a:rPr>
                        <a:t>Query generation, log parsing, threat summaries, natural language hunting</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r>
              <a:tr h="742950">
                <a:tc>
                  <a:txBody>
                    <a:bodyPr/>
                    <a:lstStyle/>
                    <a:p>
                      <a:pPr algn="ctr"/>
                      <a:r>
                        <a:rPr lang="en-US" sz="1200" dirty="0">
                          <a:solidFill>
                            <a:srgbClr val="E2E8F0"/>
                          </a:solidFill>
                          <a:latin typeface="Quattrocento Sans" pitchFamily="34" charset="0"/>
                          <a:ea typeface="Quattrocento Sans" pitchFamily="34" charset="-122"/>
                          <a:cs typeface="Quattrocento Sans" pitchFamily="34" charset="-120"/>
                        </a:rPr>
                        <a:t>IBM</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c>
                  <a:txBody>
                    <a:bodyPr/>
                    <a:lstStyle/>
                    <a:p>
                      <a:pPr algn="ctr"/>
                      <a:r>
                        <a:rPr lang="en-US" sz="1200" dirty="0">
                          <a:solidFill>
                            <a:srgbClr val="E2E8F0"/>
                          </a:solidFill>
                          <a:latin typeface="Quattrocento Sans" pitchFamily="34" charset="0"/>
                          <a:ea typeface="Quattrocento Sans" pitchFamily="34" charset="-122"/>
                          <a:cs typeface="Quattrocento Sans" pitchFamily="34" charset="-120"/>
                        </a:rPr>
                        <a:t>QRadar + Resilient</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c>
                  <a:txBody>
                    <a:bodyPr/>
                    <a:lstStyle/>
                    <a:p>
                      <a:pPr algn="l"/>
                      <a:r>
                        <a:rPr lang="en-US" sz="1200" dirty="0">
                          <a:solidFill>
                            <a:srgbClr val="E2E8F0"/>
                          </a:solidFill>
                          <a:latin typeface="Quattrocento Sans" pitchFamily="34" charset="0"/>
                          <a:ea typeface="Quattrocento Sans" pitchFamily="34" charset="-122"/>
                          <a:cs typeface="Quattrocento Sans" pitchFamily="34" charset="-120"/>
                        </a:rPr>
                        <a:t>AI-driven IR playbooks, MITRE ATT&amp;CK mapping, automated enrichment</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r>
              <a:tr h="742950">
                <a:tc>
                  <a:txBody>
                    <a:bodyPr/>
                    <a:lstStyle/>
                    <a:p>
                      <a:pPr algn="ctr"/>
                      <a:r>
                        <a:rPr lang="en-US" sz="1200" dirty="0">
                          <a:solidFill>
                            <a:srgbClr val="E2E8F0"/>
                          </a:solidFill>
                          <a:latin typeface="Quattrocento Sans" pitchFamily="34" charset="0"/>
                          <a:ea typeface="Quattrocento Sans" pitchFamily="34" charset="-122"/>
                          <a:cs typeface="Quattrocento Sans" pitchFamily="34" charset="-120"/>
                        </a:rPr>
                        <a:t>Exabeam</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c>
                  <a:txBody>
                    <a:bodyPr/>
                    <a:lstStyle/>
                    <a:p>
                      <a:pPr algn="ctr"/>
                      <a:r>
                        <a:rPr lang="en-US" sz="1200" dirty="0">
                          <a:solidFill>
                            <a:srgbClr val="E2E8F0"/>
                          </a:solidFill>
                          <a:latin typeface="Quattrocento Sans" pitchFamily="34" charset="0"/>
                          <a:ea typeface="Quattrocento Sans" pitchFamily="34" charset="-122"/>
                          <a:cs typeface="Quattrocento Sans" pitchFamily="34" charset="-120"/>
                        </a:rPr>
                        <a:t>Fusion SIEM / SOAR</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c>
                  <a:txBody>
                    <a:bodyPr/>
                    <a:lstStyle/>
                    <a:p>
                      <a:pPr algn="l"/>
                      <a:r>
                        <a:rPr lang="en-US" sz="1200" dirty="0">
                          <a:solidFill>
                            <a:srgbClr val="E2E8F0"/>
                          </a:solidFill>
                          <a:latin typeface="Quattrocento Sans" pitchFamily="34" charset="0"/>
                          <a:ea typeface="Quattrocento Sans" pitchFamily="34" charset="-122"/>
                          <a:cs typeface="Quattrocento Sans" pitchFamily="34" charset="-120"/>
                        </a:rPr>
                        <a:t>Behavior analytics, incident prioritization, ML-based alert classification</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1E293B"/>
                    </a:solidFill>
                  </a:tcPr>
                </a:tc>
              </a:tr>
              <a:tr h="742950">
                <a:tc>
                  <a:txBody>
                    <a:bodyPr/>
                    <a:lstStyle/>
                    <a:p>
                      <a:pPr algn="ctr"/>
                      <a:r>
                        <a:rPr lang="en-US" sz="1200" dirty="0">
                          <a:solidFill>
                            <a:srgbClr val="E2E8F0"/>
                          </a:solidFill>
                          <a:latin typeface="Quattrocento Sans" pitchFamily="34" charset="0"/>
                          <a:ea typeface="Quattrocento Sans" pitchFamily="34" charset="-122"/>
                          <a:cs typeface="Quattrocento Sans" pitchFamily="34" charset="-120"/>
                        </a:rPr>
                        <a:t>Torq</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c>
                  <a:txBody>
                    <a:bodyPr/>
                    <a:lstStyle/>
                    <a:p>
                      <a:pPr algn="ctr"/>
                      <a:r>
                        <a:rPr lang="en-US" sz="1200" dirty="0">
                          <a:solidFill>
                            <a:srgbClr val="E2E8F0"/>
                          </a:solidFill>
                          <a:latin typeface="Quattrocento Sans" pitchFamily="34" charset="0"/>
                          <a:ea typeface="Quattrocento Sans" pitchFamily="34" charset="-122"/>
                          <a:cs typeface="Quattrocento Sans" pitchFamily="34" charset="-120"/>
                        </a:rPr>
                        <a:t>HyperSOC</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c>
                  <a:txBody>
                    <a:bodyPr/>
                    <a:lstStyle/>
                    <a:p>
                      <a:pPr algn="l"/>
                      <a:r>
                        <a:rPr lang="en-US" sz="1200" dirty="0">
                          <a:solidFill>
                            <a:srgbClr val="E2E8F0"/>
                          </a:solidFill>
                          <a:latin typeface="Quattrocento Sans" pitchFamily="34" charset="0"/>
                          <a:ea typeface="Quattrocento Sans" pitchFamily="34" charset="-122"/>
                          <a:cs typeface="Quattrocento Sans" pitchFamily="34" charset="-120"/>
                        </a:rPr>
                        <a:t>Hyperautomation, multi-agent investigation, 50% faster MTTD</a:t>
                      </a:r>
                      <a:endParaRPr lang="en-US" sz="1200" dirty="0">
                        <a:latin typeface="Quattrocento Sans" charset="0"/>
                        <a:ea typeface="Quattrocento Sans" charset="0"/>
                        <a:cs typeface="Quattrocento Sans" charset="0"/>
                      </a:endParaRPr>
                    </a:p>
                  </a:txBody>
                  <a:tcPr marL="54864" marR="54864" marT="0" marB="0" anchor="ctr">
                    <a:lnL w="12700" cap="flat" cmpd="sng" algn="ctr">
                      <a:solidFill>
                        <a:srgbClr val="475569"/>
                      </a:solidFill>
                      <a:prstDash val="solid"/>
                      <a:round/>
                      <a:headEnd type="none" w="med" len="med"/>
                      <a:tailEnd type="none" w="med" len="med"/>
                    </a:lnL>
                    <a:lnR w="12700" cap="flat" cmpd="sng" algn="ctr">
                      <a:solidFill>
                        <a:srgbClr val="475569"/>
                      </a:solidFill>
                      <a:prstDash val="solid"/>
                      <a:round/>
                      <a:headEnd type="none" w="med" len="med"/>
                      <a:tailEnd type="none" w="med" len="med"/>
                    </a:lnR>
                    <a:lnT w="12700" cap="flat" cmpd="sng" algn="ctr">
                      <a:solidFill>
                        <a:srgbClr val="475569"/>
                      </a:solidFill>
                      <a:prstDash val="solid"/>
                      <a:round/>
                      <a:headEnd type="none" w="med" len="med"/>
                      <a:tailEnd type="none" w="med" len="med"/>
                    </a:lnT>
                    <a:lnB w="12700" cap="flat" cmpd="sng" algn="ctr">
                      <a:solidFill>
                        <a:srgbClr val="475569"/>
                      </a:solidFill>
                      <a:prstDash val="solid"/>
                      <a:round/>
                      <a:headEnd type="none" w="med" len="med"/>
                      <a:tailEnd type="none" w="med" len="med"/>
                    </a:lnB>
                    <a:solidFill>
                      <a:srgbClr val="0F172A"/>
                    </a:solidFill>
                  </a:tcPr>
                </a:tc>
              </a:tr>
            </a:tbl>
          </a:graphicData>
        </a:graphic>
      </p:graphicFrame>
      <p:sp>
        <p:nvSpPr>
          <p:cNvPr id="7" name="Shape 3"/>
          <p:cNvSpPr/>
          <p:nvPr/>
        </p:nvSpPr>
        <p:spPr>
          <a:xfrm>
            <a:off x="762000" y="8064500"/>
            <a:ext cx="14732000" cy="508000"/>
          </a:xfrm>
          <a:prstGeom prst="rect">
            <a:avLst/>
          </a:prstGeom>
          <a:solidFill>
            <a:srgbClr val="1E293B"/>
          </a:solidFill>
          <a:ln/>
        </p:spPr>
      </p:sp>
      <p:sp>
        <p:nvSpPr>
          <p:cNvPr id="8" name="Text 4"/>
          <p:cNvSpPr/>
          <p:nvPr/>
        </p:nvSpPr>
        <p:spPr>
          <a:xfrm>
            <a:off x="1016000" y="8064500"/>
            <a:ext cx="14224000" cy="508000"/>
          </a:xfrm>
          <a:prstGeom prst="rect">
            <a:avLst/>
          </a:prstGeom>
          <a:noFill/>
          <a:ln/>
        </p:spPr>
        <p:txBody>
          <a:bodyPr wrap="square" lIns="0" tIns="0" rIns="0" bIns="0" rtlCol="0" anchor="ctr"/>
          <a:lstStyle/>
          <a:p>
            <a:pPr algn="l">
              <a:lnSpc>
                <a:spcPct val="120000"/>
              </a:lnSpc>
            </a:pPr>
            <a:r>
              <a:rPr lang="en-US" sz="1400" b="1" dirty="0">
                <a:solidFill>
                  <a:srgbClr val="E2E8F0"/>
                </a:solidFill>
                <a:latin typeface="Quattrocento Sans" pitchFamily="34" charset="0"/>
                <a:ea typeface="Quattrocento Sans" pitchFamily="34" charset="-122"/>
                <a:cs typeface="Quattrocento Sans" pitchFamily="34" charset="-120"/>
              </a:rPr>
              <a:t>Market Trajectory:</a:t>
            </a:r>
            <a:pPr algn="l">
              <a:lnSpc>
                <a:spcPct val="120000"/>
              </a:lnSpc>
            </a:pPr>
            <a:r>
              <a:rPr lang="en-US" sz="1400" dirty="0">
                <a:solidFill>
                  <a:srgbClr val="E2E8F0"/>
                </a:solidFill>
                <a:latin typeface="Quattrocento Sans" pitchFamily="34" charset="0"/>
                <a:ea typeface="Quattrocento Sans" pitchFamily="34" charset="-122"/>
                <a:cs typeface="Quattrocento Sans" pitchFamily="34" charset="-120"/>
              </a:rPr>
              <a:t> The ecosystem is shifting from static rule-driven environments to </a:t>
            </a:r>
            <a:pPr algn="l">
              <a:lnSpc>
                <a:spcPct val="120000"/>
              </a:lnSpc>
            </a:pPr>
            <a:r>
              <a:rPr lang="en-US" sz="1400" b="1" dirty="0">
                <a:solidFill>
                  <a:srgbClr val="E2E8F0"/>
                </a:solidFill>
                <a:latin typeface="Quattrocento Sans" pitchFamily="34" charset="0"/>
                <a:ea typeface="Quattrocento Sans" pitchFamily="34" charset="-122"/>
                <a:cs typeface="Quattrocento Sans" pitchFamily="34" charset="-120"/>
              </a:rPr>
              <a:t>adaptive, learning security systems</a:t>
            </a:r>
            <a:pPr algn="l">
              <a:lnSpc>
                <a:spcPct val="120000"/>
              </a:lnSpc>
            </a:pPr>
            <a:r>
              <a:rPr lang="en-US" sz="1400" dirty="0">
                <a:solidFill>
                  <a:srgbClr val="E2E8F0"/>
                </a:solidFill>
                <a:latin typeface="Quattrocento Sans" pitchFamily="34" charset="0"/>
                <a:ea typeface="Quattrocento Sans" pitchFamily="34" charset="-122"/>
                <a:cs typeface="Quattrocento Sans" pitchFamily="34" charset="-120"/>
              </a:rPr>
              <a:t> — with Gartner already publishing evaluation frameworks.</a:t>
            </a:r>
            <a:endParaRPr lang="en-US" sz="1400" dirty="0"/>
          </a:p>
        </p:txBody>
      </p:sp>
      <p:sp>
        <p:nvSpPr>
          <p:cNvPr id="9" name="Text 5"/>
          <p:cNvSpPr/>
          <p:nvPr/>
        </p:nvSpPr>
        <p:spPr>
          <a:xfrm>
            <a:off x="762000" y="8763000"/>
            <a:ext cx="8890000" cy="254000"/>
          </a:xfrm>
          <a:prstGeom prst="rect">
            <a:avLst/>
          </a:prstGeom>
          <a:noFill/>
          <a:ln/>
        </p:spPr>
        <p:txBody>
          <a:bodyPr wrap="none" lIns="0" tIns="0" rIns="0" bIns="0" rtlCol="0" anchor="ctr"/>
          <a:lstStyle/>
          <a:p>
            <a:pPr algn="l">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Source: IJERET 2025; Vendor Documentation 2024-2026</a:t>
            </a:r>
            <a:endParaRPr lang="en-US" sz="1200" dirty="0"/>
          </a:p>
        </p:txBody>
      </p:sp>
      <p:sp>
        <p:nvSpPr>
          <p:cNvPr id="10" name="Text 6"/>
          <p:cNvSpPr/>
          <p:nvPr/>
        </p:nvSpPr>
        <p:spPr>
          <a:xfrm>
            <a:off x="14986000" y="8763000"/>
            <a:ext cx="762000" cy="254000"/>
          </a:xfrm>
          <a:prstGeom prst="rect">
            <a:avLst/>
          </a:prstGeom>
          <a:noFill/>
          <a:ln/>
        </p:spPr>
        <p:txBody>
          <a:bodyPr wrap="none" lIns="0" tIns="0" rIns="0" bIns="0" rtlCol="0" anchor="ctr"/>
          <a:lstStyle/>
          <a:p>
            <a:pPr algn="r">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13</a:t>
            </a:r>
            <a:endParaRPr lang="en-US" sz="1200" dirty="0"/>
          </a:p>
        </p:txBody>
      </p:sp>
    </p:spTree>
  </p:cSld>
  <p:clrMapOvr>
    <a:masterClrMapping/>
  </p:clrMapOvr>
  <p:transition>
    <p:fade/>
    <p:spd val="med"/>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2A"/>
        </a:solidFill>
      </p:bgPr>
    </p:bg>
    <p:spTree>
      <p:nvGrpSpPr>
        <p:cNvPr id="1" name=""/>
        <p:cNvGrpSpPr/>
        <p:nvPr/>
      </p:nvGrpSpPr>
      <p:grpSpPr>
        <a:xfrm>
          <a:off x="0" y="0"/>
          <a:ext cx="0" cy="0"/>
          <a:chOff x="0" y="0"/>
          <a:chExt cx="0" cy="0"/>
        </a:xfrm>
      </p:grpSpPr>
      <p:sp>
        <p:nvSpPr>
          <p:cNvPr id="3" name="Shape 0"/>
          <p:cNvSpPr/>
          <p:nvPr/>
        </p:nvSpPr>
        <p:spPr>
          <a:xfrm>
            <a:off x="0" y="0"/>
            <a:ext cx="16256000" cy="50800"/>
          </a:xfrm>
          <a:prstGeom prst="rect">
            <a:avLst/>
          </a:prstGeom>
          <a:solidFill>
            <a:srgbClr val="0EA5E9"/>
          </a:solidFill>
          <a:ln/>
        </p:spPr>
      </p:sp>
      <p:sp>
        <p:nvSpPr>
          <p:cNvPr id="4" name="Text 1"/>
          <p:cNvSpPr/>
          <p:nvPr/>
        </p:nvSpPr>
        <p:spPr>
          <a:xfrm>
            <a:off x="762000" y="381000"/>
            <a:ext cx="7620000" cy="482600"/>
          </a:xfrm>
          <a:prstGeom prst="rect">
            <a:avLst/>
          </a:prstGeom>
          <a:noFill/>
          <a:ln/>
        </p:spPr>
        <p:txBody>
          <a:bodyPr wrap="none" lIns="0" tIns="0" rIns="0" bIns="0" rtlCol="0" anchor="ctr"/>
          <a:lstStyle/>
          <a:p>
            <a:pPr algn="l">
              <a:lnSpc>
                <a:spcPct val="120000"/>
              </a:lnSpc>
            </a:pPr>
            <a:r>
              <a:rPr lang="en-US" sz="2800" dirty="0">
                <a:solidFill>
                  <a:srgbClr val="0EA5E9"/>
                </a:solidFill>
                <a:latin typeface="Liter" pitchFamily="34" charset="0"/>
                <a:ea typeface="Liter" pitchFamily="34" charset="-122"/>
                <a:cs typeface="Liter" pitchFamily="34" charset="-120"/>
              </a:rPr>
              <a:t>Key Takeaways</a:t>
            </a:r>
            <a:endParaRPr lang="en-US" sz="2800" dirty="0"/>
          </a:p>
        </p:txBody>
      </p:sp>
      <p:sp>
        <p:nvSpPr>
          <p:cNvPr id="5" name="Shape 2"/>
          <p:cNvSpPr/>
          <p:nvPr/>
        </p:nvSpPr>
        <p:spPr>
          <a:xfrm>
            <a:off x="762000" y="939800"/>
            <a:ext cx="14732000" cy="12700"/>
          </a:xfrm>
          <a:prstGeom prst="rect">
            <a:avLst/>
          </a:prstGeom>
          <a:solidFill>
            <a:srgbClr val="475569"/>
          </a:solidFill>
          <a:ln/>
        </p:spPr>
      </p:sp>
      <p:sp>
        <p:nvSpPr>
          <p:cNvPr id="6" name="Shape 3"/>
          <p:cNvSpPr/>
          <p:nvPr/>
        </p:nvSpPr>
        <p:spPr>
          <a:xfrm>
            <a:off x="762000" y="1206500"/>
            <a:ext cx="14732000" cy="1270000"/>
          </a:xfrm>
          <a:prstGeom prst="rect">
            <a:avLst/>
          </a:prstGeom>
          <a:solidFill>
            <a:srgbClr val="1E293B"/>
          </a:solidFill>
          <a:ln/>
        </p:spPr>
      </p:sp>
      <p:sp>
        <p:nvSpPr>
          <p:cNvPr id="7" name="Text 4"/>
          <p:cNvSpPr/>
          <p:nvPr/>
        </p:nvSpPr>
        <p:spPr>
          <a:xfrm>
            <a:off x="952500" y="1206500"/>
            <a:ext cx="698500" cy="1270000"/>
          </a:xfrm>
          <a:prstGeom prst="rect">
            <a:avLst/>
          </a:prstGeom>
          <a:noFill/>
          <a:ln/>
        </p:spPr>
        <p:txBody>
          <a:bodyPr wrap="none" lIns="0" tIns="0" rIns="0" bIns="0" rtlCol="0" anchor="ctr"/>
          <a:lstStyle/>
          <a:p>
            <a:pPr algn="ctr">
              <a:lnSpc>
                <a:spcPct val="120000"/>
              </a:lnSpc>
            </a:pPr>
            <a:r>
              <a:rPr lang="en-US" sz="3600" dirty="0">
                <a:solidFill>
                  <a:srgbClr val="22D3EE"/>
                </a:solidFill>
                <a:latin typeface="Liter" pitchFamily="34" charset="0"/>
                <a:ea typeface="Liter" pitchFamily="34" charset="-122"/>
                <a:cs typeface="Liter" pitchFamily="34" charset="-120"/>
              </a:rPr>
              <a:t>1</a:t>
            </a:r>
            <a:endParaRPr lang="en-US" sz="3600" dirty="0"/>
          </a:p>
        </p:txBody>
      </p:sp>
      <p:sp>
        <p:nvSpPr>
          <p:cNvPr id="8" name="Shape 5"/>
          <p:cNvSpPr/>
          <p:nvPr/>
        </p:nvSpPr>
        <p:spPr>
          <a:xfrm>
            <a:off x="1714500" y="1460500"/>
            <a:ext cx="12700" cy="762000"/>
          </a:xfrm>
          <a:prstGeom prst="rect">
            <a:avLst/>
          </a:prstGeom>
          <a:solidFill>
            <a:srgbClr val="475569"/>
          </a:solidFill>
          <a:ln/>
        </p:spPr>
      </p:sp>
      <p:sp>
        <p:nvSpPr>
          <p:cNvPr id="9" name="Text 6"/>
          <p:cNvSpPr/>
          <p:nvPr/>
        </p:nvSpPr>
        <p:spPr>
          <a:xfrm>
            <a:off x="1968500" y="1333500"/>
            <a:ext cx="13271500" cy="1016000"/>
          </a:xfrm>
          <a:prstGeom prst="rect">
            <a:avLst/>
          </a:prstGeom>
          <a:noFill/>
          <a:ln/>
        </p:spPr>
        <p:txBody>
          <a:bodyPr wrap="square" lIns="0" tIns="0" rIns="0" bIns="0" rtlCol="0" anchor="ctr"/>
          <a:lstStyle/>
          <a:p>
            <a:pPr algn="l">
              <a:lnSpc>
                <a:spcPct val="150000"/>
              </a:lnSpc>
            </a:pPr>
            <a:r>
              <a:rPr lang="en-US" sz="1600" dirty="0">
                <a:solidFill>
                  <a:srgbClr val="E2E8F0"/>
                </a:solidFill>
                <a:latin typeface="Quattrocento Sans" pitchFamily="34" charset="0"/>
                <a:ea typeface="Quattrocento Sans" pitchFamily="34" charset="-122"/>
                <a:cs typeface="Quattrocento Sans" pitchFamily="34" charset="-120"/>
              </a:rPr>
              <a:t>Agentic AI represents a </a:t>
            </a:r>
            <a:pPr algn="l">
              <a:lnSpc>
                <a:spcPct val="150000"/>
              </a:lnSpc>
            </a:pPr>
            <a:r>
              <a:rPr lang="en-US" sz="1600" b="1" dirty="0">
                <a:solidFill>
                  <a:srgbClr val="E2E8F0"/>
                </a:solidFill>
                <a:latin typeface="Quattrocento Sans" pitchFamily="34" charset="0"/>
                <a:ea typeface="Quattrocento Sans" pitchFamily="34" charset="-122"/>
                <a:cs typeface="Quattrocento Sans" pitchFamily="34" charset="-120"/>
              </a:rPr>
              <a:t>fundamental paradigm shift</a:t>
            </a:r>
            <a:pPr algn="l">
              <a:lnSpc>
                <a:spcPct val="150000"/>
              </a:lnSpc>
            </a:pPr>
            <a:r>
              <a:rPr lang="en-US" sz="1600" dirty="0">
                <a:solidFill>
                  <a:srgbClr val="E2E8F0"/>
                </a:solidFill>
                <a:latin typeface="Quattrocento Sans" pitchFamily="34" charset="0"/>
                <a:ea typeface="Quattrocento Sans" pitchFamily="34" charset="-122"/>
                <a:cs typeface="Quattrocento Sans" pitchFamily="34" charset="-120"/>
              </a:rPr>
              <a:t> from rule-based SOAR playbooks to autonomous, reasoning-driven security systems that adapt dynamically like expert analysts.</a:t>
            </a:r>
            <a:endParaRPr lang="en-US" sz="1600" dirty="0"/>
          </a:p>
        </p:txBody>
      </p:sp>
      <p:sp>
        <p:nvSpPr>
          <p:cNvPr id="10" name="Shape 7"/>
          <p:cNvSpPr/>
          <p:nvPr/>
        </p:nvSpPr>
        <p:spPr>
          <a:xfrm>
            <a:off x="762000" y="2667000"/>
            <a:ext cx="14732000" cy="1270000"/>
          </a:xfrm>
          <a:prstGeom prst="rect">
            <a:avLst/>
          </a:prstGeom>
          <a:solidFill>
            <a:srgbClr val="1E293B"/>
          </a:solidFill>
          <a:ln/>
        </p:spPr>
      </p:sp>
      <p:sp>
        <p:nvSpPr>
          <p:cNvPr id="11" name="Text 8"/>
          <p:cNvSpPr/>
          <p:nvPr/>
        </p:nvSpPr>
        <p:spPr>
          <a:xfrm>
            <a:off x="952500" y="2667000"/>
            <a:ext cx="698500" cy="1270000"/>
          </a:xfrm>
          <a:prstGeom prst="rect">
            <a:avLst/>
          </a:prstGeom>
          <a:noFill/>
          <a:ln/>
        </p:spPr>
        <p:txBody>
          <a:bodyPr wrap="none" lIns="0" tIns="0" rIns="0" bIns="0" rtlCol="0" anchor="ctr"/>
          <a:lstStyle/>
          <a:p>
            <a:pPr algn="ctr">
              <a:lnSpc>
                <a:spcPct val="120000"/>
              </a:lnSpc>
            </a:pPr>
            <a:r>
              <a:rPr lang="en-US" sz="3600" dirty="0">
                <a:solidFill>
                  <a:srgbClr val="22D3EE"/>
                </a:solidFill>
                <a:latin typeface="Liter" pitchFamily="34" charset="0"/>
                <a:ea typeface="Liter" pitchFamily="34" charset="-122"/>
                <a:cs typeface="Liter" pitchFamily="34" charset="-120"/>
              </a:rPr>
              <a:t>2</a:t>
            </a:r>
            <a:endParaRPr lang="en-US" sz="3600" dirty="0"/>
          </a:p>
        </p:txBody>
      </p:sp>
      <p:sp>
        <p:nvSpPr>
          <p:cNvPr id="12" name="Shape 9"/>
          <p:cNvSpPr/>
          <p:nvPr/>
        </p:nvSpPr>
        <p:spPr>
          <a:xfrm>
            <a:off x="1714500" y="2921000"/>
            <a:ext cx="12700" cy="762000"/>
          </a:xfrm>
          <a:prstGeom prst="rect">
            <a:avLst/>
          </a:prstGeom>
          <a:solidFill>
            <a:srgbClr val="475569"/>
          </a:solidFill>
          <a:ln/>
        </p:spPr>
      </p:sp>
      <p:sp>
        <p:nvSpPr>
          <p:cNvPr id="13" name="Text 10"/>
          <p:cNvSpPr/>
          <p:nvPr/>
        </p:nvSpPr>
        <p:spPr>
          <a:xfrm>
            <a:off x="1968500" y="2794000"/>
            <a:ext cx="13271500" cy="1016000"/>
          </a:xfrm>
          <a:prstGeom prst="rect">
            <a:avLst/>
          </a:prstGeom>
          <a:noFill/>
          <a:ln/>
        </p:spPr>
        <p:txBody>
          <a:bodyPr wrap="square" lIns="0" tIns="0" rIns="0" bIns="0" rtlCol="0" anchor="ctr"/>
          <a:lstStyle/>
          <a:p>
            <a:pPr algn="l">
              <a:lnSpc>
                <a:spcPct val="150000"/>
              </a:lnSpc>
            </a:pPr>
            <a:r>
              <a:rPr lang="en-US" sz="1600" dirty="0">
                <a:solidFill>
                  <a:srgbClr val="E2E8F0"/>
                </a:solidFill>
                <a:latin typeface="Quattrocento Sans" pitchFamily="34" charset="0"/>
                <a:ea typeface="Quattrocento Sans" pitchFamily="34" charset="-122"/>
                <a:cs typeface="Quattrocento Sans" pitchFamily="34" charset="-120"/>
              </a:rPr>
              <a:t>Real-world deployments demonstrate </a:t>
            </a:r>
            <a:pPr algn="l">
              <a:lnSpc>
                <a:spcPct val="150000"/>
              </a:lnSpc>
            </a:pPr>
            <a:r>
              <a:rPr lang="en-US" sz="1600" b="1" dirty="0">
                <a:solidFill>
                  <a:srgbClr val="E2E8F0"/>
                </a:solidFill>
                <a:latin typeface="Quattrocento Sans" pitchFamily="34" charset="0"/>
                <a:ea typeface="Quattrocento Sans" pitchFamily="34" charset="-122"/>
                <a:cs typeface="Quattrocento Sans" pitchFamily="34" charset="-120"/>
              </a:rPr>
              <a:t>measurable impact</a:t>
            </a:r>
            <a:pPr algn="l">
              <a:lnSpc>
                <a:spcPct val="150000"/>
              </a:lnSpc>
            </a:pPr>
            <a:r>
              <a:rPr lang="en-US" sz="1600" dirty="0">
                <a:solidFill>
                  <a:srgbClr val="E2E8F0"/>
                </a:solidFill>
                <a:latin typeface="Quattrocento Sans" pitchFamily="34" charset="0"/>
                <a:ea typeface="Quattrocento Sans" pitchFamily="34" charset="-122"/>
                <a:cs typeface="Quattrocento Sans" pitchFamily="34" charset="-120"/>
              </a:rPr>
              <a:t>: 50-90% faster response times, 90% reduction in false positives, 35% lower breach probability — with proven case studies like Grammarly.</a:t>
            </a:r>
            <a:endParaRPr lang="en-US" sz="1600" dirty="0"/>
          </a:p>
        </p:txBody>
      </p:sp>
      <p:sp>
        <p:nvSpPr>
          <p:cNvPr id="14" name="Shape 11"/>
          <p:cNvSpPr/>
          <p:nvPr/>
        </p:nvSpPr>
        <p:spPr>
          <a:xfrm>
            <a:off x="762000" y="4127500"/>
            <a:ext cx="14732000" cy="1270000"/>
          </a:xfrm>
          <a:prstGeom prst="rect">
            <a:avLst/>
          </a:prstGeom>
          <a:solidFill>
            <a:srgbClr val="1E293B"/>
          </a:solidFill>
          <a:ln/>
        </p:spPr>
      </p:sp>
      <p:sp>
        <p:nvSpPr>
          <p:cNvPr id="15" name="Text 12"/>
          <p:cNvSpPr/>
          <p:nvPr/>
        </p:nvSpPr>
        <p:spPr>
          <a:xfrm>
            <a:off x="952500" y="4127500"/>
            <a:ext cx="698500" cy="1270000"/>
          </a:xfrm>
          <a:prstGeom prst="rect">
            <a:avLst/>
          </a:prstGeom>
          <a:noFill/>
          <a:ln/>
        </p:spPr>
        <p:txBody>
          <a:bodyPr wrap="none" lIns="0" tIns="0" rIns="0" bIns="0" rtlCol="0" anchor="ctr"/>
          <a:lstStyle/>
          <a:p>
            <a:pPr algn="ctr">
              <a:lnSpc>
                <a:spcPct val="120000"/>
              </a:lnSpc>
            </a:pPr>
            <a:r>
              <a:rPr lang="en-US" sz="3600" dirty="0">
                <a:solidFill>
                  <a:srgbClr val="22D3EE"/>
                </a:solidFill>
                <a:latin typeface="Liter" pitchFamily="34" charset="0"/>
                <a:ea typeface="Liter" pitchFamily="34" charset="-122"/>
                <a:cs typeface="Liter" pitchFamily="34" charset="-120"/>
              </a:rPr>
              <a:t>3</a:t>
            </a:r>
            <a:endParaRPr lang="en-US" sz="3600" dirty="0"/>
          </a:p>
        </p:txBody>
      </p:sp>
      <p:sp>
        <p:nvSpPr>
          <p:cNvPr id="16" name="Shape 13"/>
          <p:cNvSpPr/>
          <p:nvPr/>
        </p:nvSpPr>
        <p:spPr>
          <a:xfrm>
            <a:off x="1714500" y="4381500"/>
            <a:ext cx="12700" cy="762000"/>
          </a:xfrm>
          <a:prstGeom prst="rect">
            <a:avLst/>
          </a:prstGeom>
          <a:solidFill>
            <a:srgbClr val="475569"/>
          </a:solidFill>
          <a:ln/>
        </p:spPr>
      </p:sp>
      <p:sp>
        <p:nvSpPr>
          <p:cNvPr id="17" name="Text 14"/>
          <p:cNvSpPr/>
          <p:nvPr/>
        </p:nvSpPr>
        <p:spPr>
          <a:xfrm>
            <a:off x="1968500" y="4254500"/>
            <a:ext cx="13271500" cy="1016000"/>
          </a:xfrm>
          <a:prstGeom prst="rect">
            <a:avLst/>
          </a:prstGeom>
          <a:noFill/>
          <a:ln/>
        </p:spPr>
        <p:txBody>
          <a:bodyPr wrap="square" lIns="0" tIns="0" rIns="0" bIns="0" rtlCol="0" anchor="ctr"/>
          <a:lstStyle/>
          <a:p>
            <a:pPr algn="l">
              <a:lnSpc>
                <a:spcPct val="150000"/>
              </a:lnSpc>
            </a:pPr>
            <a:r>
              <a:rPr lang="en-US" sz="1600" dirty="0">
                <a:solidFill>
                  <a:srgbClr val="E2E8F0"/>
                </a:solidFill>
                <a:latin typeface="Quattrocento Sans" pitchFamily="34" charset="0"/>
                <a:ea typeface="Quattrocento Sans" pitchFamily="34" charset="-122"/>
                <a:cs typeface="Quattrocento Sans" pitchFamily="34" charset="-120"/>
              </a:rPr>
              <a:t>Three architectural approaches — </a:t>
            </a:r>
            <a:pPr algn="l">
              <a:lnSpc>
                <a:spcPct val="150000"/>
              </a:lnSpc>
            </a:pPr>
            <a:r>
              <a:rPr lang="en-US" sz="1600" b="1" dirty="0">
                <a:solidFill>
                  <a:srgbClr val="E2E8F0"/>
                </a:solidFill>
                <a:latin typeface="Quattrocento Sans" pitchFamily="34" charset="0"/>
                <a:ea typeface="Quattrocento Sans" pitchFamily="34" charset="-122"/>
                <a:cs typeface="Quattrocento Sans" pitchFamily="34" charset="-120"/>
              </a:rPr>
              <a:t>modular agents, LLM-powered assistants, and RL-based systems</a:t>
            </a:r>
            <a:pPr algn="l">
              <a:lnSpc>
                <a:spcPct val="150000"/>
              </a:lnSpc>
            </a:pPr>
            <a:r>
              <a:rPr lang="en-US" sz="1600" dirty="0">
                <a:solidFill>
                  <a:srgbClr val="E2E8F0"/>
                </a:solidFill>
                <a:latin typeface="Quattrocento Sans" pitchFamily="34" charset="0"/>
                <a:ea typeface="Quattrocento Sans" pitchFamily="34" charset="-122"/>
                <a:cs typeface="Quattrocento Sans" pitchFamily="34" charset="-120"/>
              </a:rPr>
              <a:t> — each address different SOC use cases, from reliable execution to adaptive decision-making.</a:t>
            </a:r>
            <a:endParaRPr lang="en-US" sz="1600" dirty="0"/>
          </a:p>
        </p:txBody>
      </p:sp>
      <p:sp>
        <p:nvSpPr>
          <p:cNvPr id="18" name="Shape 15"/>
          <p:cNvSpPr/>
          <p:nvPr/>
        </p:nvSpPr>
        <p:spPr>
          <a:xfrm>
            <a:off x="762000" y="5588000"/>
            <a:ext cx="14732000" cy="1270000"/>
          </a:xfrm>
          <a:prstGeom prst="rect">
            <a:avLst/>
          </a:prstGeom>
          <a:solidFill>
            <a:srgbClr val="1E293B"/>
          </a:solidFill>
          <a:ln/>
        </p:spPr>
      </p:sp>
      <p:sp>
        <p:nvSpPr>
          <p:cNvPr id="19" name="Text 16"/>
          <p:cNvSpPr/>
          <p:nvPr/>
        </p:nvSpPr>
        <p:spPr>
          <a:xfrm>
            <a:off x="952500" y="5588000"/>
            <a:ext cx="698500" cy="1270000"/>
          </a:xfrm>
          <a:prstGeom prst="rect">
            <a:avLst/>
          </a:prstGeom>
          <a:noFill/>
          <a:ln/>
        </p:spPr>
        <p:txBody>
          <a:bodyPr wrap="none" lIns="0" tIns="0" rIns="0" bIns="0" rtlCol="0" anchor="ctr"/>
          <a:lstStyle/>
          <a:p>
            <a:pPr algn="ctr">
              <a:lnSpc>
                <a:spcPct val="120000"/>
              </a:lnSpc>
            </a:pPr>
            <a:r>
              <a:rPr lang="en-US" sz="3600" dirty="0">
                <a:solidFill>
                  <a:srgbClr val="22D3EE"/>
                </a:solidFill>
                <a:latin typeface="Liter" pitchFamily="34" charset="0"/>
                <a:ea typeface="Liter" pitchFamily="34" charset="-122"/>
                <a:cs typeface="Liter" pitchFamily="34" charset="-120"/>
              </a:rPr>
              <a:t>4</a:t>
            </a:r>
            <a:endParaRPr lang="en-US" sz="3600" dirty="0"/>
          </a:p>
        </p:txBody>
      </p:sp>
      <p:sp>
        <p:nvSpPr>
          <p:cNvPr id="20" name="Shape 17"/>
          <p:cNvSpPr/>
          <p:nvPr/>
        </p:nvSpPr>
        <p:spPr>
          <a:xfrm>
            <a:off x="1714500" y="5842000"/>
            <a:ext cx="12700" cy="762000"/>
          </a:xfrm>
          <a:prstGeom prst="rect">
            <a:avLst/>
          </a:prstGeom>
          <a:solidFill>
            <a:srgbClr val="475569"/>
          </a:solidFill>
          <a:ln/>
        </p:spPr>
      </p:sp>
      <p:sp>
        <p:nvSpPr>
          <p:cNvPr id="21" name="Text 18"/>
          <p:cNvSpPr/>
          <p:nvPr/>
        </p:nvSpPr>
        <p:spPr>
          <a:xfrm>
            <a:off x="1968500" y="5715000"/>
            <a:ext cx="13271500" cy="1016000"/>
          </a:xfrm>
          <a:prstGeom prst="rect">
            <a:avLst/>
          </a:prstGeom>
          <a:noFill/>
          <a:ln/>
        </p:spPr>
        <p:txBody>
          <a:bodyPr wrap="square" lIns="0" tIns="0" rIns="0" bIns="0" rtlCol="0" anchor="ctr"/>
          <a:lstStyle/>
          <a:p>
            <a:pPr algn="l">
              <a:lnSpc>
                <a:spcPct val="150000"/>
              </a:lnSpc>
            </a:pPr>
            <a:r>
              <a:rPr lang="en-US" sz="1600" dirty="0">
                <a:solidFill>
                  <a:srgbClr val="E2E8F0"/>
                </a:solidFill>
                <a:latin typeface="Quattrocento Sans" pitchFamily="34" charset="0"/>
                <a:ea typeface="Quattrocento Sans" pitchFamily="34" charset="-122"/>
                <a:cs typeface="Quattrocento Sans" pitchFamily="34" charset="-120"/>
              </a:rPr>
              <a:t>Critical success factors: </a:t>
            </a:r>
            <a:pPr algn="l">
              <a:lnSpc>
                <a:spcPct val="150000"/>
              </a:lnSpc>
            </a:pPr>
            <a:r>
              <a:rPr lang="en-US" sz="1600" b="1" dirty="0">
                <a:solidFill>
                  <a:srgbClr val="E2E8F0"/>
                </a:solidFill>
                <a:latin typeface="Quattrocento Sans" pitchFamily="34" charset="0"/>
                <a:ea typeface="Quattrocento Sans" pitchFamily="34" charset="-122"/>
                <a:cs typeface="Quattrocento Sans" pitchFamily="34" charset="-120"/>
              </a:rPr>
              <a:t>transparency and explainability</a:t>
            </a:r>
            <a:pPr algn="l">
              <a:lnSpc>
                <a:spcPct val="150000"/>
              </a:lnSpc>
            </a:pPr>
            <a:r>
              <a:rPr lang="en-US" sz="1600" dirty="0">
                <a:solidFill>
                  <a:srgbClr val="E2E8F0"/>
                </a:solidFill>
                <a:latin typeface="Quattrocento Sans" pitchFamily="34" charset="0"/>
                <a:ea typeface="Quattrocento Sans" pitchFamily="34" charset="-122"/>
                <a:cs typeface="Quattrocento Sans" pitchFamily="34" charset="-120"/>
              </a:rPr>
              <a:t>, human-in-the-loop governance, robust prompt injection defenses, and progressive autonomy graduation calibrated to risk tolerance.</a:t>
            </a:r>
            <a:endParaRPr lang="en-US" sz="1600" dirty="0"/>
          </a:p>
        </p:txBody>
      </p:sp>
      <p:sp>
        <p:nvSpPr>
          <p:cNvPr id="22" name="Shape 19"/>
          <p:cNvSpPr/>
          <p:nvPr/>
        </p:nvSpPr>
        <p:spPr>
          <a:xfrm>
            <a:off x="762000" y="7048500"/>
            <a:ext cx="14732000" cy="1270000"/>
          </a:xfrm>
          <a:prstGeom prst="rect">
            <a:avLst/>
          </a:prstGeom>
          <a:solidFill>
            <a:srgbClr val="1E293B"/>
          </a:solidFill>
          <a:ln/>
        </p:spPr>
      </p:sp>
      <p:sp>
        <p:nvSpPr>
          <p:cNvPr id="23" name="Text 20"/>
          <p:cNvSpPr/>
          <p:nvPr/>
        </p:nvSpPr>
        <p:spPr>
          <a:xfrm>
            <a:off x="952500" y="7048500"/>
            <a:ext cx="698500" cy="1270000"/>
          </a:xfrm>
          <a:prstGeom prst="rect">
            <a:avLst/>
          </a:prstGeom>
          <a:noFill/>
          <a:ln/>
        </p:spPr>
        <p:txBody>
          <a:bodyPr wrap="none" lIns="0" tIns="0" rIns="0" bIns="0" rtlCol="0" anchor="ctr"/>
          <a:lstStyle/>
          <a:p>
            <a:pPr algn="ctr">
              <a:lnSpc>
                <a:spcPct val="120000"/>
              </a:lnSpc>
            </a:pPr>
            <a:r>
              <a:rPr lang="en-US" sz="3600" dirty="0">
                <a:solidFill>
                  <a:srgbClr val="22D3EE"/>
                </a:solidFill>
                <a:latin typeface="Liter" pitchFamily="34" charset="0"/>
                <a:ea typeface="Liter" pitchFamily="34" charset="-122"/>
                <a:cs typeface="Liter" pitchFamily="34" charset="-120"/>
              </a:rPr>
              <a:t>5</a:t>
            </a:r>
            <a:endParaRPr lang="en-US" sz="3600" dirty="0"/>
          </a:p>
        </p:txBody>
      </p:sp>
      <p:sp>
        <p:nvSpPr>
          <p:cNvPr id="24" name="Shape 21"/>
          <p:cNvSpPr/>
          <p:nvPr/>
        </p:nvSpPr>
        <p:spPr>
          <a:xfrm>
            <a:off x="1714500" y="7302500"/>
            <a:ext cx="12700" cy="762000"/>
          </a:xfrm>
          <a:prstGeom prst="rect">
            <a:avLst/>
          </a:prstGeom>
          <a:solidFill>
            <a:srgbClr val="475569"/>
          </a:solidFill>
          <a:ln/>
        </p:spPr>
      </p:sp>
      <p:sp>
        <p:nvSpPr>
          <p:cNvPr id="25" name="Text 22"/>
          <p:cNvSpPr/>
          <p:nvPr/>
        </p:nvSpPr>
        <p:spPr>
          <a:xfrm>
            <a:off x="1968500" y="7175500"/>
            <a:ext cx="13271500" cy="1016000"/>
          </a:xfrm>
          <a:prstGeom prst="rect">
            <a:avLst/>
          </a:prstGeom>
          <a:noFill/>
          <a:ln/>
        </p:spPr>
        <p:txBody>
          <a:bodyPr wrap="square" lIns="0" tIns="0" rIns="0" bIns="0" rtlCol="0" anchor="ctr"/>
          <a:lstStyle/>
          <a:p>
            <a:pPr algn="l">
              <a:lnSpc>
                <a:spcPct val="150000"/>
              </a:lnSpc>
            </a:pPr>
            <a:r>
              <a:rPr lang="en-US" sz="1600" dirty="0">
                <a:solidFill>
                  <a:srgbClr val="E2E8F0"/>
                </a:solidFill>
                <a:latin typeface="Quattrocento Sans" pitchFamily="34" charset="0"/>
                <a:ea typeface="Quattrocento Sans" pitchFamily="34" charset="-122"/>
                <a:cs typeface="Quattrocento Sans" pitchFamily="34" charset="-120"/>
              </a:rPr>
              <a:t>The path to Level 5 autonomous SOCs requires advances in </a:t>
            </a:r>
            <a:pPr algn="l">
              <a:lnSpc>
                <a:spcPct val="150000"/>
              </a:lnSpc>
            </a:pPr>
            <a:r>
              <a:rPr lang="en-US" sz="1600" b="1" dirty="0">
                <a:solidFill>
                  <a:srgbClr val="E2E8F0"/>
                </a:solidFill>
                <a:latin typeface="Quattrocento Sans" pitchFamily="34" charset="0"/>
                <a:ea typeface="Quattrocento Sans" pitchFamily="34" charset="-122"/>
                <a:cs typeface="Quattrocento Sans" pitchFamily="34" charset="-120"/>
              </a:rPr>
              <a:t>interpretability, adversarial robustness, and responsible AI governance</a:t>
            </a:r>
            <a:pPr algn="l">
              <a:lnSpc>
                <a:spcPct val="150000"/>
              </a:lnSpc>
            </a:pPr>
            <a:r>
              <a:rPr lang="en-US" sz="1600" dirty="0">
                <a:solidFill>
                  <a:srgbClr val="E2E8F0"/>
                </a:solidFill>
                <a:latin typeface="Quattrocento Sans" pitchFamily="34" charset="0"/>
                <a:ea typeface="Quattrocento Sans" pitchFamily="34" charset="-122"/>
                <a:cs typeface="Quattrocento Sans" pitchFamily="34" charset="-120"/>
              </a:rPr>
              <a:t> — but the trajectory is clear and the market is accelerating.</a:t>
            </a:r>
            <a:endParaRPr lang="en-US" sz="1600" dirty="0"/>
          </a:p>
        </p:txBody>
      </p:sp>
      <p:sp>
        <p:nvSpPr>
          <p:cNvPr id="26" name="Text 23"/>
          <p:cNvSpPr/>
          <p:nvPr/>
        </p:nvSpPr>
        <p:spPr>
          <a:xfrm>
            <a:off x="14986000" y="8763000"/>
            <a:ext cx="762000" cy="254000"/>
          </a:xfrm>
          <a:prstGeom prst="rect">
            <a:avLst/>
          </a:prstGeom>
          <a:noFill/>
          <a:ln/>
        </p:spPr>
        <p:txBody>
          <a:bodyPr wrap="none" lIns="0" tIns="0" rIns="0" bIns="0" rtlCol="0" anchor="ctr"/>
          <a:lstStyle/>
          <a:p>
            <a:pPr algn="r">
              <a:lnSpc>
                <a:spcPct val="120000"/>
              </a:lnSpc>
            </a:pPr>
            <a:r>
              <a:rPr lang="en-US" sz="1200" dirty="0">
                <a:solidFill>
                  <a:srgbClr val="475569"/>
                </a:solidFill>
                <a:latin typeface="Quattrocento Sans" pitchFamily="34" charset="0"/>
                <a:ea typeface="Quattrocento Sans" pitchFamily="34" charset="-122"/>
                <a:cs typeface="Quattrocento Sans" pitchFamily="34" charset="-120"/>
              </a:rPr>
              <a:t>14</a:t>
            </a:r>
            <a:endParaRPr lang="en-US" sz="1200" dirty="0"/>
          </a:p>
        </p:txBody>
      </p:sp>
    </p:spTree>
  </p:cSld>
  <p:clrMapOvr>
    <a:masterClrMapping/>
  </p:clrMapOvr>
  <p:transition>
    <p:fade/>
    <p:spd val="med"/>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ttps://kimi-img.moonshot.cn/pub/slides/okc/jrtvwrx5sycfk/mnt/agents/output/agentic-ai-cybersecurity/images/8_digital_shield_with_virtual_screen.png">    </p:cNvPr>
          <p:cNvPicPr>
            <a:picLocks noChangeAspect="1"/>
          </p:cNvPicPr>
          <p:nvPr/>
        </p:nvPicPr>
        <p:blipFill>
          <a:blip r:embed="rId1"/>
          <a:srcRect l="0" r="0" t="35" b="35"/>
          <a:stretch/>
        </p:blipFill>
        <p:spPr>
          <a:xfrm>
            <a:off x="0" y="0"/>
            <a:ext cx="16256000" cy="9144000"/>
          </a:xfrm>
          <a:prstGeom prst="rect">
            <a:avLst/>
          </a:prstGeom>
        </p:spPr>
      </p:pic>
      <p:sp>
        <p:nvSpPr>
          <p:cNvPr id="3" name="Shape 0"/>
          <p:cNvSpPr/>
          <p:nvPr/>
        </p:nvSpPr>
        <p:spPr>
          <a:xfrm>
            <a:off x="0" y="0"/>
            <a:ext cx="16256000" cy="9144000"/>
          </a:xfrm>
          <a:prstGeom prst="rect">
            <a:avLst/>
          </a:prstGeom>
          <a:gradFill rotWithShape="1" flip="none">
            <a:gsLst>
              <a:gs pos="0">
                <a:srgbClr val="0F172A">
                  <a:alpha val="88000"/>
                </a:srgbClr>
              </a:gs>
              <a:gs pos="50000">
                <a:srgbClr val="0F172A">
                  <a:alpha val="75000"/>
                </a:srgbClr>
              </a:gs>
              <a:gs pos="100000">
                <a:srgbClr val="0F172A">
                  <a:alpha val="88000"/>
                </a:srgbClr>
              </a:gs>
            </a:gsLst>
            <a:lin ang="5400000" scaled="1"/>
          </a:gradFill>
          <a:ln w="12700">
            <a:solidFill>
              <a:srgbClr val="FFFFFF">
                <a:alpha val="0"/>
              </a:srgbClr>
            </a:solidFill>
            <a:prstDash val="solid"/>
          </a:ln>
        </p:spPr>
      </p:sp>
      <p:sp>
        <p:nvSpPr>
          <p:cNvPr id="5" name="Shape 1"/>
          <p:cNvSpPr/>
          <p:nvPr/>
        </p:nvSpPr>
        <p:spPr>
          <a:xfrm>
            <a:off x="6858000" y="2794000"/>
            <a:ext cx="2540000" cy="50800"/>
          </a:xfrm>
          <a:prstGeom prst="rect">
            <a:avLst/>
          </a:prstGeom>
          <a:solidFill>
            <a:srgbClr val="22D3EE"/>
          </a:solidFill>
          <a:ln/>
        </p:spPr>
      </p:sp>
      <p:sp>
        <p:nvSpPr>
          <p:cNvPr id="6" name="Text 2"/>
          <p:cNvSpPr/>
          <p:nvPr/>
        </p:nvSpPr>
        <p:spPr>
          <a:xfrm>
            <a:off x="3048000" y="3048000"/>
            <a:ext cx="10160000" cy="889000"/>
          </a:xfrm>
          <a:prstGeom prst="rect">
            <a:avLst/>
          </a:prstGeom>
          <a:noFill/>
          <a:ln/>
        </p:spPr>
        <p:txBody>
          <a:bodyPr wrap="none" lIns="0" tIns="0" rIns="0" bIns="0" rtlCol="0" anchor="ctr"/>
          <a:lstStyle/>
          <a:p>
            <a:pPr algn="ctr">
              <a:lnSpc>
                <a:spcPct val="120000"/>
              </a:lnSpc>
            </a:pPr>
            <a:r>
              <a:rPr lang="en-US" sz="4800" spc="600" kern="0" dirty="0">
                <a:solidFill>
                  <a:srgbClr val="FFFFFF"/>
                </a:solidFill>
                <a:latin typeface="Liter" pitchFamily="34" charset="0"/>
                <a:ea typeface="Liter" pitchFamily="34" charset="-122"/>
                <a:cs typeface="Liter" pitchFamily="34" charset="-120"/>
              </a:rPr>
              <a:t>THANK YOU</a:t>
            </a:r>
            <a:endParaRPr lang="en-US" sz="4800" dirty="0"/>
          </a:p>
        </p:txBody>
      </p:sp>
      <p:sp>
        <p:nvSpPr>
          <p:cNvPr id="7" name="Text 3"/>
          <p:cNvSpPr/>
          <p:nvPr/>
        </p:nvSpPr>
        <p:spPr>
          <a:xfrm>
            <a:off x="2413000" y="4191000"/>
            <a:ext cx="11430000" cy="1016000"/>
          </a:xfrm>
          <a:prstGeom prst="rect">
            <a:avLst/>
          </a:prstGeom>
          <a:noFill/>
          <a:ln/>
        </p:spPr>
        <p:txBody>
          <a:bodyPr wrap="square" lIns="0" tIns="0" rIns="0" bIns="0" rtlCol="0" anchor="t"/>
          <a:lstStyle/>
          <a:p>
            <a:pPr algn="ctr">
              <a:lnSpc>
                <a:spcPct val="160000"/>
              </a:lnSpc>
            </a:pPr>
            <a:r>
              <a:rPr lang="en-US" sz="1800" dirty="0">
                <a:solidFill>
                  <a:srgbClr val="E2E8F0"/>
                </a:solidFill>
                <a:latin typeface="Quattrocento Sans" pitchFamily="34" charset="0"/>
                <a:ea typeface="Quattrocento Sans" pitchFamily="34" charset="-122"/>
                <a:cs typeface="Quattrocento Sans" pitchFamily="34" charset="-120"/>
              </a:rPr>
              <a:t>Agentic AI is not just automating cybersecurity —</a:t>
            </a:r>
            <a:endParaRPr lang="en-US" sz="1800" dirty="0"/>
          </a:p>
          <a:p>
            <a:pPr algn="ctr">
              <a:lnSpc>
                <a:spcPct val="160000"/>
              </a:lnSpc>
            </a:pPr>
            <a:r>
              <a:rPr lang="en-US" sz="1800" dirty="0">
                <a:solidFill>
                  <a:srgbClr val="E2E8F0"/>
                </a:solidFill>
                <a:latin typeface="Quattrocento Sans" pitchFamily="34" charset="0"/>
                <a:ea typeface="Quattrocento Sans" pitchFamily="34" charset="-122"/>
                <a:cs typeface="Quattrocento Sans" pitchFamily="34" charset="-120"/>
              </a:rPr>
              <a:t>it is </a:t>
            </a:r>
            <a:pPr algn="ctr">
              <a:lnSpc>
                <a:spcPct val="160000"/>
              </a:lnSpc>
            </a:pPr>
            <a:r>
              <a:rPr lang="en-US" sz="1800" b="1" dirty="0">
                <a:solidFill>
                  <a:srgbClr val="E2E8F0"/>
                </a:solidFill>
                <a:latin typeface="Quattrocento Sans" pitchFamily="34" charset="0"/>
                <a:ea typeface="Quattrocento Sans" pitchFamily="34" charset="-122"/>
                <a:cs typeface="Quattrocento Sans" pitchFamily="34" charset="-120"/>
              </a:rPr>
              <a:t>redefining what is possible</a:t>
            </a:r>
            <a:pPr algn="ctr">
              <a:lnSpc>
                <a:spcPct val="160000"/>
              </a:lnSpc>
            </a:pPr>
            <a:r>
              <a:rPr lang="en-US" sz="1800" dirty="0">
                <a:solidFill>
                  <a:srgbClr val="E2E8F0"/>
                </a:solidFill>
                <a:latin typeface="Quattrocento Sans" pitchFamily="34" charset="0"/>
                <a:ea typeface="Quattrocento Sans" pitchFamily="34" charset="-122"/>
                <a:cs typeface="Quattrocento Sans" pitchFamily="34" charset="-120"/>
              </a:rPr>
              <a:t> in threat defense.</a:t>
            </a:r>
            <a:endParaRPr lang="en-US" sz="1800" dirty="0"/>
          </a:p>
        </p:txBody>
      </p:sp>
      <p:sp>
        <p:nvSpPr>
          <p:cNvPr id="8" name="Text 4"/>
          <p:cNvSpPr/>
          <p:nvPr/>
        </p:nvSpPr>
        <p:spPr>
          <a:xfrm>
            <a:off x="3048000" y="5334000"/>
            <a:ext cx="10160000" cy="762000"/>
          </a:xfrm>
          <a:prstGeom prst="rect">
            <a:avLst/>
          </a:prstGeom>
          <a:noFill/>
          <a:ln/>
        </p:spPr>
        <p:txBody>
          <a:bodyPr wrap="square" lIns="0" tIns="0" rIns="0" bIns="0" rtlCol="0" anchor="t"/>
          <a:lstStyle/>
          <a:p>
            <a:pPr algn="ctr">
              <a:lnSpc>
                <a:spcPct val="150000"/>
              </a:lnSpc>
            </a:pPr>
            <a:r>
              <a:rPr lang="en-US" sz="1500" dirty="0">
                <a:solidFill>
                  <a:srgbClr val="E2E8F0"/>
                </a:solidFill>
                <a:latin typeface="Quattrocento Sans" pitchFamily="34" charset="0"/>
                <a:ea typeface="Quattrocento Sans" pitchFamily="34" charset="-122"/>
                <a:cs typeface="Quattrocento Sans" pitchFamily="34" charset="-120"/>
              </a:rPr>
              <a:t>The future belongs to organizations that embrace autonomous intelligence</a:t>
            </a:r>
            <a:endParaRPr lang="en-US" sz="1500" dirty="0"/>
          </a:p>
          <a:p>
            <a:pPr algn="ctr">
              <a:lnSpc>
                <a:spcPct val="150000"/>
              </a:lnSpc>
            </a:pPr>
            <a:r>
              <a:rPr lang="en-US" sz="1500" dirty="0">
                <a:solidFill>
                  <a:srgbClr val="E2E8F0"/>
                </a:solidFill>
                <a:latin typeface="Quattrocento Sans" pitchFamily="34" charset="0"/>
                <a:ea typeface="Quattrocento Sans" pitchFamily="34" charset="-122"/>
                <a:cs typeface="Quattrocento Sans" pitchFamily="34" charset="-120"/>
              </a:rPr>
              <a:t>while maintaining human oversight and ethical governance.</a:t>
            </a:r>
            <a:endParaRPr lang="en-US" sz="1500" dirty="0"/>
          </a:p>
        </p:txBody>
      </p:sp>
      <p:sp>
        <p:nvSpPr>
          <p:cNvPr id="9" name="Shape 5"/>
          <p:cNvSpPr/>
          <p:nvPr/>
        </p:nvSpPr>
        <p:spPr>
          <a:xfrm>
            <a:off x="6858000" y="6223000"/>
            <a:ext cx="2540000" cy="25400"/>
          </a:xfrm>
          <a:prstGeom prst="rect">
            <a:avLst/>
          </a:prstGeom>
          <a:solidFill>
            <a:srgbClr val="0EA5E9"/>
          </a:solidFill>
          <a:ln/>
        </p:spPr>
      </p:sp>
      <p:sp>
        <p:nvSpPr>
          <p:cNvPr id="10" name="Text 6"/>
          <p:cNvSpPr/>
          <p:nvPr/>
        </p:nvSpPr>
        <p:spPr>
          <a:xfrm>
            <a:off x="5588000" y="6477000"/>
            <a:ext cx="5080000" cy="381000"/>
          </a:xfrm>
          <a:prstGeom prst="rect">
            <a:avLst/>
          </a:prstGeom>
          <a:noFill/>
          <a:ln/>
        </p:spPr>
        <p:txBody>
          <a:bodyPr wrap="none" lIns="0" tIns="0" rIns="0" bIns="0" rtlCol="0" anchor="ctr"/>
          <a:lstStyle/>
          <a:p>
            <a:pPr algn="ctr">
              <a:lnSpc>
                <a:spcPct val="120000"/>
              </a:lnSpc>
            </a:pPr>
            <a:r>
              <a:rPr lang="en-US" sz="1600" spc="300" kern="0" dirty="0">
                <a:solidFill>
                  <a:srgbClr val="22D3EE"/>
                </a:solidFill>
                <a:latin typeface="Liter" pitchFamily="34" charset="0"/>
                <a:ea typeface="Liter" pitchFamily="34" charset="-122"/>
                <a:cs typeface="Liter" pitchFamily="34" charset="-120"/>
              </a:rPr>
              <a:t>QUESTIONS &amp; ANSWERS</a:t>
            </a:r>
            <a:endParaRPr lang="en-US" sz="1600" dirty="0"/>
          </a:p>
        </p:txBody>
      </p:sp>
    </p:spTree>
  </p:cSld>
  <p:clrMapOvr>
    <a:masterClrMapping/>
  </p:clrMapOvr>
  <p:transition>
    <p:fade/>
    <p:spd val="med"/>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in Cyber Security</dc:title>
  <dc:subject>Agentic AI in Cyber Security</dc:subject>
  <dc:creator>Kimi</dc:creator>
  <cp:lastModifiedBy>Kimi</cp:lastModifiedBy>
  <cp:revision>1</cp:revision>
  <dcterms:created xsi:type="dcterms:W3CDTF">2026-06-11T09:47:55Z</dcterms:created>
  <dcterms:modified xsi:type="dcterms:W3CDTF">2026-06-11T09:47:55Z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{"Label":"Agentic AI in Cyber Security","ContentProducer":"001191110108MACG2KBH8F10000","ProduceID":"19eb6066-d612-87cb-8000-000035ed366c","ReservedCode1":"","ContentPropagator":"001191110108MACG2KBH8F20000","PropagateID":"19eb602e-1342-8d93-8000-098d17f5d197","ReservedCode2":""}</vt:lpwstr>
  </property>
</Properties>
</file>